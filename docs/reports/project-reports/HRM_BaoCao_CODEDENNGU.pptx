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7" d="100"/>
          <a:sy n="157" d="100"/>
        </p:scale>
        <p:origin x="414" y="7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2541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Nhóm CODEDENNGU trình bày đề tài xây dựng hệ thống quản lý nhân sự (HRM) cho doanh nghiệp vừa và nhỏ, ứng dụng AI và kiến trúc Hybrid Database. Em là trưởng nhóm Vũ Ngọc Hoàng.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mọi con số đều theo luật VN mới nhất 2026 — biểu thuế TNCN 5 bậc (Luật 109/2025/QH15), giảm trừ gia cảnh 15,5 triệu bản thân + 6,2 triệu/người phụ thuộc (NQ 110/2025), bảo hiểm 10,5%, trần đóng BHXH 50,6 triệu. Tất cả cấu hình được cho từng công ty. Hệ thống tự chạy toàn bộ phép tính cho mọi nhân viên chỉ với một nút bấm.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D"/>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24DA3">
              <a:alpha val="30000"/>
            </a:srgbClr>
          </a:solidFill>
          <a:ln/>
        </p:spPr>
        <p:txBody>
          <a:bodyPr/>
          <a:lstStyle/>
          <a:p>
            <a:endParaRPr lang="en-US"/>
          </a:p>
        </p:txBody>
      </p:sp>
      <p:sp>
        <p:nvSpPr>
          <p:cNvPr id="3" name="Shape 1"/>
          <p:cNvSpPr/>
          <p:nvPr/>
        </p:nvSpPr>
        <p:spPr>
          <a:xfrm>
            <a:off x="-1280160" y="4754880"/>
            <a:ext cx="3291840" cy="3291840"/>
          </a:xfrm>
          <a:prstGeom prst="ellipse">
            <a:avLst/>
          </a:prstGeom>
          <a:solidFill>
            <a:srgbClr val="F37022">
              <a:alpha val="20000"/>
            </a:srgbClr>
          </a:solidFill>
          <a:ln/>
        </p:spPr>
        <p:txBody>
          <a:bodyPr/>
          <a:lstStyle/>
          <a:p>
            <a:endParaRPr lang="en-US"/>
          </a:p>
        </p:txBody>
      </p:sp>
      <p:sp>
        <p:nvSpPr>
          <p:cNvPr id="4" name="Text 2"/>
          <p:cNvSpPr/>
          <p:nvPr/>
        </p:nvSpPr>
        <p:spPr>
          <a:xfrm>
            <a:off x="640080" y="548640"/>
            <a:ext cx="7315200" cy="548640"/>
          </a:xfrm>
          <a:prstGeom prst="rect">
            <a:avLst/>
          </a:prstGeom>
          <a:noFill/>
          <a:ln/>
        </p:spPr>
        <p:txBody>
          <a:bodyPr wrap="square" rtlCol="0" anchor="ctr"/>
          <a:lstStyle/>
          <a:p>
            <a:pPr marL="0" indent="0">
              <a:buNone/>
            </a:pPr>
            <a:r>
              <a:rPr lang="en-US" sz="2400" b="1" dirty="0">
                <a:solidFill>
                  <a:srgbClr val="3B82F6"/>
                </a:solidFill>
                <a:latin typeface="Calibri" pitchFamily="34" charset="0"/>
                <a:ea typeface="Calibri" pitchFamily="34" charset="-122"/>
                <a:cs typeface="Calibri" pitchFamily="34" charset="-120"/>
              </a:rPr>
              <a:t>CODE</a:t>
            </a:r>
            <a:r>
              <a:rPr lang="en-US" sz="2400" b="1" dirty="0">
                <a:solidFill>
                  <a:srgbClr val="F37022"/>
                </a:solidFill>
                <a:latin typeface="Calibri" pitchFamily="34" charset="0"/>
                <a:ea typeface="Calibri" pitchFamily="34" charset="-122"/>
                <a:cs typeface="Calibri" pitchFamily="34" charset="-120"/>
              </a:rPr>
              <a:t>DEN</a:t>
            </a:r>
            <a:r>
              <a:rPr lang="en-US" sz="2400" b="1" dirty="0">
                <a:solidFill>
                  <a:srgbClr val="4EB748"/>
                </a:solidFill>
                <a:latin typeface="Calibri" pitchFamily="34" charset="0"/>
                <a:ea typeface="Calibri" pitchFamily="34" charset="-122"/>
                <a:cs typeface="Calibri" pitchFamily="34" charset="-120"/>
              </a:rPr>
              <a:t>NGU</a:t>
            </a:r>
            <a:endParaRPr lang="en-US" sz="2400" dirty="0"/>
          </a:p>
        </p:txBody>
      </p:sp>
      <p:sp>
        <p:nvSpPr>
          <p:cNvPr id="5" name="Text 3"/>
          <p:cNvSpPr/>
          <p:nvPr/>
        </p:nvSpPr>
        <p:spPr>
          <a:xfrm>
            <a:off x="640080" y="1417320"/>
            <a:ext cx="10058400" cy="365760"/>
          </a:xfrm>
          <a:prstGeom prst="rect">
            <a:avLst/>
          </a:prstGeom>
          <a:noFill/>
          <a:ln/>
        </p:spPr>
        <p:txBody>
          <a:bodyPr wrap="square" rtlCol="0" anchor="ctr"/>
          <a:lstStyle/>
          <a:p>
            <a:pPr marL="0" indent="0">
              <a:buNone/>
            </a:pPr>
            <a:r>
              <a:rPr lang="en-US" sz="1500" b="1" kern="0" spc="300" dirty="0">
                <a:solidFill>
                  <a:srgbClr val="9DB6E0"/>
                </a:solidFill>
                <a:latin typeface="Calibri" pitchFamily="34" charset="0"/>
                <a:ea typeface="Calibri" pitchFamily="34" charset="-122"/>
                <a:cs typeface="Calibri" pitchFamily="34" charset="-120"/>
              </a:rPr>
              <a:t>ĐỒ ÁN CHUYÊN NGÀNH LẬP TRÌNH WEB</a:t>
            </a:r>
            <a:endParaRPr lang="en-US" sz="1500" dirty="0"/>
          </a:p>
        </p:txBody>
      </p:sp>
      <p:sp>
        <p:nvSpPr>
          <p:cNvPr id="6" name="Text 4"/>
          <p:cNvSpPr/>
          <p:nvPr/>
        </p:nvSpPr>
        <p:spPr>
          <a:xfrm>
            <a:off x="640080" y="1783080"/>
            <a:ext cx="10241280" cy="1417320"/>
          </a:xfrm>
          <a:prstGeom prst="rect">
            <a:avLst/>
          </a:prstGeom>
          <a:noFill/>
          <a:ln/>
        </p:spPr>
        <p:txBody>
          <a:bodyPr wrap="square" rtlCol="0" anchor="ctr"/>
          <a:lstStyle/>
          <a:p>
            <a:pPr marL="0" indent="0">
              <a:lnSpc>
                <a:spcPct val="102000"/>
              </a:lnSpc>
              <a:buNone/>
            </a:pPr>
            <a:r>
              <a:rPr lang="en-US" sz="3800" b="1" dirty="0">
                <a:solidFill>
                  <a:srgbClr val="FFFFFF"/>
                </a:solidFill>
                <a:latin typeface="Calibri" pitchFamily="34" charset="0"/>
                <a:ea typeface="Calibri" pitchFamily="34" charset="-122"/>
                <a:cs typeface="Calibri" pitchFamily="34" charset="-120"/>
              </a:rPr>
              <a:t>Thiết kế và xây dựng hệ thống HRM</a:t>
            </a:r>
            <a:endParaRPr lang="en-US" sz="3800" dirty="0"/>
          </a:p>
          <a:p>
            <a:pPr marL="0" indent="0">
              <a:lnSpc>
                <a:spcPct val="102000"/>
              </a:lnSpc>
              <a:buNone/>
            </a:pPr>
            <a:r>
              <a:rPr lang="en-US" sz="3800" b="1" dirty="0">
                <a:solidFill>
                  <a:srgbClr val="FFFFFF"/>
                </a:solidFill>
                <a:latin typeface="Calibri" pitchFamily="34" charset="0"/>
                <a:ea typeface="Calibri" pitchFamily="34" charset="-122"/>
                <a:cs typeface="Calibri" pitchFamily="34" charset="-120"/>
              </a:rPr>
              <a:t>cho doanh nghiệp SMEs</a:t>
            </a:r>
            <a:endParaRPr lang="en-US" sz="3800" dirty="0"/>
          </a:p>
        </p:txBody>
      </p:sp>
      <p:sp>
        <p:nvSpPr>
          <p:cNvPr id="7" name="Text 5"/>
          <p:cNvSpPr/>
          <p:nvPr/>
        </p:nvSpPr>
        <p:spPr>
          <a:xfrm>
            <a:off x="640080" y="3200400"/>
            <a:ext cx="10424160" cy="457200"/>
          </a:xfrm>
          <a:prstGeom prst="rect">
            <a:avLst/>
          </a:prstGeom>
          <a:noFill/>
          <a:ln/>
        </p:spPr>
        <p:txBody>
          <a:bodyPr wrap="square" rtlCol="0" anchor="ctr"/>
          <a:lstStyle/>
          <a:p>
            <a:pPr marL="0" indent="0">
              <a:buNone/>
            </a:pPr>
            <a:r>
              <a:rPr lang="en-US" sz="2200" b="1" dirty="0">
                <a:solidFill>
                  <a:srgbClr val="CBD5E1"/>
                </a:solidFill>
                <a:latin typeface="Calibri" pitchFamily="34" charset="0"/>
                <a:ea typeface="Calibri" pitchFamily="34" charset="-122"/>
                <a:cs typeface="Calibri" pitchFamily="34" charset="-120"/>
              </a:rPr>
              <a:t>ứng dụng </a:t>
            </a:r>
            <a:r>
              <a:rPr lang="en-US" sz="2200" b="1" dirty="0">
                <a:solidFill>
                  <a:srgbClr val="F37022"/>
                </a:solidFill>
                <a:latin typeface="Calibri" pitchFamily="34" charset="0"/>
                <a:ea typeface="Calibri" pitchFamily="34" charset="-122"/>
                <a:cs typeface="Calibri" pitchFamily="34" charset="-120"/>
              </a:rPr>
              <a:t>AI</a:t>
            </a:r>
            <a:r>
              <a:rPr lang="en-US" sz="2200" b="1" dirty="0">
                <a:solidFill>
                  <a:srgbClr val="CBD5E1"/>
                </a:solidFill>
                <a:latin typeface="Calibri" pitchFamily="34" charset="0"/>
                <a:ea typeface="Calibri" pitchFamily="34" charset="-122"/>
                <a:cs typeface="Calibri" pitchFamily="34" charset="-120"/>
              </a:rPr>
              <a:t> và kiến trúc </a:t>
            </a:r>
            <a:r>
              <a:rPr lang="en-US" sz="2200" b="1" dirty="0">
                <a:solidFill>
                  <a:srgbClr val="4EB748"/>
                </a:solidFill>
                <a:latin typeface="Calibri" pitchFamily="34" charset="0"/>
                <a:ea typeface="Calibri" pitchFamily="34" charset="-122"/>
                <a:cs typeface="Calibri" pitchFamily="34" charset="-120"/>
              </a:rPr>
              <a:t>Hybrid Database</a:t>
            </a:r>
            <a:endParaRPr lang="en-US" sz="2200" dirty="0"/>
          </a:p>
        </p:txBody>
      </p:sp>
      <p:sp>
        <p:nvSpPr>
          <p:cNvPr id="8" name="Shape 6"/>
          <p:cNvSpPr/>
          <p:nvPr/>
        </p:nvSpPr>
        <p:spPr>
          <a:xfrm>
            <a:off x="640080" y="3794760"/>
            <a:ext cx="10881360" cy="0"/>
          </a:xfrm>
          <a:prstGeom prst="line">
            <a:avLst/>
          </a:prstGeom>
          <a:noFill/>
          <a:ln w="15240">
            <a:solidFill>
              <a:srgbClr val="33456B"/>
            </a:solidFill>
            <a:prstDash val="solid"/>
          </a:ln>
        </p:spPr>
        <p:txBody>
          <a:bodyPr/>
          <a:lstStyle/>
          <a:p>
            <a:endParaRPr lang="en-US"/>
          </a:p>
        </p:txBody>
      </p:sp>
      <p:sp>
        <p:nvSpPr>
          <p:cNvPr id="9" name="Text 7"/>
          <p:cNvSpPr/>
          <p:nvPr/>
        </p:nvSpPr>
        <p:spPr>
          <a:xfrm>
            <a:off x="640080" y="4005072"/>
            <a:ext cx="10881360" cy="310896"/>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Nhóm thực hiện:  </a:t>
            </a:r>
            <a:r>
              <a:rPr lang="en-US" sz="1500" b="1" dirty="0">
                <a:solidFill>
                  <a:schemeClr val="accent1"/>
                </a:solidFill>
                <a:latin typeface="Calibri" pitchFamily="34" charset="0"/>
                <a:ea typeface="Calibri" pitchFamily="34" charset="-122"/>
                <a:cs typeface="Calibri" pitchFamily="34" charset="-120"/>
              </a:rPr>
              <a:t>CODE</a:t>
            </a:r>
            <a:r>
              <a:rPr lang="en-US" sz="1500" b="1" dirty="0">
                <a:solidFill>
                  <a:schemeClr val="accent2"/>
                </a:solidFill>
                <a:latin typeface="Calibri" pitchFamily="34" charset="0"/>
                <a:ea typeface="Calibri" pitchFamily="34" charset="-122"/>
                <a:cs typeface="Calibri" pitchFamily="34" charset="-120"/>
              </a:rPr>
              <a:t>DEN</a:t>
            </a:r>
            <a:r>
              <a:rPr lang="en-US" sz="1500" b="1" dirty="0">
                <a:solidFill>
                  <a:schemeClr val="accent6"/>
                </a:solidFill>
                <a:latin typeface="Calibri" pitchFamily="34" charset="0"/>
                <a:ea typeface="Calibri" pitchFamily="34" charset="-122"/>
                <a:cs typeface="Calibri" pitchFamily="34" charset="-120"/>
              </a:rPr>
              <a:t>NGU</a:t>
            </a:r>
            <a:endParaRPr lang="en-US" sz="1500" dirty="0">
              <a:solidFill>
                <a:schemeClr val="accent6"/>
              </a:solidFill>
            </a:endParaRPr>
          </a:p>
        </p:txBody>
      </p:sp>
      <p:sp>
        <p:nvSpPr>
          <p:cNvPr id="10" name="Text 8"/>
          <p:cNvSpPr/>
          <p:nvPr/>
        </p:nvSpPr>
        <p:spPr>
          <a:xfrm>
            <a:off x="640080" y="4343400"/>
            <a:ext cx="10881360" cy="310896"/>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GVHD:  </a:t>
            </a:r>
            <a:r>
              <a:rPr lang="en-US" sz="1400" dirty="0">
                <a:solidFill>
                  <a:srgbClr val="CBD5E1"/>
                </a:solidFill>
                <a:latin typeface="Calibri" pitchFamily="34" charset="0"/>
                <a:ea typeface="Calibri" pitchFamily="34" charset="-122"/>
                <a:cs typeface="Calibri" pitchFamily="34" charset="-120"/>
              </a:rPr>
              <a:t>Thầy Lê Chân Thiện Tâm</a:t>
            </a:r>
            <a:endParaRPr lang="en-US" sz="1400" dirty="0"/>
          </a:p>
        </p:txBody>
      </p:sp>
      <p:sp>
        <p:nvSpPr>
          <p:cNvPr id="11" name="Text 9"/>
          <p:cNvSpPr/>
          <p:nvPr/>
        </p:nvSpPr>
        <p:spPr>
          <a:xfrm>
            <a:off x="640080" y="4681728"/>
            <a:ext cx="10881360" cy="310896"/>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Nhóm trưởng:  </a:t>
            </a:r>
            <a:r>
              <a:rPr lang="en-US" sz="1400" dirty="0">
                <a:solidFill>
                  <a:srgbClr val="CBD5E1"/>
                </a:solidFill>
                <a:latin typeface="Calibri" pitchFamily="34" charset="0"/>
                <a:ea typeface="Calibri" pitchFamily="34" charset="-122"/>
                <a:cs typeface="Calibri" pitchFamily="34" charset="-120"/>
              </a:rPr>
              <a:t>Vũ Ngọc Hoàng</a:t>
            </a:r>
            <a:endParaRPr lang="en-US" sz="1400" dirty="0"/>
          </a:p>
        </p:txBody>
      </p:sp>
      <p:sp>
        <p:nvSpPr>
          <p:cNvPr id="12" name="Text 10"/>
          <p:cNvSpPr/>
          <p:nvPr/>
        </p:nvSpPr>
        <p:spPr>
          <a:xfrm>
            <a:off x="640080" y="5020056"/>
            <a:ext cx="1828800" cy="310896"/>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Thành viên:</a:t>
            </a:r>
            <a:endParaRPr lang="en-US" sz="1400" dirty="0"/>
          </a:p>
        </p:txBody>
      </p:sp>
      <p:sp>
        <p:nvSpPr>
          <p:cNvPr id="13" name="Text 11"/>
          <p:cNvSpPr/>
          <p:nvPr/>
        </p:nvSpPr>
        <p:spPr>
          <a:xfrm>
            <a:off x="1789176" y="5020056"/>
            <a:ext cx="8229600" cy="1554480"/>
          </a:xfrm>
          <a:prstGeom prst="rect">
            <a:avLst/>
          </a:prstGeom>
          <a:noFill/>
          <a:ln/>
        </p:spPr>
        <p:txBody>
          <a:bodyPr wrap="square" rtlCol="0" anchor="t"/>
          <a:lstStyle/>
          <a:p>
            <a:pPr marL="0" indent="0">
              <a:lnSpc>
                <a:spcPct val="105000"/>
              </a:lnSpc>
              <a:buNone/>
            </a:pPr>
            <a:r>
              <a:rPr lang="en-US" sz="1400" dirty="0">
                <a:solidFill>
                  <a:srgbClr val="CBD5E1"/>
                </a:solidFill>
                <a:latin typeface="Calibri" pitchFamily="34" charset="0"/>
                <a:ea typeface="Calibri" pitchFamily="34" charset="-122"/>
                <a:cs typeface="Calibri" pitchFamily="34" charset="-120"/>
              </a:rPr>
              <a:t>Nguyễn Đức Trung</a:t>
            </a:r>
            <a:endParaRPr lang="en-US" sz="1400" dirty="0"/>
          </a:p>
          <a:p>
            <a:pPr marL="0" indent="0">
              <a:lnSpc>
                <a:spcPct val="105000"/>
              </a:lnSpc>
              <a:buNone/>
            </a:pPr>
            <a:r>
              <a:rPr lang="en-US" sz="1400" dirty="0">
                <a:solidFill>
                  <a:srgbClr val="CBD5E1"/>
                </a:solidFill>
                <a:latin typeface="Calibri" pitchFamily="34" charset="0"/>
                <a:ea typeface="Calibri" pitchFamily="34" charset="-122"/>
                <a:cs typeface="Calibri" pitchFamily="34" charset="-120"/>
              </a:rPr>
              <a:t>Huỳnh Minh Khương</a:t>
            </a:r>
            <a:endParaRPr lang="en-US" sz="1400" dirty="0"/>
          </a:p>
          <a:p>
            <a:pPr marL="0" indent="0">
              <a:lnSpc>
                <a:spcPct val="105000"/>
              </a:lnSpc>
              <a:buNone/>
            </a:pPr>
            <a:r>
              <a:rPr lang="en-US" sz="1400" dirty="0">
                <a:solidFill>
                  <a:srgbClr val="CBD5E1"/>
                </a:solidFill>
                <a:latin typeface="Calibri" pitchFamily="34" charset="0"/>
                <a:ea typeface="Calibri" pitchFamily="34" charset="-122"/>
                <a:cs typeface="Calibri" pitchFamily="34" charset="-120"/>
              </a:rPr>
              <a:t>Lê Tuấn Vũ</a:t>
            </a:r>
            <a:endParaRPr lang="en-US" sz="1400" dirty="0"/>
          </a:p>
          <a:p>
            <a:pPr marL="0" indent="0">
              <a:lnSpc>
                <a:spcPct val="105000"/>
              </a:lnSpc>
              <a:buNone/>
            </a:pPr>
            <a:r>
              <a:rPr lang="en-US" sz="1400" dirty="0">
                <a:solidFill>
                  <a:srgbClr val="CBD5E1"/>
                </a:solidFill>
                <a:latin typeface="Calibri" pitchFamily="34" charset="0"/>
                <a:ea typeface="Calibri" pitchFamily="34" charset="-122"/>
                <a:cs typeface="Calibri" pitchFamily="34" charset="-120"/>
              </a:rPr>
              <a:t>Cao Trần Tấn Đạt</a:t>
            </a:r>
            <a:endParaRPr lang="en-US" sz="1400" dirty="0"/>
          </a:p>
          <a:p>
            <a:pPr marL="0" indent="0">
              <a:lnSpc>
                <a:spcPct val="105000"/>
              </a:lnSpc>
              <a:buNone/>
            </a:pPr>
            <a:r>
              <a:rPr lang="en-US" sz="1400" dirty="0">
                <a:solidFill>
                  <a:srgbClr val="CBD5E1"/>
                </a:solidFill>
                <a:latin typeface="Calibri" pitchFamily="34" charset="0"/>
                <a:ea typeface="Calibri" pitchFamily="34" charset="-122"/>
                <a:cs typeface="Calibri" pitchFamily="34" charset="-120"/>
              </a:rPr>
              <a:t>Huỳnh Thị Kim Thúy</a:t>
            </a:r>
            <a:endParaRPr lang="en-US" sz="1400" dirty="0"/>
          </a:p>
        </p:txBody>
      </p:sp>
      <p:sp>
        <p:nvSpPr>
          <p:cNvPr id="15" name="Shape 12"/>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16"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VẤN ĐỀ THỰC TẾ</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Doanh nghiệp nhỏ quản lý nhân sự rất vất vả</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02</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Text 4"/>
          <p:cNvSpPr/>
          <p:nvPr/>
        </p:nvSpPr>
        <p:spPr>
          <a:xfrm>
            <a:off x="640080" y="1417320"/>
            <a:ext cx="10911535" cy="365760"/>
          </a:xfrm>
          <a:prstGeom prst="rect">
            <a:avLst/>
          </a:prstGeom>
          <a:noFill/>
          <a:ln/>
        </p:spPr>
        <p:txBody>
          <a:bodyPr wrap="square" rtlCol="0" anchor="ctr"/>
          <a:lstStyle/>
          <a:p>
            <a:pPr marL="0" indent="0">
              <a:buNone/>
            </a:pPr>
            <a:r>
              <a:rPr lang="en-US" sz="1500" dirty="0">
                <a:solidFill>
                  <a:srgbClr val="64748B"/>
                </a:solidFill>
                <a:latin typeface="Calibri" pitchFamily="34" charset="0"/>
                <a:ea typeface="Calibri" pitchFamily="34" charset="-122"/>
                <a:cs typeface="Calibri" pitchFamily="34" charset="-120"/>
              </a:rPr>
              <a:t>Hình dung một công ty 50 người mà mọi thứ vẫn nằm trên giấy và Excel:</a:t>
            </a:r>
            <a:endParaRPr lang="en-US" sz="1500" dirty="0"/>
          </a:p>
        </p:txBody>
      </p:sp>
      <p:sp>
        <p:nvSpPr>
          <p:cNvPr id="7" name="Shape 5"/>
          <p:cNvSpPr/>
          <p:nvPr/>
        </p:nvSpPr>
        <p:spPr>
          <a:xfrm>
            <a:off x="640080" y="1965960"/>
            <a:ext cx="2578608" cy="3566160"/>
          </a:xfrm>
          <a:prstGeom prst="roundRect">
            <a:avLst>
              <a:gd name="adj" fmla="val 3191"/>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8" name="Shape 6"/>
          <p:cNvSpPr/>
          <p:nvPr/>
        </p:nvSpPr>
        <p:spPr>
          <a:xfrm>
            <a:off x="1517904" y="2286000"/>
            <a:ext cx="822960" cy="822960"/>
          </a:xfrm>
          <a:prstGeom prst="ellipse">
            <a:avLst/>
          </a:prstGeom>
          <a:solidFill>
            <a:srgbClr val="FDEBDD"/>
          </a:solidFill>
          <a:ln/>
        </p:spPr>
        <p:txBody>
          <a:bodyPr/>
          <a:lstStyle/>
          <a:p>
            <a:endParaRPr lang="en-US"/>
          </a:p>
        </p:txBody>
      </p:sp>
      <p:sp>
        <p:nvSpPr>
          <p:cNvPr id="9" name="Text 7"/>
          <p:cNvSpPr/>
          <p:nvPr/>
        </p:nvSpPr>
        <p:spPr>
          <a:xfrm>
            <a:off x="1517904" y="2286000"/>
            <a:ext cx="822960" cy="8229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0" name="Text 8"/>
          <p:cNvSpPr/>
          <p:nvPr/>
        </p:nvSpPr>
        <p:spPr>
          <a:xfrm>
            <a:off x="822960" y="3246120"/>
            <a:ext cx="2212848" cy="640080"/>
          </a:xfrm>
          <a:prstGeom prst="rect">
            <a:avLst/>
          </a:prstGeom>
          <a:noFill/>
          <a:ln/>
        </p:spPr>
        <p:txBody>
          <a:bodyPr wrap="square" rtlCol="0" anchor="ctr"/>
          <a:lstStyle/>
          <a:p>
            <a:pPr marL="0" indent="0" algn="ctr">
              <a:buNone/>
            </a:pPr>
            <a:r>
              <a:rPr lang="en-US" sz="1600" b="1" dirty="0">
                <a:solidFill>
                  <a:srgbClr val="0F1E3D"/>
                </a:solidFill>
                <a:latin typeface="Calibri" pitchFamily="34" charset="0"/>
                <a:ea typeface="Calibri" pitchFamily="34" charset="-122"/>
                <a:cs typeface="Calibri" pitchFamily="34" charset="-120"/>
              </a:rPr>
              <a:t>Chấm công thủ công</a:t>
            </a:r>
            <a:endParaRPr lang="en-US" sz="1600" dirty="0"/>
          </a:p>
        </p:txBody>
      </p:sp>
      <p:sp>
        <p:nvSpPr>
          <p:cNvPr id="11" name="Text 9"/>
          <p:cNvSpPr/>
          <p:nvPr/>
        </p:nvSpPr>
        <p:spPr>
          <a:xfrm>
            <a:off x="868680" y="3886200"/>
            <a:ext cx="2121408" cy="1463040"/>
          </a:xfrm>
          <a:prstGeom prst="rect">
            <a:avLst/>
          </a:prstGeom>
          <a:noFill/>
          <a:ln/>
        </p:spPr>
        <p:txBody>
          <a:bodyPr wrap="square" rtlCol="0" anchor="ctr"/>
          <a:lstStyle/>
          <a:p>
            <a:pPr marL="0" indent="0" algn="ctr">
              <a:lnSpc>
                <a:spcPct val="105000"/>
              </a:lnSpc>
              <a:buNone/>
            </a:pPr>
            <a:r>
              <a:rPr lang="en-US" sz="1250" dirty="0">
                <a:solidFill>
                  <a:srgbClr val="64748B"/>
                </a:solidFill>
                <a:latin typeface="Calibri" pitchFamily="34" charset="0"/>
                <a:ea typeface="Calibri" pitchFamily="34" charset="-122"/>
                <a:cs typeface="Calibri" pitchFamily="34" charset="-120"/>
              </a:rPr>
              <a:t>Ký tên, bấm giờ bằng tay → sai sót, gian lận, mất thời gian tổng hợp.</a:t>
            </a:r>
            <a:endParaRPr lang="en-US" sz="1250" dirty="0"/>
          </a:p>
        </p:txBody>
      </p:sp>
      <p:sp>
        <p:nvSpPr>
          <p:cNvPr id="12" name="Shape 10"/>
          <p:cNvSpPr/>
          <p:nvPr/>
        </p:nvSpPr>
        <p:spPr>
          <a:xfrm>
            <a:off x="3474720" y="1965960"/>
            <a:ext cx="2578608" cy="3566160"/>
          </a:xfrm>
          <a:prstGeom prst="roundRect">
            <a:avLst>
              <a:gd name="adj" fmla="val 3191"/>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3" name="Shape 11"/>
          <p:cNvSpPr/>
          <p:nvPr/>
        </p:nvSpPr>
        <p:spPr>
          <a:xfrm>
            <a:off x="4352544" y="2286000"/>
            <a:ext cx="822960" cy="822960"/>
          </a:xfrm>
          <a:prstGeom prst="ellipse">
            <a:avLst/>
          </a:prstGeom>
          <a:solidFill>
            <a:srgbClr val="FDEBDD"/>
          </a:solidFill>
          <a:ln/>
        </p:spPr>
        <p:txBody>
          <a:bodyPr/>
          <a:lstStyle/>
          <a:p>
            <a:endParaRPr lang="en-US"/>
          </a:p>
        </p:txBody>
      </p:sp>
      <p:sp>
        <p:nvSpPr>
          <p:cNvPr id="14" name="Text 12"/>
          <p:cNvSpPr/>
          <p:nvPr/>
        </p:nvSpPr>
        <p:spPr>
          <a:xfrm>
            <a:off x="4352544" y="2286000"/>
            <a:ext cx="822960" cy="8229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5" name="Text 13"/>
          <p:cNvSpPr/>
          <p:nvPr/>
        </p:nvSpPr>
        <p:spPr>
          <a:xfrm>
            <a:off x="3657600" y="3246120"/>
            <a:ext cx="2212848" cy="640080"/>
          </a:xfrm>
          <a:prstGeom prst="rect">
            <a:avLst/>
          </a:prstGeom>
          <a:noFill/>
          <a:ln/>
        </p:spPr>
        <p:txBody>
          <a:bodyPr wrap="square" rtlCol="0" anchor="ctr"/>
          <a:lstStyle/>
          <a:p>
            <a:pPr marL="0" indent="0" algn="ctr">
              <a:buNone/>
            </a:pPr>
            <a:r>
              <a:rPr lang="en-US" sz="1600" b="1" dirty="0">
                <a:solidFill>
                  <a:srgbClr val="0F1E3D"/>
                </a:solidFill>
                <a:latin typeface="Calibri" pitchFamily="34" charset="0"/>
                <a:ea typeface="Calibri" pitchFamily="34" charset="-122"/>
                <a:cs typeface="Calibri" pitchFamily="34" charset="-120"/>
              </a:rPr>
              <a:t>Tính lương bằng Excel</a:t>
            </a:r>
            <a:endParaRPr lang="en-US" sz="1600" dirty="0"/>
          </a:p>
        </p:txBody>
      </p:sp>
      <p:sp>
        <p:nvSpPr>
          <p:cNvPr id="16" name="Text 14"/>
          <p:cNvSpPr/>
          <p:nvPr/>
        </p:nvSpPr>
        <p:spPr>
          <a:xfrm>
            <a:off x="3703320" y="3886200"/>
            <a:ext cx="2121408" cy="1463040"/>
          </a:xfrm>
          <a:prstGeom prst="rect">
            <a:avLst/>
          </a:prstGeom>
          <a:noFill/>
          <a:ln/>
        </p:spPr>
        <p:txBody>
          <a:bodyPr wrap="square" rtlCol="0" anchor="ctr"/>
          <a:lstStyle/>
          <a:p>
            <a:pPr marL="0" indent="0" algn="ctr">
              <a:lnSpc>
                <a:spcPct val="105000"/>
              </a:lnSpc>
              <a:buNone/>
            </a:pPr>
            <a:r>
              <a:rPr lang="en-US" sz="1250" dirty="0">
                <a:solidFill>
                  <a:srgbClr val="64748B"/>
                </a:solidFill>
                <a:latin typeface="Calibri" pitchFamily="34" charset="0"/>
                <a:ea typeface="Calibri" pitchFamily="34" charset="-122"/>
                <a:cs typeface="Calibri" pitchFamily="34" charset="-120"/>
              </a:rPr>
              <a:t>Công thức chồng chéo, dễ sai thuế – bảo hiểm, mỗi tháng làm lại từ đầu.</a:t>
            </a:r>
            <a:endParaRPr lang="en-US" sz="1250" dirty="0"/>
          </a:p>
        </p:txBody>
      </p:sp>
      <p:sp>
        <p:nvSpPr>
          <p:cNvPr id="17" name="Shape 15"/>
          <p:cNvSpPr/>
          <p:nvPr/>
        </p:nvSpPr>
        <p:spPr>
          <a:xfrm>
            <a:off x="6309360" y="1965960"/>
            <a:ext cx="2578608" cy="3566160"/>
          </a:xfrm>
          <a:prstGeom prst="roundRect">
            <a:avLst>
              <a:gd name="adj" fmla="val 3191"/>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8" name="Shape 16"/>
          <p:cNvSpPr/>
          <p:nvPr/>
        </p:nvSpPr>
        <p:spPr>
          <a:xfrm>
            <a:off x="7187184" y="2286000"/>
            <a:ext cx="822960" cy="822960"/>
          </a:xfrm>
          <a:prstGeom prst="ellipse">
            <a:avLst/>
          </a:prstGeom>
          <a:solidFill>
            <a:srgbClr val="FDEBDD"/>
          </a:solidFill>
          <a:ln/>
        </p:spPr>
        <p:txBody>
          <a:bodyPr/>
          <a:lstStyle/>
          <a:p>
            <a:endParaRPr lang="en-US"/>
          </a:p>
        </p:txBody>
      </p:sp>
      <p:sp>
        <p:nvSpPr>
          <p:cNvPr id="19" name="Text 17"/>
          <p:cNvSpPr/>
          <p:nvPr/>
        </p:nvSpPr>
        <p:spPr>
          <a:xfrm>
            <a:off x="7187184" y="2286000"/>
            <a:ext cx="822960" cy="8229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0" name="Text 18"/>
          <p:cNvSpPr/>
          <p:nvPr/>
        </p:nvSpPr>
        <p:spPr>
          <a:xfrm>
            <a:off x="6492240" y="3246120"/>
            <a:ext cx="2212848" cy="640080"/>
          </a:xfrm>
          <a:prstGeom prst="rect">
            <a:avLst/>
          </a:prstGeom>
          <a:noFill/>
          <a:ln/>
        </p:spPr>
        <p:txBody>
          <a:bodyPr wrap="square" rtlCol="0" anchor="ctr"/>
          <a:lstStyle/>
          <a:p>
            <a:pPr marL="0" indent="0" algn="ctr">
              <a:buNone/>
            </a:pPr>
            <a:r>
              <a:rPr lang="en-US" sz="1600" b="1" dirty="0">
                <a:solidFill>
                  <a:srgbClr val="0F1E3D"/>
                </a:solidFill>
                <a:latin typeface="Calibri" pitchFamily="34" charset="0"/>
                <a:ea typeface="Calibri" pitchFamily="34" charset="-122"/>
                <a:cs typeface="Calibri" pitchFamily="34" charset="-120"/>
              </a:rPr>
              <a:t>Đơn từ giấy tờ</a:t>
            </a:r>
            <a:endParaRPr lang="en-US" sz="1600" dirty="0"/>
          </a:p>
        </p:txBody>
      </p:sp>
      <p:sp>
        <p:nvSpPr>
          <p:cNvPr id="21" name="Text 19"/>
          <p:cNvSpPr/>
          <p:nvPr/>
        </p:nvSpPr>
        <p:spPr>
          <a:xfrm>
            <a:off x="6537960" y="3886200"/>
            <a:ext cx="2121408" cy="1463040"/>
          </a:xfrm>
          <a:prstGeom prst="rect">
            <a:avLst/>
          </a:prstGeom>
          <a:noFill/>
          <a:ln/>
        </p:spPr>
        <p:txBody>
          <a:bodyPr wrap="square" rtlCol="0" anchor="ctr"/>
          <a:lstStyle/>
          <a:p>
            <a:pPr marL="0" indent="0" algn="ctr">
              <a:lnSpc>
                <a:spcPct val="105000"/>
              </a:lnSpc>
              <a:buNone/>
            </a:pPr>
            <a:r>
              <a:rPr lang="en-US" sz="1250" dirty="0">
                <a:solidFill>
                  <a:srgbClr val="64748B"/>
                </a:solidFill>
                <a:latin typeface="Calibri" pitchFamily="34" charset="0"/>
                <a:ea typeface="Calibri" pitchFamily="34" charset="-122"/>
                <a:cs typeface="Calibri" pitchFamily="34" charset="-120"/>
              </a:rPr>
              <a:t>Xin nghỉ, tăng ca ký tay qua nhiều người → thất lạc, không biết tới đâu.</a:t>
            </a:r>
            <a:endParaRPr lang="en-US" sz="1250" dirty="0"/>
          </a:p>
        </p:txBody>
      </p:sp>
      <p:sp>
        <p:nvSpPr>
          <p:cNvPr id="22" name="Shape 20"/>
          <p:cNvSpPr/>
          <p:nvPr/>
        </p:nvSpPr>
        <p:spPr>
          <a:xfrm>
            <a:off x="9144000" y="1965960"/>
            <a:ext cx="2578608" cy="3566160"/>
          </a:xfrm>
          <a:prstGeom prst="roundRect">
            <a:avLst>
              <a:gd name="adj" fmla="val 3191"/>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3" name="Shape 21"/>
          <p:cNvSpPr/>
          <p:nvPr/>
        </p:nvSpPr>
        <p:spPr>
          <a:xfrm>
            <a:off x="10021824" y="2286000"/>
            <a:ext cx="822960" cy="822960"/>
          </a:xfrm>
          <a:prstGeom prst="ellipse">
            <a:avLst/>
          </a:prstGeom>
          <a:solidFill>
            <a:srgbClr val="FDEBDD"/>
          </a:solidFill>
          <a:ln/>
        </p:spPr>
        <p:txBody>
          <a:bodyPr/>
          <a:lstStyle/>
          <a:p>
            <a:endParaRPr lang="en-US"/>
          </a:p>
        </p:txBody>
      </p:sp>
      <p:sp>
        <p:nvSpPr>
          <p:cNvPr id="24" name="Text 22"/>
          <p:cNvSpPr/>
          <p:nvPr/>
        </p:nvSpPr>
        <p:spPr>
          <a:xfrm>
            <a:off x="10021824" y="2286000"/>
            <a:ext cx="822960" cy="8229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5" name="Text 23"/>
          <p:cNvSpPr/>
          <p:nvPr/>
        </p:nvSpPr>
        <p:spPr>
          <a:xfrm>
            <a:off x="9326880" y="3246120"/>
            <a:ext cx="2212848" cy="640080"/>
          </a:xfrm>
          <a:prstGeom prst="rect">
            <a:avLst/>
          </a:prstGeom>
          <a:noFill/>
          <a:ln/>
        </p:spPr>
        <p:txBody>
          <a:bodyPr wrap="square" rtlCol="0" anchor="ctr"/>
          <a:lstStyle/>
          <a:p>
            <a:pPr marL="0" indent="0" algn="ctr">
              <a:buNone/>
            </a:pPr>
            <a:r>
              <a:rPr lang="en-US" sz="1600" b="1" dirty="0">
                <a:solidFill>
                  <a:srgbClr val="0F1E3D"/>
                </a:solidFill>
                <a:latin typeface="Calibri" pitchFamily="34" charset="0"/>
                <a:ea typeface="Calibri" pitchFamily="34" charset="-122"/>
                <a:cs typeface="Calibri" pitchFamily="34" charset="-120"/>
              </a:rPr>
              <a:t>Dữ liệu rời rạc</a:t>
            </a:r>
            <a:endParaRPr lang="en-US" sz="1600" dirty="0"/>
          </a:p>
        </p:txBody>
      </p:sp>
      <p:sp>
        <p:nvSpPr>
          <p:cNvPr id="26" name="Text 24"/>
          <p:cNvSpPr/>
          <p:nvPr/>
        </p:nvSpPr>
        <p:spPr>
          <a:xfrm>
            <a:off x="9372600" y="3886200"/>
            <a:ext cx="2121408" cy="1463040"/>
          </a:xfrm>
          <a:prstGeom prst="rect">
            <a:avLst/>
          </a:prstGeom>
          <a:noFill/>
          <a:ln/>
        </p:spPr>
        <p:txBody>
          <a:bodyPr wrap="square" rtlCol="0" anchor="ctr"/>
          <a:lstStyle/>
          <a:p>
            <a:pPr marL="0" indent="0" algn="ctr">
              <a:lnSpc>
                <a:spcPct val="105000"/>
              </a:lnSpc>
              <a:buNone/>
            </a:pPr>
            <a:r>
              <a:rPr lang="en-US" sz="1250" dirty="0">
                <a:solidFill>
                  <a:srgbClr val="64748B"/>
                </a:solidFill>
                <a:latin typeface="Calibri" pitchFamily="34" charset="0"/>
                <a:ea typeface="Calibri" pitchFamily="34" charset="-122"/>
                <a:cs typeface="Calibri" pitchFamily="34" charset="-120"/>
              </a:rPr>
              <a:t>Hồ sơ, hợp đồng, phép mỗi nơi một kiểu → sếp không có bức tranh tổng thể.</a:t>
            </a:r>
            <a:endParaRPr lang="en-US" sz="1250" dirty="0"/>
          </a:p>
        </p:txBody>
      </p:sp>
      <p:sp>
        <p:nvSpPr>
          <p:cNvPr id="27" name="Text 25"/>
          <p:cNvSpPr/>
          <p:nvPr/>
        </p:nvSpPr>
        <p:spPr>
          <a:xfrm>
            <a:off x="640080" y="5806440"/>
            <a:ext cx="10911535" cy="457200"/>
          </a:xfrm>
          <a:prstGeom prst="rect">
            <a:avLst/>
          </a:prstGeom>
          <a:noFill/>
          <a:ln/>
        </p:spPr>
        <p:txBody>
          <a:bodyPr wrap="square" rtlCol="0" anchor="ctr"/>
          <a:lstStyle/>
          <a:p>
            <a:pPr marL="0" indent="0" algn="ctr">
              <a:buNone/>
            </a:pPr>
            <a:r>
              <a:rPr lang="en-US" sz="1600" b="1" dirty="0">
                <a:solidFill>
                  <a:srgbClr val="F37022"/>
                </a:solidFill>
                <a:latin typeface="Calibri" pitchFamily="34" charset="0"/>
                <a:ea typeface="Calibri" pitchFamily="34" charset="-122"/>
                <a:cs typeface="Calibri" pitchFamily="34" charset="-120"/>
              </a:rPr>
              <a:t>➡  Càng đông nhân viên, càng rối. Cần MỘT phần mềm làm thay tất cả.</a:t>
            </a:r>
            <a:endParaRPr lang="en-US" sz="1600" dirty="0"/>
          </a:p>
        </p:txBody>
      </p:sp>
      <p:sp>
        <p:nvSpPr>
          <p:cNvPr id="28" name="Shape 26"/>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29"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GIẢI PHÁP</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HRM — một “trợ lý nhân sự” chạy trên máy tính</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Text 4"/>
          <p:cNvSpPr/>
          <p:nvPr/>
        </p:nvSpPr>
        <p:spPr>
          <a:xfrm>
            <a:off x="640080" y="1417320"/>
            <a:ext cx="10881360" cy="54864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HRM (Human Resource Management) là phần mềm gom TẤT CẢ việc nhân sự về một chỗ, tự động và không sai sót.</a:t>
            </a:r>
            <a:endParaRPr lang="en-US" sz="1500" dirty="0"/>
          </a:p>
        </p:txBody>
      </p:sp>
      <p:sp>
        <p:nvSpPr>
          <p:cNvPr id="7" name="Shape 5"/>
          <p:cNvSpPr/>
          <p:nvPr/>
        </p:nvSpPr>
        <p:spPr>
          <a:xfrm>
            <a:off x="640080" y="2148840"/>
            <a:ext cx="5212080" cy="3931920"/>
          </a:xfrm>
          <a:prstGeom prst="roundRect">
            <a:avLst>
              <a:gd name="adj" fmla="val 209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8" name="Text 6"/>
          <p:cNvSpPr/>
          <p:nvPr/>
        </p:nvSpPr>
        <p:spPr>
          <a:xfrm>
            <a:off x="1005840" y="2377440"/>
            <a:ext cx="4572000" cy="365760"/>
          </a:xfrm>
          <a:prstGeom prst="rect">
            <a:avLst/>
          </a:prstGeom>
          <a:noFill/>
          <a:ln/>
        </p:spPr>
        <p:txBody>
          <a:bodyPr wrap="square" rtlCol="0" anchor="ctr"/>
          <a:lstStyle/>
          <a:p>
            <a:pPr marL="0" indent="0">
              <a:buNone/>
            </a:pPr>
            <a:r>
              <a:rPr lang="en-US" sz="1600" b="1" dirty="0">
                <a:solidFill>
                  <a:srgbClr val="B91C1C"/>
                </a:solidFill>
                <a:latin typeface="Calibri" pitchFamily="34" charset="0"/>
                <a:ea typeface="Calibri" pitchFamily="34" charset="-122"/>
                <a:cs typeface="Calibri" pitchFamily="34" charset="-120"/>
              </a:rPr>
              <a:t>❌  TRƯỚC ĐÂY</a:t>
            </a:r>
            <a:endParaRPr lang="en-US" sz="1600" dirty="0"/>
          </a:p>
        </p:txBody>
      </p:sp>
      <p:sp>
        <p:nvSpPr>
          <p:cNvPr id="9" name="Text 7"/>
          <p:cNvSpPr/>
          <p:nvPr/>
        </p:nvSpPr>
        <p:spPr>
          <a:xfrm>
            <a:off x="1005840" y="2880360"/>
            <a:ext cx="4572000" cy="457200"/>
          </a:xfrm>
          <a:prstGeom prst="rect">
            <a:avLst/>
          </a:prstGeom>
          <a:noFill/>
          <a:ln/>
        </p:spPr>
        <p:txBody>
          <a:bodyPr wrap="square"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Sổ sách, Excel, giấy tờ rời rạc</a:t>
            </a:r>
            <a:endParaRPr lang="en-US" sz="1400" dirty="0"/>
          </a:p>
        </p:txBody>
      </p:sp>
      <p:sp>
        <p:nvSpPr>
          <p:cNvPr id="10" name="Text 8"/>
          <p:cNvSpPr/>
          <p:nvPr/>
        </p:nvSpPr>
        <p:spPr>
          <a:xfrm>
            <a:off x="1005840" y="3447288"/>
            <a:ext cx="4572000" cy="457200"/>
          </a:xfrm>
          <a:prstGeom prst="rect">
            <a:avLst/>
          </a:prstGeom>
          <a:noFill/>
          <a:ln/>
        </p:spPr>
        <p:txBody>
          <a:bodyPr wrap="square"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Tổng hợp công – lương bằng tay</a:t>
            </a:r>
            <a:endParaRPr lang="en-US" sz="1400" dirty="0"/>
          </a:p>
        </p:txBody>
      </p:sp>
      <p:sp>
        <p:nvSpPr>
          <p:cNvPr id="11" name="Text 9"/>
          <p:cNvSpPr/>
          <p:nvPr/>
        </p:nvSpPr>
        <p:spPr>
          <a:xfrm>
            <a:off x="1005840" y="4014216"/>
            <a:ext cx="4572000" cy="457200"/>
          </a:xfrm>
          <a:prstGeom prst="rect">
            <a:avLst/>
          </a:prstGeom>
          <a:noFill/>
          <a:ln/>
        </p:spPr>
        <p:txBody>
          <a:bodyPr wrap="square"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Đơn từ ký tay, hay thất lạc</a:t>
            </a:r>
            <a:endParaRPr lang="en-US" sz="1400" dirty="0"/>
          </a:p>
        </p:txBody>
      </p:sp>
      <p:sp>
        <p:nvSpPr>
          <p:cNvPr id="12" name="Text 10"/>
          <p:cNvSpPr/>
          <p:nvPr/>
        </p:nvSpPr>
        <p:spPr>
          <a:xfrm>
            <a:off x="1005840" y="4581144"/>
            <a:ext cx="4572000" cy="457200"/>
          </a:xfrm>
          <a:prstGeom prst="rect">
            <a:avLst/>
          </a:prstGeom>
          <a:noFill/>
          <a:ln/>
        </p:spPr>
        <p:txBody>
          <a:bodyPr wrap="square"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Sếp khó biết ai đang làm gì</a:t>
            </a:r>
            <a:endParaRPr lang="en-US" sz="1400" dirty="0"/>
          </a:p>
        </p:txBody>
      </p:sp>
      <p:sp>
        <p:nvSpPr>
          <p:cNvPr id="13" name="Shape 11"/>
          <p:cNvSpPr/>
          <p:nvPr/>
        </p:nvSpPr>
        <p:spPr>
          <a:xfrm>
            <a:off x="6309360" y="2148840"/>
            <a:ext cx="5212080" cy="3931920"/>
          </a:xfrm>
          <a:prstGeom prst="roundRect">
            <a:avLst>
              <a:gd name="adj" fmla="val 2093"/>
            </a:avLst>
          </a:prstGeom>
          <a:solidFill>
            <a:srgbClr val="E8F0FB"/>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4" name="Text 12"/>
          <p:cNvSpPr/>
          <p:nvPr/>
        </p:nvSpPr>
        <p:spPr>
          <a:xfrm>
            <a:off x="6675120" y="2377440"/>
            <a:ext cx="4572000" cy="365760"/>
          </a:xfrm>
          <a:prstGeom prst="rect">
            <a:avLst/>
          </a:prstGeom>
          <a:noFill/>
          <a:ln/>
        </p:spPr>
        <p:txBody>
          <a:bodyPr wrap="square" rtlCol="0" anchor="ctr"/>
          <a:lstStyle/>
          <a:p>
            <a:pPr marL="0" indent="0">
              <a:buNone/>
            </a:pPr>
            <a:r>
              <a:rPr lang="en-US" sz="1600" b="1" dirty="0">
                <a:solidFill>
                  <a:srgbClr val="4EB748"/>
                </a:solidFill>
                <a:latin typeface="Calibri" pitchFamily="34" charset="0"/>
                <a:ea typeface="Calibri" pitchFamily="34" charset="-122"/>
                <a:cs typeface="Calibri" pitchFamily="34" charset="-120"/>
              </a:rPr>
              <a:t>✅  VỚI HỆ THỐNG HRM</a:t>
            </a:r>
            <a:endParaRPr lang="en-US" sz="1600" dirty="0"/>
          </a:p>
        </p:txBody>
      </p:sp>
      <p:sp>
        <p:nvSpPr>
          <p:cNvPr id="15" name="Text 13"/>
          <p:cNvSpPr/>
          <p:nvPr/>
        </p:nvSpPr>
        <p:spPr>
          <a:xfrm>
            <a:off x="6675120" y="2880360"/>
            <a:ext cx="4572000" cy="457200"/>
          </a:xfrm>
          <a:prstGeom prst="rect">
            <a:avLst/>
          </a:prstGeom>
          <a:noFill/>
          <a:ln/>
        </p:spPr>
        <p:txBody>
          <a:bodyPr wrap="square" rtlCol="0" anchor="ctr"/>
          <a:lstStyle/>
          <a:p>
            <a:pPr marL="342900" indent="-342900">
              <a:buSzPct val="100000"/>
              <a:buChar char="✓"/>
            </a:pPr>
            <a:r>
              <a:rPr lang="en-US" sz="1400" dirty="0">
                <a:solidFill>
                  <a:srgbClr val="0F1E3D"/>
                </a:solidFill>
                <a:latin typeface="Calibri" pitchFamily="34" charset="0"/>
                <a:ea typeface="Calibri" pitchFamily="34" charset="-122"/>
                <a:cs typeface="Calibri" pitchFamily="34" charset="-120"/>
              </a:rPr>
              <a:t>Mọi dữ liệu tập trung, tra cứu tức thì</a:t>
            </a:r>
            <a:endParaRPr lang="en-US" sz="1400" dirty="0"/>
          </a:p>
        </p:txBody>
      </p:sp>
      <p:sp>
        <p:nvSpPr>
          <p:cNvPr id="16" name="Text 14"/>
          <p:cNvSpPr/>
          <p:nvPr/>
        </p:nvSpPr>
        <p:spPr>
          <a:xfrm>
            <a:off x="6675120" y="3447288"/>
            <a:ext cx="4572000" cy="457200"/>
          </a:xfrm>
          <a:prstGeom prst="rect">
            <a:avLst/>
          </a:prstGeom>
          <a:noFill/>
          <a:ln/>
        </p:spPr>
        <p:txBody>
          <a:bodyPr wrap="square" rtlCol="0" anchor="ctr"/>
          <a:lstStyle/>
          <a:p>
            <a:pPr marL="342900" indent="-342900">
              <a:buSzPct val="100000"/>
              <a:buChar char="✓"/>
            </a:pPr>
            <a:r>
              <a:rPr lang="en-US" sz="1400" dirty="0">
                <a:solidFill>
                  <a:srgbClr val="0F1E3D"/>
                </a:solidFill>
                <a:latin typeface="Calibri" pitchFamily="34" charset="0"/>
                <a:ea typeface="Calibri" pitchFamily="34" charset="-122"/>
                <a:cs typeface="Calibri" pitchFamily="34" charset="-120"/>
              </a:rPr>
              <a:t>Máy tự chấm công &amp; tính lương chuẩn</a:t>
            </a:r>
            <a:endParaRPr lang="en-US" sz="1400" dirty="0"/>
          </a:p>
        </p:txBody>
      </p:sp>
      <p:sp>
        <p:nvSpPr>
          <p:cNvPr id="17" name="Text 15"/>
          <p:cNvSpPr/>
          <p:nvPr/>
        </p:nvSpPr>
        <p:spPr>
          <a:xfrm>
            <a:off x="6675120" y="4014216"/>
            <a:ext cx="4572000" cy="457200"/>
          </a:xfrm>
          <a:prstGeom prst="rect">
            <a:avLst/>
          </a:prstGeom>
          <a:noFill/>
          <a:ln/>
        </p:spPr>
        <p:txBody>
          <a:bodyPr wrap="square" rtlCol="0" anchor="ctr"/>
          <a:lstStyle/>
          <a:p>
            <a:pPr marL="342900" indent="-342900">
              <a:buSzPct val="100000"/>
              <a:buChar char="✓"/>
            </a:pPr>
            <a:r>
              <a:rPr lang="en-US" sz="1400" dirty="0">
                <a:solidFill>
                  <a:srgbClr val="0F1E3D"/>
                </a:solidFill>
                <a:latin typeface="Calibri" pitchFamily="34" charset="0"/>
                <a:ea typeface="Calibri" pitchFamily="34" charset="-122"/>
                <a:cs typeface="Calibri" pitchFamily="34" charset="-120"/>
              </a:rPr>
              <a:t>Đơn từ duyệt online, có lịch sử rõ ràng</a:t>
            </a:r>
            <a:endParaRPr lang="en-US" sz="1400" dirty="0"/>
          </a:p>
        </p:txBody>
      </p:sp>
      <p:sp>
        <p:nvSpPr>
          <p:cNvPr id="18" name="Text 16"/>
          <p:cNvSpPr/>
          <p:nvPr/>
        </p:nvSpPr>
        <p:spPr>
          <a:xfrm>
            <a:off x="6675120" y="4581144"/>
            <a:ext cx="4572000" cy="457200"/>
          </a:xfrm>
          <a:prstGeom prst="rect">
            <a:avLst/>
          </a:prstGeom>
          <a:noFill/>
          <a:ln/>
        </p:spPr>
        <p:txBody>
          <a:bodyPr wrap="square" rtlCol="0" anchor="ctr"/>
          <a:lstStyle/>
          <a:p>
            <a:pPr marL="342900" indent="-342900">
              <a:buSzPct val="100000"/>
              <a:buChar char="✓"/>
            </a:pPr>
            <a:r>
              <a:rPr lang="en-US" sz="1400" dirty="0">
                <a:solidFill>
                  <a:srgbClr val="0F1E3D"/>
                </a:solidFill>
                <a:latin typeface="Calibri" pitchFamily="34" charset="0"/>
                <a:ea typeface="Calibri" pitchFamily="34" charset="-122"/>
                <a:cs typeface="Calibri" pitchFamily="34" charset="-120"/>
              </a:rPr>
              <a:t>Sếp xem báo cáo tổng quan mọi lúc</a:t>
            </a:r>
            <a:endParaRPr lang="en-US" sz="1400" dirty="0"/>
          </a:p>
        </p:txBody>
      </p:sp>
      <p:sp>
        <p:nvSpPr>
          <p:cNvPr id="19" name="Shape 17"/>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20"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MỤC TIÊU ĐỀ TÀI</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Chúng em muốn xây dựng điều gì?</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Shape 4"/>
          <p:cNvSpPr/>
          <p:nvPr/>
        </p:nvSpPr>
        <p:spPr>
          <a:xfrm>
            <a:off x="640080" y="1600200"/>
            <a:ext cx="5212080" cy="1783080"/>
          </a:xfrm>
          <a:prstGeom prst="roundRect">
            <a:avLst>
              <a:gd name="adj" fmla="val 4615"/>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7" name="Shape 5"/>
          <p:cNvSpPr/>
          <p:nvPr/>
        </p:nvSpPr>
        <p:spPr>
          <a:xfrm>
            <a:off x="960120" y="2057400"/>
            <a:ext cx="868680" cy="868680"/>
          </a:xfrm>
          <a:prstGeom prst="ellipse">
            <a:avLst/>
          </a:prstGeom>
          <a:solidFill>
            <a:srgbClr val="E8F0FB"/>
          </a:solidFill>
          <a:ln/>
        </p:spPr>
        <p:txBody>
          <a:bodyPr/>
          <a:lstStyle/>
          <a:p>
            <a:endParaRPr lang="en-US"/>
          </a:p>
        </p:txBody>
      </p:sp>
      <p:sp>
        <p:nvSpPr>
          <p:cNvPr id="8" name="Text 6"/>
          <p:cNvSpPr/>
          <p:nvPr/>
        </p:nvSpPr>
        <p:spPr>
          <a:xfrm>
            <a:off x="960120" y="2057400"/>
            <a:ext cx="868680" cy="86868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9" name="Text 7"/>
          <p:cNvSpPr/>
          <p:nvPr/>
        </p:nvSpPr>
        <p:spPr>
          <a:xfrm>
            <a:off x="2057400" y="1892808"/>
            <a:ext cx="3566160" cy="457200"/>
          </a:xfrm>
          <a:prstGeom prst="rect">
            <a:avLst/>
          </a:prstGeom>
          <a:noFill/>
          <a:ln/>
        </p:spPr>
        <p:txBody>
          <a:bodyPr wrap="square" rtlCol="0" anchor="ctr"/>
          <a:lstStyle/>
          <a:p>
            <a:pPr marL="0" indent="0">
              <a:buNone/>
            </a:pPr>
            <a:r>
              <a:rPr lang="en-US" sz="1800" b="1" dirty="0">
                <a:solidFill>
                  <a:srgbClr val="124DA3"/>
                </a:solidFill>
                <a:latin typeface="Calibri" pitchFamily="34" charset="0"/>
                <a:ea typeface="Calibri" pitchFamily="34" charset="-122"/>
                <a:cs typeface="Calibri" pitchFamily="34" charset="-120"/>
              </a:rPr>
              <a:t>SaaS đa tổ chức</a:t>
            </a:r>
            <a:endParaRPr lang="en-US" sz="1800" dirty="0"/>
          </a:p>
        </p:txBody>
      </p:sp>
      <p:sp>
        <p:nvSpPr>
          <p:cNvPr id="10" name="Text 8"/>
          <p:cNvSpPr/>
          <p:nvPr/>
        </p:nvSpPr>
        <p:spPr>
          <a:xfrm>
            <a:off x="2057400" y="2350008"/>
            <a:ext cx="3520440" cy="914400"/>
          </a:xfrm>
          <a:prstGeom prst="rect">
            <a:avLst/>
          </a:prstGeom>
          <a:noFill/>
          <a:ln/>
        </p:spPr>
        <p:txBody>
          <a:bodyPr wrap="square" rtlCol="0" anchor="ctr"/>
          <a:lstStyle/>
          <a:p>
            <a:pPr marL="0" indent="0">
              <a:lnSpc>
                <a:spcPct val="104000"/>
              </a:lnSpc>
              <a:buNone/>
            </a:pPr>
            <a:r>
              <a:rPr lang="en-US" sz="1300" dirty="0">
                <a:solidFill>
                  <a:srgbClr val="64748B"/>
                </a:solidFill>
                <a:latin typeface="Calibri" pitchFamily="34" charset="0"/>
                <a:ea typeface="Calibri" pitchFamily="34" charset="-122"/>
                <a:cs typeface="Calibri" pitchFamily="34" charset="-120"/>
              </a:rPr>
              <a:t>Một hệ thống dùng cho NHIỀU công ty cùng lúc, dữ liệu mỗi công ty tách biệt an toàn.</a:t>
            </a:r>
            <a:endParaRPr lang="en-US" sz="1300" dirty="0"/>
          </a:p>
        </p:txBody>
      </p:sp>
      <p:sp>
        <p:nvSpPr>
          <p:cNvPr id="11" name="Shape 9"/>
          <p:cNvSpPr/>
          <p:nvPr/>
        </p:nvSpPr>
        <p:spPr>
          <a:xfrm>
            <a:off x="6309360" y="1600200"/>
            <a:ext cx="5212080" cy="1783080"/>
          </a:xfrm>
          <a:prstGeom prst="roundRect">
            <a:avLst>
              <a:gd name="adj" fmla="val 4615"/>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2" name="Shape 10"/>
          <p:cNvSpPr/>
          <p:nvPr/>
        </p:nvSpPr>
        <p:spPr>
          <a:xfrm>
            <a:off x="6629400" y="2057400"/>
            <a:ext cx="868680" cy="868680"/>
          </a:xfrm>
          <a:prstGeom prst="ellipse">
            <a:avLst/>
          </a:prstGeom>
          <a:solidFill>
            <a:srgbClr val="E8F0FB"/>
          </a:solidFill>
          <a:ln/>
        </p:spPr>
        <p:txBody>
          <a:bodyPr/>
          <a:lstStyle/>
          <a:p>
            <a:endParaRPr lang="en-US"/>
          </a:p>
        </p:txBody>
      </p:sp>
      <p:sp>
        <p:nvSpPr>
          <p:cNvPr id="13" name="Text 11"/>
          <p:cNvSpPr/>
          <p:nvPr/>
        </p:nvSpPr>
        <p:spPr>
          <a:xfrm>
            <a:off x="6629400" y="2057400"/>
            <a:ext cx="868680" cy="86868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4" name="Text 12"/>
          <p:cNvSpPr/>
          <p:nvPr/>
        </p:nvSpPr>
        <p:spPr>
          <a:xfrm>
            <a:off x="7726680" y="1892808"/>
            <a:ext cx="3566160" cy="457200"/>
          </a:xfrm>
          <a:prstGeom prst="rect">
            <a:avLst/>
          </a:prstGeom>
          <a:noFill/>
          <a:ln/>
        </p:spPr>
        <p:txBody>
          <a:bodyPr wrap="square" rtlCol="0" anchor="ctr"/>
          <a:lstStyle/>
          <a:p>
            <a:pPr marL="0" indent="0">
              <a:buNone/>
            </a:pPr>
            <a:r>
              <a:rPr lang="en-US" sz="1800" b="1" dirty="0">
                <a:solidFill>
                  <a:srgbClr val="124DA3"/>
                </a:solidFill>
                <a:latin typeface="Calibri" pitchFamily="34" charset="0"/>
                <a:ea typeface="Calibri" pitchFamily="34" charset="-122"/>
                <a:cs typeface="Calibri" pitchFamily="34" charset="-120"/>
              </a:rPr>
              <a:t>Đúng luật Việt Nam</a:t>
            </a:r>
            <a:endParaRPr lang="en-US" sz="1800" dirty="0"/>
          </a:p>
        </p:txBody>
      </p:sp>
      <p:sp>
        <p:nvSpPr>
          <p:cNvPr id="15" name="Text 13"/>
          <p:cNvSpPr/>
          <p:nvPr/>
        </p:nvSpPr>
        <p:spPr>
          <a:xfrm>
            <a:off x="7726680" y="2350008"/>
            <a:ext cx="3520440" cy="914400"/>
          </a:xfrm>
          <a:prstGeom prst="rect">
            <a:avLst/>
          </a:prstGeom>
          <a:noFill/>
          <a:ln/>
        </p:spPr>
        <p:txBody>
          <a:bodyPr wrap="square" rtlCol="0" anchor="ctr"/>
          <a:lstStyle/>
          <a:p>
            <a:pPr marL="0" indent="0">
              <a:lnSpc>
                <a:spcPct val="104000"/>
              </a:lnSpc>
              <a:buNone/>
            </a:pPr>
            <a:r>
              <a:rPr lang="en-US" sz="1300" dirty="0">
                <a:solidFill>
                  <a:srgbClr val="64748B"/>
                </a:solidFill>
                <a:latin typeface="Calibri" pitchFamily="34" charset="0"/>
                <a:ea typeface="Calibri" pitchFamily="34" charset="-122"/>
                <a:cs typeface="Calibri" pitchFamily="34" charset="-120"/>
              </a:rPr>
              <a:t>Chấm công, nghỉ phép, tăng ca, THUẾ TNCN và BẢO HIỂM theo đúng quy định VN.</a:t>
            </a:r>
            <a:endParaRPr lang="en-US" sz="1300" dirty="0"/>
          </a:p>
        </p:txBody>
      </p:sp>
      <p:sp>
        <p:nvSpPr>
          <p:cNvPr id="16" name="Shape 14"/>
          <p:cNvSpPr/>
          <p:nvPr/>
        </p:nvSpPr>
        <p:spPr>
          <a:xfrm>
            <a:off x="640080" y="3703320"/>
            <a:ext cx="5212080" cy="1783080"/>
          </a:xfrm>
          <a:prstGeom prst="roundRect">
            <a:avLst>
              <a:gd name="adj" fmla="val 4615"/>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7" name="Shape 15"/>
          <p:cNvSpPr/>
          <p:nvPr/>
        </p:nvSpPr>
        <p:spPr>
          <a:xfrm>
            <a:off x="960120" y="4160520"/>
            <a:ext cx="868680" cy="868680"/>
          </a:xfrm>
          <a:prstGeom prst="ellipse">
            <a:avLst/>
          </a:prstGeom>
          <a:solidFill>
            <a:srgbClr val="E8F0FB"/>
          </a:solidFill>
          <a:ln/>
        </p:spPr>
        <p:txBody>
          <a:bodyPr/>
          <a:lstStyle/>
          <a:p>
            <a:endParaRPr lang="en-US"/>
          </a:p>
        </p:txBody>
      </p:sp>
      <p:sp>
        <p:nvSpPr>
          <p:cNvPr id="18" name="Text 16"/>
          <p:cNvSpPr/>
          <p:nvPr/>
        </p:nvSpPr>
        <p:spPr>
          <a:xfrm>
            <a:off x="960120" y="4160520"/>
            <a:ext cx="868680" cy="86868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9" name="Text 17"/>
          <p:cNvSpPr/>
          <p:nvPr/>
        </p:nvSpPr>
        <p:spPr>
          <a:xfrm>
            <a:off x="2057400" y="3995928"/>
            <a:ext cx="3566160" cy="457200"/>
          </a:xfrm>
          <a:prstGeom prst="rect">
            <a:avLst/>
          </a:prstGeom>
          <a:noFill/>
          <a:ln/>
        </p:spPr>
        <p:txBody>
          <a:bodyPr wrap="square" rtlCol="0" anchor="ctr"/>
          <a:lstStyle/>
          <a:p>
            <a:pPr marL="0" indent="0">
              <a:buNone/>
            </a:pPr>
            <a:r>
              <a:rPr lang="en-US" sz="1800" b="1" dirty="0">
                <a:solidFill>
                  <a:srgbClr val="124DA3"/>
                </a:solidFill>
                <a:latin typeface="Calibri" pitchFamily="34" charset="0"/>
                <a:ea typeface="Calibri" pitchFamily="34" charset="-122"/>
                <a:cs typeface="Calibri" pitchFamily="34" charset="-120"/>
              </a:rPr>
              <a:t>Ứng dụng AI</a:t>
            </a:r>
            <a:endParaRPr lang="en-US" sz="1800" dirty="0"/>
          </a:p>
        </p:txBody>
      </p:sp>
      <p:sp>
        <p:nvSpPr>
          <p:cNvPr id="20" name="Text 18"/>
          <p:cNvSpPr/>
          <p:nvPr/>
        </p:nvSpPr>
        <p:spPr>
          <a:xfrm>
            <a:off x="2057400" y="4453128"/>
            <a:ext cx="3520440" cy="914400"/>
          </a:xfrm>
          <a:prstGeom prst="rect">
            <a:avLst/>
          </a:prstGeom>
          <a:noFill/>
          <a:ln/>
        </p:spPr>
        <p:txBody>
          <a:bodyPr wrap="square" rtlCol="0" anchor="ctr"/>
          <a:lstStyle/>
          <a:p>
            <a:pPr marL="0" indent="0">
              <a:lnSpc>
                <a:spcPct val="104000"/>
              </a:lnSpc>
              <a:buNone/>
            </a:pPr>
            <a:r>
              <a:rPr lang="en-US" sz="1300" dirty="0">
                <a:solidFill>
                  <a:srgbClr val="64748B"/>
                </a:solidFill>
                <a:latin typeface="Calibri" pitchFamily="34" charset="0"/>
                <a:ea typeface="Calibri" pitchFamily="34" charset="-122"/>
                <a:cs typeface="Calibri" pitchFamily="34" charset="-120"/>
              </a:rPr>
              <a:t>AI chấm điểm hồ sơ ứng viên và làm trợ lý trả lời câu hỏi nhân sự.</a:t>
            </a:r>
            <a:endParaRPr lang="en-US" sz="1300" dirty="0"/>
          </a:p>
        </p:txBody>
      </p:sp>
      <p:sp>
        <p:nvSpPr>
          <p:cNvPr id="21" name="Shape 19"/>
          <p:cNvSpPr/>
          <p:nvPr/>
        </p:nvSpPr>
        <p:spPr>
          <a:xfrm>
            <a:off x="6309360" y="3703320"/>
            <a:ext cx="5212080" cy="1783080"/>
          </a:xfrm>
          <a:prstGeom prst="roundRect">
            <a:avLst>
              <a:gd name="adj" fmla="val 4615"/>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2" name="Shape 20"/>
          <p:cNvSpPr/>
          <p:nvPr/>
        </p:nvSpPr>
        <p:spPr>
          <a:xfrm>
            <a:off x="6629400" y="4160520"/>
            <a:ext cx="868680" cy="868680"/>
          </a:xfrm>
          <a:prstGeom prst="ellipse">
            <a:avLst/>
          </a:prstGeom>
          <a:solidFill>
            <a:srgbClr val="E8F0FB"/>
          </a:solidFill>
          <a:ln/>
        </p:spPr>
        <p:txBody>
          <a:bodyPr/>
          <a:lstStyle/>
          <a:p>
            <a:endParaRPr lang="en-US"/>
          </a:p>
        </p:txBody>
      </p:sp>
      <p:sp>
        <p:nvSpPr>
          <p:cNvPr id="23" name="Text 21"/>
          <p:cNvSpPr/>
          <p:nvPr/>
        </p:nvSpPr>
        <p:spPr>
          <a:xfrm>
            <a:off x="6629400" y="4160520"/>
            <a:ext cx="868680" cy="86868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24" name="Text 22"/>
          <p:cNvSpPr/>
          <p:nvPr/>
        </p:nvSpPr>
        <p:spPr>
          <a:xfrm>
            <a:off x="7726680" y="3995928"/>
            <a:ext cx="3566160" cy="457200"/>
          </a:xfrm>
          <a:prstGeom prst="rect">
            <a:avLst/>
          </a:prstGeom>
          <a:noFill/>
          <a:ln/>
        </p:spPr>
        <p:txBody>
          <a:bodyPr wrap="square" rtlCol="0" anchor="ctr"/>
          <a:lstStyle/>
          <a:p>
            <a:pPr marL="0" indent="0">
              <a:buNone/>
            </a:pPr>
            <a:r>
              <a:rPr lang="en-US" sz="1800" b="1" dirty="0">
                <a:solidFill>
                  <a:srgbClr val="124DA3"/>
                </a:solidFill>
                <a:latin typeface="Calibri" pitchFamily="34" charset="0"/>
                <a:ea typeface="Calibri" pitchFamily="34" charset="-122"/>
                <a:cs typeface="Calibri" pitchFamily="34" charset="-120"/>
              </a:rPr>
              <a:t>Hybrid Database</a:t>
            </a:r>
            <a:endParaRPr lang="en-US" sz="1800" dirty="0"/>
          </a:p>
        </p:txBody>
      </p:sp>
      <p:sp>
        <p:nvSpPr>
          <p:cNvPr id="25" name="Text 23"/>
          <p:cNvSpPr/>
          <p:nvPr/>
        </p:nvSpPr>
        <p:spPr>
          <a:xfrm>
            <a:off x="7726680" y="4453128"/>
            <a:ext cx="3520440" cy="914400"/>
          </a:xfrm>
          <a:prstGeom prst="rect">
            <a:avLst/>
          </a:prstGeom>
          <a:noFill/>
          <a:ln/>
        </p:spPr>
        <p:txBody>
          <a:bodyPr wrap="square" rtlCol="0" anchor="ctr"/>
          <a:lstStyle/>
          <a:p>
            <a:pPr marL="0" indent="0">
              <a:lnSpc>
                <a:spcPct val="104000"/>
              </a:lnSpc>
              <a:buNone/>
            </a:pPr>
            <a:r>
              <a:rPr lang="en-US" sz="1300" dirty="0">
                <a:solidFill>
                  <a:srgbClr val="64748B"/>
                </a:solidFill>
                <a:latin typeface="Calibri" pitchFamily="34" charset="0"/>
                <a:ea typeface="Calibri" pitchFamily="34" charset="-122"/>
                <a:cs typeface="Calibri" pitchFamily="34" charset="-120"/>
              </a:rPr>
              <a:t>Kết hợp CSDL quan hệ + dữ liệu linh hoạt (JSON) + bộ nhớ nhanh để chạy mượt.</a:t>
            </a:r>
            <a:endParaRPr lang="en-US" sz="1300" dirty="0"/>
          </a:p>
        </p:txBody>
      </p:sp>
      <p:sp>
        <p:nvSpPr>
          <p:cNvPr id="26" name="Shape 24"/>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27"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CÔNG NGHỆ SỬ DỤNG</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Những “viên gạch” xây nên hệ thống</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05</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Shape 4"/>
          <p:cNvSpPr/>
          <p:nvPr/>
        </p:nvSpPr>
        <p:spPr>
          <a:xfrm>
            <a:off x="640080" y="1554480"/>
            <a:ext cx="3429000" cy="1600200"/>
          </a:xfrm>
          <a:prstGeom prst="roundRect">
            <a:avLst>
              <a:gd name="adj" fmla="val 514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7" name="Shape 5"/>
          <p:cNvSpPr/>
          <p:nvPr/>
        </p:nvSpPr>
        <p:spPr>
          <a:xfrm>
            <a:off x="896112" y="1810512"/>
            <a:ext cx="310896" cy="310896"/>
          </a:xfrm>
          <a:prstGeom prst="ellipse">
            <a:avLst/>
          </a:prstGeom>
          <a:solidFill>
            <a:srgbClr val="4EB748"/>
          </a:solidFill>
          <a:ln/>
        </p:spPr>
        <p:txBody>
          <a:bodyPr/>
          <a:lstStyle/>
          <a:p>
            <a:endParaRPr lang="en-US"/>
          </a:p>
        </p:txBody>
      </p:sp>
      <p:sp>
        <p:nvSpPr>
          <p:cNvPr id="8" name="Text 6"/>
          <p:cNvSpPr/>
          <p:nvPr/>
        </p:nvSpPr>
        <p:spPr>
          <a:xfrm>
            <a:off x="1325880" y="1773936"/>
            <a:ext cx="2514600" cy="411480"/>
          </a:xfrm>
          <a:prstGeom prst="rect">
            <a:avLst/>
          </a:prstGeom>
          <a:noFill/>
          <a:ln/>
        </p:spPr>
        <p:txBody>
          <a:bodyPr wrap="square" rtlCol="0" anchor="ctr"/>
          <a:lstStyle/>
          <a:p>
            <a:pPr marL="0" indent="0">
              <a:buNone/>
            </a:pPr>
            <a:r>
              <a:rPr lang="en-US" sz="1700" b="1" dirty="0">
                <a:solidFill>
                  <a:srgbClr val="0F1E3D"/>
                </a:solidFill>
                <a:latin typeface="Calibri" pitchFamily="34" charset="0"/>
                <a:ea typeface="Calibri" pitchFamily="34" charset="-122"/>
                <a:cs typeface="Calibri" pitchFamily="34" charset="-120"/>
              </a:rPr>
              <a:t>Vue.js</a:t>
            </a:r>
            <a:endParaRPr lang="en-US" sz="1700" dirty="0"/>
          </a:p>
        </p:txBody>
      </p:sp>
      <p:sp>
        <p:nvSpPr>
          <p:cNvPr id="9" name="Text 7"/>
          <p:cNvSpPr/>
          <p:nvPr/>
        </p:nvSpPr>
        <p:spPr>
          <a:xfrm>
            <a:off x="914400" y="2267712"/>
            <a:ext cx="2880360" cy="320040"/>
          </a:xfrm>
          <a:prstGeom prst="rect">
            <a:avLst/>
          </a:prstGeom>
          <a:noFill/>
          <a:ln/>
        </p:spPr>
        <p:txBody>
          <a:bodyPr wrap="square" rtlCol="0" anchor="ctr"/>
          <a:lstStyle/>
          <a:p>
            <a:pPr marL="0" indent="0">
              <a:buNone/>
            </a:pPr>
            <a:r>
              <a:rPr lang="en-US" sz="1250" b="1" dirty="0">
                <a:solidFill>
                  <a:srgbClr val="4EB748"/>
                </a:solidFill>
                <a:latin typeface="Calibri" pitchFamily="34" charset="0"/>
                <a:ea typeface="Calibri" pitchFamily="34" charset="-122"/>
                <a:cs typeface="Calibri" pitchFamily="34" charset="-120"/>
              </a:rPr>
              <a:t>Giao diện</a:t>
            </a:r>
            <a:endParaRPr lang="en-US" sz="1250" dirty="0"/>
          </a:p>
        </p:txBody>
      </p:sp>
      <p:sp>
        <p:nvSpPr>
          <p:cNvPr id="10" name="Text 8"/>
          <p:cNvSpPr/>
          <p:nvPr/>
        </p:nvSpPr>
        <p:spPr>
          <a:xfrm>
            <a:off x="914400" y="2578608"/>
            <a:ext cx="2926080" cy="502920"/>
          </a:xfrm>
          <a:prstGeom prst="rect">
            <a:avLst/>
          </a:prstGeom>
          <a:noFill/>
          <a:ln/>
        </p:spPr>
        <p:txBody>
          <a:bodyPr wrap="square" rtlCol="0" anchor="ctr"/>
          <a:lstStyle/>
          <a:p>
            <a:pPr marL="0" indent="0">
              <a:lnSpc>
                <a:spcPct val="103000"/>
              </a:lnSpc>
              <a:buNone/>
            </a:pPr>
            <a:r>
              <a:rPr lang="en-US" sz="1200" dirty="0">
                <a:solidFill>
                  <a:srgbClr val="64748B"/>
                </a:solidFill>
                <a:latin typeface="Calibri" pitchFamily="34" charset="0"/>
                <a:ea typeface="Calibri" pitchFamily="34" charset="-122"/>
                <a:cs typeface="Calibri" pitchFamily="34" charset="-120"/>
              </a:rPr>
              <a:t>Phần “mặt tiền” người dùng nhìn &amp; bấm.</a:t>
            </a:r>
            <a:endParaRPr lang="en-US" sz="1200" dirty="0"/>
          </a:p>
        </p:txBody>
      </p:sp>
      <p:sp>
        <p:nvSpPr>
          <p:cNvPr id="11" name="Shape 9"/>
          <p:cNvSpPr/>
          <p:nvPr/>
        </p:nvSpPr>
        <p:spPr>
          <a:xfrm>
            <a:off x="4361688" y="1554480"/>
            <a:ext cx="3429000" cy="1600200"/>
          </a:xfrm>
          <a:prstGeom prst="roundRect">
            <a:avLst>
              <a:gd name="adj" fmla="val 514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2" name="Shape 10"/>
          <p:cNvSpPr/>
          <p:nvPr/>
        </p:nvSpPr>
        <p:spPr>
          <a:xfrm>
            <a:off x="4617720" y="1810512"/>
            <a:ext cx="310896" cy="310896"/>
          </a:xfrm>
          <a:prstGeom prst="ellipse">
            <a:avLst/>
          </a:prstGeom>
          <a:solidFill>
            <a:srgbClr val="F37022"/>
          </a:solidFill>
          <a:ln/>
        </p:spPr>
        <p:txBody>
          <a:bodyPr/>
          <a:lstStyle/>
          <a:p>
            <a:endParaRPr lang="en-US"/>
          </a:p>
        </p:txBody>
      </p:sp>
      <p:sp>
        <p:nvSpPr>
          <p:cNvPr id="13" name="Text 11"/>
          <p:cNvSpPr/>
          <p:nvPr/>
        </p:nvSpPr>
        <p:spPr>
          <a:xfrm>
            <a:off x="5047488" y="1773936"/>
            <a:ext cx="2514600" cy="411480"/>
          </a:xfrm>
          <a:prstGeom prst="rect">
            <a:avLst/>
          </a:prstGeom>
          <a:noFill/>
          <a:ln/>
        </p:spPr>
        <p:txBody>
          <a:bodyPr wrap="square" rtlCol="0" anchor="ctr"/>
          <a:lstStyle/>
          <a:p>
            <a:pPr marL="0" indent="0">
              <a:buNone/>
            </a:pPr>
            <a:r>
              <a:rPr lang="en-US" sz="1700" b="1" dirty="0">
                <a:solidFill>
                  <a:srgbClr val="0F1E3D"/>
                </a:solidFill>
                <a:latin typeface="Calibri" pitchFamily="34" charset="0"/>
                <a:ea typeface="Calibri" pitchFamily="34" charset="-122"/>
                <a:cs typeface="Calibri" pitchFamily="34" charset="-120"/>
              </a:rPr>
              <a:t>Laravel</a:t>
            </a:r>
            <a:endParaRPr lang="en-US" sz="1700" dirty="0"/>
          </a:p>
        </p:txBody>
      </p:sp>
      <p:sp>
        <p:nvSpPr>
          <p:cNvPr id="14" name="Text 12"/>
          <p:cNvSpPr/>
          <p:nvPr/>
        </p:nvSpPr>
        <p:spPr>
          <a:xfrm>
            <a:off x="4636008" y="2267712"/>
            <a:ext cx="2880360" cy="320040"/>
          </a:xfrm>
          <a:prstGeom prst="rect">
            <a:avLst/>
          </a:prstGeom>
          <a:noFill/>
          <a:ln/>
        </p:spPr>
        <p:txBody>
          <a:bodyPr wrap="square" rtlCol="0" anchor="ctr"/>
          <a:lstStyle/>
          <a:p>
            <a:pPr marL="0" indent="0">
              <a:buNone/>
            </a:pPr>
            <a:r>
              <a:rPr lang="en-US" sz="1250" b="1" dirty="0">
                <a:solidFill>
                  <a:srgbClr val="F37022"/>
                </a:solidFill>
                <a:latin typeface="Calibri" pitchFamily="34" charset="0"/>
                <a:ea typeface="Calibri" pitchFamily="34" charset="-122"/>
                <a:cs typeface="Calibri" pitchFamily="34" charset="-120"/>
              </a:rPr>
              <a:t>Bộ não xử lý</a:t>
            </a:r>
            <a:endParaRPr lang="en-US" sz="1250" dirty="0"/>
          </a:p>
        </p:txBody>
      </p:sp>
      <p:sp>
        <p:nvSpPr>
          <p:cNvPr id="15" name="Text 13"/>
          <p:cNvSpPr/>
          <p:nvPr/>
        </p:nvSpPr>
        <p:spPr>
          <a:xfrm>
            <a:off x="4636008" y="2578608"/>
            <a:ext cx="2926080" cy="502920"/>
          </a:xfrm>
          <a:prstGeom prst="rect">
            <a:avLst/>
          </a:prstGeom>
          <a:noFill/>
          <a:ln/>
        </p:spPr>
        <p:txBody>
          <a:bodyPr wrap="square" rtlCol="0" anchor="ctr"/>
          <a:lstStyle/>
          <a:p>
            <a:pPr marL="0" indent="0">
              <a:lnSpc>
                <a:spcPct val="103000"/>
              </a:lnSpc>
              <a:buNone/>
            </a:pPr>
            <a:r>
              <a:rPr lang="en-US" sz="1200" dirty="0">
                <a:solidFill>
                  <a:srgbClr val="64748B"/>
                </a:solidFill>
                <a:latin typeface="Calibri" pitchFamily="34" charset="0"/>
                <a:ea typeface="Calibri" pitchFamily="34" charset="-122"/>
                <a:cs typeface="Calibri" pitchFamily="34" charset="-120"/>
              </a:rPr>
              <a:t>Chứa mọi luật nghiệp vụ: lương, công…</a:t>
            </a:r>
            <a:endParaRPr lang="en-US" sz="1200" dirty="0"/>
          </a:p>
        </p:txBody>
      </p:sp>
      <p:sp>
        <p:nvSpPr>
          <p:cNvPr id="16" name="Shape 14"/>
          <p:cNvSpPr/>
          <p:nvPr/>
        </p:nvSpPr>
        <p:spPr>
          <a:xfrm>
            <a:off x="8083296" y="1554480"/>
            <a:ext cx="3429000" cy="1600200"/>
          </a:xfrm>
          <a:prstGeom prst="roundRect">
            <a:avLst>
              <a:gd name="adj" fmla="val 514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7" name="Shape 15"/>
          <p:cNvSpPr/>
          <p:nvPr/>
        </p:nvSpPr>
        <p:spPr>
          <a:xfrm>
            <a:off x="8339328" y="1810512"/>
            <a:ext cx="310896" cy="310896"/>
          </a:xfrm>
          <a:prstGeom prst="ellipse">
            <a:avLst/>
          </a:prstGeom>
          <a:solidFill>
            <a:srgbClr val="124DA3"/>
          </a:solidFill>
          <a:ln/>
        </p:spPr>
        <p:txBody>
          <a:bodyPr/>
          <a:lstStyle/>
          <a:p>
            <a:endParaRPr lang="en-US"/>
          </a:p>
        </p:txBody>
      </p:sp>
      <p:sp>
        <p:nvSpPr>
          <p:cNvPr id="18" name="Text 16"/>
          <p:cNvSpPr/>
          <p:nvPr/>
        </p:nvSpPr>
        <p:spPr>
          <a:xfrm>
            <a:off x="8769096" y="1773936"/>
            <a:ext cx="2514600" cy="411480"/>
          </a:xfrm>
          <a:prstGeom prst="rect">
            <a:avLst/>
          </a:prstGeom>
          <a:noFill/>
          <a:ln/>
        </p:spPr>
        <p:txBody>
          <a:bodyPr wrap="square" rtlCol="0" anchor="ctr"/>
          <a:lstStyle/>
          <a:p>
            <a:pPr marL="0" indent="0">
              <a:buNone/>
            </a:pPr>
            <a:r>
              <a:rPr lang="en-US" sz="1700" b="1" dirty="0">
                <a:solidFill>
                  <a:srgbClr val="0F1E3D"/>
                </a:solidFill>
                <a:latin typeface="Calibri" pitchFamily="34" charset="0"/>
                <a:ea typeface="Calibri" pitchFamily="34" charset="-122"/>
                <a:cs typeface="Calibri" pitchFamily="34" charset="-120"/>
              </a:rPr>
              <a:t>PostgreSQL</a:t>
            </a:r>
            <a:endParaRPr lang="en-US" sz="1700" dirty="0"/>
          </a:p>
        </p:txBody>
      </p:sp>
      <p:sp>
        <p:nvSpPr>
          <p:cNvPr id="19" name="Text 17"/>
          <p:cNvSpPr/>
          <p:nvPr/>
        </p:nvSpPr>
        <p:spPr>
          <a:xfrm>
            <a:off x="8357616" y="2267712"/>
            <a:ext cx="2880360" cy="320040"/>
          </a:xfrm>
          <a:prstGeom prst="rect">
            <a:avLst/>
          </a:prstGeom>
          <a:noFill/>
          <a:ln/>
        </p:spPr>
        <p:txBody>
          <a:bodyPr wrap="square" rtlCol="0" anchor="ctr"/>
          <a:lstStyle/>
          <a:p>
            <a:pPr marL="0" indent="0">
              <a:buNone/>
            </a:pPr>
            <a:r>
              <a:rPr lang="en-US" sz="1250" b="1" dirty="0">
                <a:solidFill>
                  <a:srgbClr val="124DA3"/>
                </a:solidFill>
                <a:latin typeface="Calibri" pitchFamily="34" charset="0"/>
                <a:ea typeface="Calibri" pitchFamily="34" charset="-122"/>
                <a:cs typeface="Calibri" pitchFamily="34" charset="-120"/>
              </a:rPr>
              <a:t>Kho dữ liệu</a:t>
            </a:r>
            <a:endParaRPr lang="en-US" sz="1250" dirty="0"/>
          </a:p>
        </p:txBody>
      </p:sp>
      <p:sp>
        <p:nvSpPr>
          <p:cNvPr id="20" name="Text 18"/>
          <p:cNvSpPr/>
          <p:nvPr/>
        </p:nvSpPr>
        <p:spPr>
          <a:xfrm>
            <a:off x="8357616" y="2578608"/>
            <a:ext cx="2926080" cy="502920"/>
          </a:xfrm>
          <a:prstGeom prst="rect">
            <a:avLst/>
          </a:prstGeom>
          <a:noFill/>
          <a:ln/>
        </p:spPr>
        <p:txBody>
          <a:bodyPr wrap="square" rtlCol="0" anchor="ctr"/>
          <a:lstStyle/>
          <a:p>
            <a:pPr marL="0" indent="0">
              <a:lnSpc>
                <a:spcPct val="103000"/>
              </a:lnSpc>
              <a:buNone/>
            </a:pPr>
            <a:r>
              <a:rPr lang="en-US" sz="1200" dirty="0">
                <a:solidFill>
                  <a:srgbClr val="64748B"/>
                </a:solidFill>
                <a:latin typeface="Calibri" pitchFamily="34" charset="0"/>
                <a:ea typeface="Calibri" pitchFamily="34" charset="-122"/>
                <a:cs typeface="Calibri" pitchFamily="34" charset="-120"/>
              </a:rPr>
              <a:t>Cất giữ toàn bộ thông tin an toàn, bền vững.</a:t>
            </a:r>
            <a:endParaRPr lang="en-US" sz="1200" dirty="0"/>
          </a:p>
        </p:txBody>
      </p:sp>
      <p:sp>
        <p:nvSpPr>
          <p:cNvPr id="21" name="Shape 19"/>
          <p:cNvSpPr/>
          <p:nvPr/>
        </p:nvSpPr>
        <p:spPr>
          <a:xfrm>
            <a:off x="640080" y="3447288"/>
            <a:ext cx="3429000" cy="1600200"/>
          </a:xfrm>
          <a:prstGeom prst="roundRect">
            <a:avLst>
              <a:gd name="adj" fmla="val 514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2" name="Shape 20"/>
          <p:cNvSpPr/>
          <p:nvPr/>
        </p:nvSpPr>
        <p:spPr>
          <a:xfrm>
            <a:off x="896112" y="3703320"/>
            <a:ext cx="310896" cy="310896"/>
          </a:xfrm>
          <a:prstGeom prst="ellipse">
            <a:avLst/>
          </a:prstGeom>
          <a:solidFill>
            <a:srgbClr val="124DA3"/>
          </a:solidFill>
          <a:ln/>
        </p:spPr>
        <p:txBody>
          <a:bodyPr/>
          <a:lstStyle/>
          <a:p>
            <a:endParaRPr lang="en-US"/>
          </a:p>
        </p:txBody>
      </p:sp>
      <p:sp>
        <p:nvSpPr>
          <p:cNvPr id="23" name="Text 21"/>
          <p:cNvSpPr/>
          <p:nvPr/>
        </p:nvSpPr>
        <p:spPr>
          <a:xfrm>
            <a:off x="1325880" y="3666744"/>
            <a:ext cx="2514600" cy="411480"/>
          </a:xfrm>
          <a:prstGeom prst="rect">
            <a:avLst/>
          </a:prstGeom>
          <a:noFill/>
          <a:ln/>
        </p:spPr>
        <p:txBody>
          <a:bodyPr wrap="square" rtlCol="0" anchor="ctr"/>
          <a:lstStyle/>
          <a:p>
            <a:pPr marL="0" indent="0">
              <a:buNone/>
            </a:pPr>
            <a:r>
              <a:rPr lang="en-US" sz="1700" b="1" dirty="0">
                <a:solidFill>
                  <a:srgbClr val="0F1E3D"/>
                </a:solidFill>
                <a:latin typeface="Calibri" pitchFamily="34" charset="0"/>
                <a:ea typeface="Calibri" pitchFamily="34" charset="-122"/>
                <a:cs typeface="Calibri" pitchFamily="34" charset="-120"/>
              </a:rPr>
              <a:t>Redis</a:t>
            </a:r>
            <a:endParaRPr lang="en-US" sz="1700" dirty="0"/>
          </a:p>
        </p:txBody>
      </p:sp>
      <p:sp>
        <p:nvSpPr>
          <p:cNvPr id="24" name="Text 22"/>
          <p:cNvSpPr/>
          <p:nvPr/>
        </p:nvSpPr>
        <p:spPr>
          <a:xfrm>
            <a:off x="914400" y="4160520"/>
            <a:ext cx="2880360" cy="320040"/>
          </a:xfrm>
          <a:prstGeom prst="rect">
            <a:avLst/>
          </a:prstGeom>
          <a:noFill/>
          <a:ln/>
        </p:spPr>
        <p:txBody>
          <a:bodyPr wrap="square" rtlCol="0" anchor="ctr"/>
          <a:lstStyle/>
          <a:p>
            <a:pPr marL="0" indent="0">
              <a:buNone/>
            </a:pPr>
            <a:r>
              <a:rPr lang="en-US" sz="1250" b="1" dirty="0">
                <a:solidFill>
                  <a:srgbClr val="124DA3"/>
                </a:solidFill>
                <a:latin typeface="Calibri" pitchFamily="34" charset="0"/>
                <a:ea typeface="Calibri" pitchFamily="34" charset="-122"/>
                <a:cs typeface="Calibri" pitchFamily="34" charset="-120"/>
              </a:rPr>
              <a:t>Trí nhớ nhanh</a:t>
            </a:r>
            <a:endParaRPr lang="en-US" sz="1250" dirty="0"/>
          </a:p>
        </p:txBody>
      </p:sp>
      <p:sp>
        <p:nvSpPr>
          <p:cNvPr id="25" name="Text 23"/>
          <p:cNvSpPr/>
          <p:nvPr/>
        </p:nvSpPr>
        <p:spPr>
          <a:xfrm>
            <a:off x="914400" y="4471416"/>
            <a:ext cx="2926080" cy="502920"/>
          </a:xfrm>
          <a:prstGeom prst="rect">
            <a:avLst/>
          </a:prstGeom>
          <a:noFill/>
          <a:ln/>
        </p:spPr>
        <p:txBody>
          <a:bodyPr wrap="square" rtlCol="0" anchor="ctr"/>
          <a:lstStyle/>
          <a:p>
            <a:pPr marL="0" indent="0">
              <a:lnSpc>
                <a:spcPct val="103000"/>
              </a:lnSpc>
              <a:buNone/>
            </a:pPr>
            <a:r>
              <a:rPr lang="en-US" sz="1200" dirty="0">
                <a:solidFill>
                  <a:srgbClr val="64748B"/>
                </a:solidFill>
                <a:latin typeface="Calibri" pitchFamily="34" charset="0"/>
                <a:ea typeface="Calibri" pitchFamily="34" charset="-122"/>
                <a:cs typeface="Calibri" pitchFamily="34" charset="-120"/>
              </a:rPr>
              <a:t>Ghi nhớ tạm để hệ thống phản hồi tức thì.</a:t>
            </a:r>
            <a:endParaRPr lang="en-US" sz="1200" dirty="0"/>
          </a:p>
        </p:txBody>
      </p:sp>
      <p:sp>
        <p:nvSpPr>
          <p:cNvPr id="26" name="Shape 24"/>
          <p:cNvSpPr/>
          <p:nvPr/>
        </p:nvSpPr>
        <p:spPr>
          <a:xfrm>
            <a:off x="4361688" y="3447288"/>
            <a:ext cx="3429000" cy="1600200"/>
          </a:xfrm>
          <a:prstGeom prst="roundRect">
            <a:avLst>
              <a:gd name="adj" fmla="val 514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7" name="Shape 25"/>
          <p:cNvSpPr/>
          <p:nvPr/>
        </p:nvSpPr>
        <p:spPr>
          <a:xfrm>
            <a:off x="4617720" y="3703320"/>
            <a:ext cx="310896" cy="310896"/>
          </a:xfrm>
          <a:prstGeom prst="ellipse">
            <a:avLst/>
          </a:prstGeom>
          <a:solidFill>
            <a:srgbClr val="64748B"/>
          </a:solidFill>
          <a:ln/>
        </p:spPr>
        <p:txBody>
          <a:bodyPr/>
          <a:lstStyle/>
          <a:p>
            <a:endParaRPr lang="en-US"/>
          </a:p>
        </p:txBody>
      </p:sp>
      <p:sp>
        <p:nvSpPr>
          <p:cNvPr id="28" name="Text 26"/>
          <p:cNvSpPr/>
          <p:nvPr/>
        </p:nvSpPr>
        <p:spPr>
          <a:xfrm>
            <a:off x="5047488" y="3666744"/>
            <a:ext cx="2514600" cy="411480"/>
          </a:xfrm>
          <a:prstGeom prst="rect">
            <a:avLst/>
          </a:prstGeom>
          <a:noFill/>
          <a:ln/>
        </p:spPr>
        <p:txBody>
          <a:bodyPr wrap="square" rtlCol="0" anchor="ctr"/>
          <a:lstStyle/>
          <a:p>
            <a:pPr marL="0" indent="0">
              <a:buNone/>
            </a:pPr>
            <a:r>
              <a:rPr lang="en-US" sz="1700" b="1" dirty="0">
                <a:solidFill>
                  <a:srgbClr val="0F1E3D"/>
                </a:solidFill>
                <a:latin typeface="Calibri" pitchFamily="34" charset="0"/>
                <a:ea typeface="Calibri" pitchFamily="34" charset="-122"/>
                <a:cs typeface="Calibri" pitchFamily="34" charset="-120"/>
              </a:rPr>
              <a:t>Docker</a:t>
            </a:r>
            <a:endParaRPr lang="en-US" sz="1700" dirty="0"/>
          </a:p>
        </p:txBody>
      </p:sp>
      <p:sp>
        <p:nvSpPr>
          <p:cNvPr id="29" name="Text 27"/>
          <p:cNvSpPr/>
          <p:nvPr/>
        </p:nvSpPr>
        <p:spPr>
          <a:xfrm>
            <a:off x="4636008" y="4160520"/>
            <a:ext cx="2880360" cy="320040"/>
          </a:xfrm>
          <a:prstGeom prst="rect">
            <a:avLst/>
          </a:prstGeom>
          <a:noFill/>
          <a:ln/>
        </p:spPr>
        <p:txBody>
          <a:bodyPr wrap="square" rtlCol="0" anchor="ctr"/>
          <a:lstStyle/>
          <a:p>
            <a:pPr marL="0" indent="0">
              <a:buNone/>
            </a:pPr>
            <a:r>
              <a:rPr lang="en-US" sz="1250" b="1" dirty="0">
                <a:solidFill>
                  <a:srgbClr val="64748B"/>
                </a:solidFill>
                <a:latin typeface="Calibri" pitchFamily="34" charset="0"/>
                <a:ea typeface="Calibri" pitchFamily="34" charset="-122"/>
                <a:cs typeface="Calibri" pitchFamily="34" charset="-120"/>
              </a:rPr>
              <a:t>Đóng thùng</a:t>
            </a:r>
            <a:endParaRPr lang="en-US" sz="1250" dirty="0"/>
          </a:p>
        </p:txBody>
      </p:sp>
      <p:sp>
        <p:nvSpPr>
          <p:cNvPr id="30" name="Text 28"/>
          <p:cNvSpPr/>
          <p:nvPr/>
        </p:nvSpPr>
        <p:spPr>
          <a:xfrm>
            <a:off x="4636008" y="4471416"/>
            <a:ext cx="2926080" cy="502920"/>
          </a:xfrm>
          <a:prstGeom prst="rect">
            <a:avLst/>
          </a:prstGeom>
          <a:noFill/>
          <a:ln/>
        </p:spPr>
        <p:txBody>
          <a:bodyPr wrap="square" rtlCol="0" anchor="ctr"/>
          <a:lstStyle/>
          <a:p>
            <a:pPr marL="0" indent="0">
              <a:lnSpc>
                <a:spcPct val="103000"/>
              </a:lnSpc>
              <a:buNone/>
            </a:pPr>
            <a:r>
              <a:rPr lang="en-US" sz="1200" dirty="0">
                <a:solidFill>
                  <a:srgbClr val="64748B"/>
                </a:solidFill>
                <a:latin typeface="Calibri" pitchFamily="34" charset="0"/>
                <a:ea typeface="Calibri" pitchFamily="34" charset="-122"/>
                <a:cs typeface="Calibri" pitchFamily="34" charset="-120"/>
              </a:rPr>
              <a:t>Gói toàn bộ để chạy giống nhau ở mọi máy.</a:t>
            </a:r>
            <a:endParaRPr lang="en-US" sz="1200" dirty="0"/>
          </a:p>
        </p:txBody>
      </p:sp>
      <p:sp>
        <p:nvSpPr>
          <p:cNvPr id="31" name="Shape 29"/>
          <p:cNvSpPr/>
          <p:nvPr/>
        </p:nvSpPr>
        <p:spPr>
          <a:xfrm>
            <a:off x="8083296" y="3447288"/>
            <a:ext cx="3429000" cy="1600200"/>
          </a:xfrm>
          <a:prstGeom prst="roundRect">
            <a:avLst>
              <a:gd name="adj" fmla="val 514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32" name="Shape 30"/>
          <p:cNvSpPr/>
          <p:nvPr/>
        </p:nvSpPr>
        <p:spPr>
          <a:xfrm>
            <a:off x="8339328" y="3703320"/>
            <a:ext cx="310896" cy="310896"/>
          </a:xfrm>
          <a:prstGeom prst="ellipse">
            <a:avLst/>
          </a:prstGeom>
          <a:solidFill>
            <a:srgbClr val="4EB748"/>
          </a:solidFill>
          <a:ln/>
        </p:spPr>
        <p:txBody>
          <a:bodyPr/>
          <a:lstStyle/>
          <a:p>
            <a:endParaRPr lang="en-US"/>
          </a:p>
        </p:txBody>
      </p:sp>
      <p:sp>
        <p:nvSpPr>
          <p:cNvPr id="33" name="Text 31"/>
          <p:cNvSpPr/>
          <p:nvPr/>
        </p:nvSpPr>
        <p:spPr>
          <a:xfrm>
            <a:off x="8769096" y="3666744"/>
            <a:ext cx="2514600" cy="411480"/>
          </a:xfrm>
          <a:prstGeom prst="rect">
            <a:avLst/>
          </a:prstGeom>
          <a:noFill/>
          <a:ln/>
        </p:spPr>
        <p:txBody>
          <a:bodyPr wrap="square" rtlCol="0" anchor="ctr"/>
          <a:lstStyle/>
          <a:p>
            <a:pPr marL="0" indent="0">
              <a:buNone/>
            </a:pPr>
            <a:r>
              <a:rPr lang="en-US" sz="1700" b="1" dirty="0">
                <a:solidFill>
                  <a:srgbClr val="0F1E3D"/>
                </a:solidFill>
                <a:latin typeface="Calibri" pitchFamily="34" charset="0"/>
                <a:ea typeface="Calibri" pitchFamily="34" charset="-122"/>
                <a:cs typeface="Calibri" pitchFamily="34" charset="-120"/>
              </a:rPr>
              <a:t>Vercel / VPS</a:t>
            </a:r>
            <a:endParaRPr lang="en-US" sz="1700" dirty="0"/>
          </a:p>
        </p:txBody>
      </p:sp>
      <p:sp>
        <p:nvSpPr>
          <p:cNvPr id="34" name="Text 32"/>
          <p:cNvSpPr/>
          <p:nvPr/>
        </p:nvSpPr>
        <p:spPr>
          <a:xfrm>
            <a:off x="8357616" y="4160520"/>
            <a:ext cx="2880360" cy="320040"/>
          </a:xfrm>
          <a:prstGeom prst="rect">
            <a:avLst/>
          </a:prstGeom>
          <a:noFill/>
          <a:ln/>
        </p:spPr>
        <p:txBody>
          <a:bodyPr wrap="square" rtlCol="0" anchor="ctr"/>
          <a:lstStyle/>
          <a:p>
            <a:pPr marL="0" indent="0">
              <a:buNone/>
            </a:pPr>
            <a:r>
              <a:rPr lang="en-US" sz="1250" b="1" dirty="0">
                <a:solidFill>
                  <a:srgbClr val="4EB748"/>
                </a:solidFill>
                <a:latin typeface="Calibri" pitchFamily="34" charset="0"/>
                <a:ea typeface="Calibri" pitchFamily="34" charset="-122"/>
                <a:cs typeface="Calibri" pitchFamily="34" charset="-120"/>
              </a:rPr>
              <a:t>Nơi vận hành</a:t>
            </a:r>
            <a:endParaRPr lang="en-US" sz="1250" dirty="0"/>
          </a:p>
        </p:txBody>
      </p:sp>
      <p:sp>
        <p:nvSpPr>
          <p:cNvPr id="35" name="Text 33"/>
          <p:cNvSpPr/>
          <p:nvPr/>
        </p:nvSpPr>
        <p:spPr>
          <a:xfrm>
            <a:off x="8357616" y="4471416"/>
            <a:ext cx="2926080" cy="502920"/>
          </a:xfrm>
          <a:prstGeom prst="rect">
            <a:avLst/>
          </a:prstGeom>
          <a:noFill/>
          <a:ln/>
        </p:spPr>
        <p:txBody>
          <a:bodyPr wrap="square" rtlCol="0" anchor="ctr"/>
          <a:lstStyle/>
          <a:p>
            <a:pPr marL="0" indent="0">
              <a:lnSpc>
                <a:spcPct val="103000"/>
              </a:lnSpc>
              <a:buNone/>
            </a:pPr>
            <a:r>
              <a:rPr lang="en-US" sz="1200" dirty="0">
                <a:solidFill>
                  <a:srgbClr val="64748B"/>
                </a:solidFill>
                <a:latin typeface="Calibri" pitchFamily="34" charset="0"/>
                <a:ea typeface="Calibri" pitchFamily="34" charset="-122"/>
                <a:cs typeface="Calibri" pitchFamily="34" charset="-120"/>
              </a:rPr>
              <a:t>Đưa hệ thống lên mạng cho mọi người dùng.</a:t>
            </a:r>
            <a:endParaRPr lang="en-US" sz="1200" dirty="0"/>
          </a:p>
        </p:txBody>
      </p:sp>
      <p:sp>
        <p:nvSpPr>
          <p:cNvPr id="36" name="Shape 34"/>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37"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KIẾN TRÚC HỆ THỐNG</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Dữ liệu đi từ người dùng đến kho lưu trữ ra sao</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Shape 4"/>
          <p:cNvSpPr/>
          <p:nvPr/>
        </p:nvSpPr>
        <p:spPr>
          <a:xfrm>
            <a:off x="777240" y="2377440"/>
            <a:ext cx="2331720" cy="1554480"/>
          </a:xfrm>
          <a:prstGeom prst="roundRect">
            <a:avLst>
              <a:gd name="adj" fmla="val 5294"/>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7" name="Text 5"/>
          <p:cNvSpPr/>
          <p:nvPr/>
        </p:nvSpPr>
        <p:spPr>
          <a:xfrm>
            <a:off x="777240" y="2542032"/>
            <a:ext cx="2331720" cy="54864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8" name="Text 6"/>
          <p:cNvSpPr/>
          <p:nvPr/>
        </p:nvSpPr>
        <p:spPr>
          <a:xfrm>
            <a:off x="868680" y="3090672"/>
            <a:ext cx="2148840" cy="365760"/>
          </a:xfrm>
          <a:prstGeom prst="rect">
            <a:avLst/>
          </a:prstGeom>
          <a:noFill/>
          <a:ln/>
        </p:spPr>
        <p:txBody>
          <a:bodyPr wrap="square" rtlCol="0" anchor="ctr"/>
          <a:lstStyle/>
          <a:p>
            <a:pPr marL="0" indent="0" algn="ctr">
              <a:buNone/>
            </a:pPr>
            <a:r>
              <a:rPr lang="en-US" sz="1500" b="1" dirty="0">
                <a:solidFill>
                  <a:srgbClr val="F37022"/>
                </a:solidFill>
                <a:latin typeface="Calibri" pitchFamily="34" charset="0"/>
                <a:ea typeface="Calibri" pitchFamily="34" charset="-122"/>
                <a:cs typeface="Calibri" pitchFamily="34" charset="-120"/>
              </a:rPr>
              <a:t>Người dùng</a:t>
            </a:r>
            <a:endParaRPr lang="en-US" sz="1500" dirty="0"/>
          </a:p>
        </p:txBody>
      </p:sp>
      <p:sp>
        <p:nvSpPr>
          <p:cNvPr id="9" name="Text 7"/>
          <p:cNvSpPr/>
          <p:nvPr/>
        </p:nvSpPr>
        <p:spPr>
          <a:xfrm>
            <a:off x="868680" y="3419856"/>
            <a:ext cx="2148840" cy="292608"/>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Nhân viên / HR / Sếp</a:t>
            </a:r>
            <a:endParaRPr lang="en-US" sz="1150" dirty="0"/>
          </a:p>
        </p:txBody>
      </p:sp>
      <p:sp>
        <p:nvSpPr>
          <p:cNvPr id="10" name="Text 8"/>
          <p:cNvSpPr/>
          <p:nvPr/>
        </p:nvSpPr>
        <p:spPr>
          <a:xfrm>
            <a:off x="868680" y="3657600"/>
            <a:ext cx="2148840" cy="274320"/>
          </a:xfrm>
          <a:prstGeom prst="rect">
            <a:avLst/>
          </a:prstGeom>
          <a:noFill/>
          <a:ln/>
        </p:spPr>
        <p:txBody>
          <a:bodyPr wrap="square"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dùng trình duyệt</a:t>
            </a:r>
            <a:endParaRPr lang="en-US" sz="1050" dirty="0"/>
          </a:p>
        </p:txBody>
      </p:sp>
      <p:sp>
        <p:nvSpPr>
          <p:cNvPr id="11" name="Shape 9"/>
          <p:cNvSpPr/>
          <p:nvPr/>
        </p:nvSpPr>
        <p:spPr>
          <a:xfrm>
            <a:off x="3182112" y="3154680"/>
            <a:ext cx="420624" cy="0"/>
          </a:xfrm>
          <a:prstGeom prst="line">
            <a:avLst/>
          </a:prstGeom>
          <a:noFill/>
          <a:ln w="44450">
            <a:solidFill>
              <a:srgbClr val="F37022"/>
            </a:solidFill>
            <a:prstDash val="solid"/>
            <a:tailEnd type="triangle"/>
          </a:ln>
        </p:spPr>
        <p:txBody>
          <a:bodyPr/>
          <a:lstStyle/>
          <a:p>
            <a:endParaRPr lang="en-US"/>
          </a:p>
        </p:txBody>
      </p:sp>
      <p:sp>
        <p:nvSpPr>
          <p:cNvPr id="12" name="Shape 10"/>
          <p:cNvSpPr/>
          <p:nvPr/>
        </p:nvSpPr>
        <p:spPr>
          <a:xfrm>
            <a:off x="3675888" y="2377440"/>
            <a:ext cx="2331720" cy="1554480"/>
          </a:xfrm>
          <a:prstGeom prst="roundRect">
            <a:avLst>
              <a:gd name="adj" fmla="val 5294"/>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3" name="Text 11"/>
          <p:cNvSpPr/>
          <p:nvPr/>
        </p:nvSpPr>
        <p:spPr>
          <a:xfrm>
            <a:off x="3675888" y="2542032"/>
            <a:ext cx="2331720" cy="54864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4" name="Text 12"/>
          <p:cNvSpPr/>
          <p:nvPr/>
        </p:nvSpPr>
        <p:spPr>
          <a:xfrm>
            <a:off x="3767328" y="3090672"/>
            <a:ext cx="2148840" cy="365760"/>
          </a:xfrm>
          <a:prstGeom prst="rect">
            <a:avLst/>
          </a:prstGeom>
          <a:noFill/>
          <a:ln/>
        </p:spPr>
        <p:txBody>
          <a:bodyPr wrap="square" rtlCol="0" anchor="ctr"/>
          <a:lstStyle/>
          <a:p>
            <a:pPr marL="0" indent="0" algn="ctr">
              <a:buNone/>
            </a:pPr>
            <a:r>
              <a:rPr lang="en-US" sz="1500" b="1" dirty="0">
                <a:solidFill>
                  <a:srgbClr val="4EB748"/>
                </a:solidFill>
                <a:latin typeface="Calibri" pitchFamily="34" charset="0"/>
                <a:ea typeface="Calibri" pitchFamily="34" charset="-122"/>
                <a:cs typeface="Calibri" pitchFamily="34" charset="-120"/>
              </a:rPr>
              <a:t>Giao diện (Vue)</a:t>
            </a:r>
            <a:endParaRPr lang="en-US" sz="1500" dirty="0"/>
          </a:p>
        </p:txBody>
      </p:sp>
      <p:sp>
        <p:nvSpPr>
          <p:cNvPr id="15" name="Text 13"/>
          <p:cNvSpPr/>
          <p:nvPr/>
        </p:nvSpPr>
        <p:spPr>
          <a:xfrm>
            <a:off x="3767328" y="3419856"/>
            <a:ext cx="2148840" cy="292608"/>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chạy trên Vercel</a:t>
            </a:r>
            <a:endParaRPr lang="en-US" sz="1150" dirty="0"/>
          </a:p>
        </p:txBody>
      </p:sp>
      <p:sp>
        <p:nvSpPr>
          <p:cNvPr id="16" name="Text 14"/>
          <p:cNvSpPr/>
          <p:nvPr/>
        </p:nvSpPr>
        <p:spPr>
          <a:xfrm>
            <a:off x="3767328" y="3657600"/>
            <a:ext cx="2148840" cy="274320"/>
          </a:xfrm>
          <a:prstGeom prst="rect">
            <a:avLst/>
          </a:prstGeom>
          <a:noFill/>
          <a:ln/>
        </p:spPr>
        <p:txBody>
          <a:bodyPr wrap="square"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hiển thị &amp; nhận thao tác</a:t>
            </a:r>
            <a:endParaRPr lang="en-US" sz="1050" dirty="0"/>
          </a:p>
        </p:txBody>
      </p:sp>
      <p:sp>
        <p:nvSpPr>
          <p:cNvPr id="17" name="Shape 15"/>
          <p:cNvSpPr/>
          <p:nvPr/>
        </p:nvSpPr>
        <p:spPr>
          <a:xfrm>
            <a:off x="6080760" y="3154680"/>
            <a:ext cx="420624" cy="0"/>
          </a:xfrm>
          <a:prstGeom prst="line">
            <a:avLst/>
          </a:prstGeom>
          <a:noFill/>
          <a:ln w="44450">
            <a:solidFill>
              <a:srgbClr val="F37022"/>
            </a:solidFill>
            <a:prstDash val="solid"/>
            <a:tailEnd type="triangle"/>
          </a:ln>
        </p:spPr>
        <p:txBody>
          <a:bodyPr/>
          <a:lstStyle/>
          <a:p>
            <a:endParaRPr lang="en-US"/>
          </a:p>
        </p:txBody>
      </p:sp>
      <p:sp>
        <p:nvSpPr>
          <p:cNvPr id="18" name="Shape 16"/>
          <p:cNvSpPr/>
          <p:nvPr/>
        </p:nvSpPr>
        <p:spPr>
          <a:xfrm>
            <a:off x="6574536" y="2377440"/>
            <a:ext cx="2331720" cy="1554480"/>
          </a:xfrm>
          <a:prstGeom prst="roundRect">
            <a:avLst>
              <a:gd name="adj" fmla="val 5294"/>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9" name="Text 17"/>
          <p:cNvSpPr/>
          <p:nvPr/>
        </p:nvSpPr>
        <p:spPr>
          <a:xfrm>
            <a:off x="6574536" y="2542032"/>
            <a:ext cx="2331720" cy="54864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0" name="Text 18"/>
          <p:cNvSpPr/>
          <p:nvPr/>
        </p:nvSpPr>
        <p:spPr>
          <a:xfrm>
            <a:off x="6665976" y="3090672"/>
            <a:ext cx="2148840" cy="365760"/>
          </a:xfrm>
          <a:prstGeom prst="rect">
            <a:avLst/>
          </a:prstGeom>
          <a:noFill/>
          <a:ln/>
        </p:spPr>
        <p:txBody>
          <a:bodyPr wrap="square" rtlCol="0" anchor="ctr"/>
          <a:lstStyle/>
          <a:p>
            <a:pPr marL="0" indent="0" algn="ctr">
              <a:buNone/>
            </a:pPr>
            <a:r>
              <a:rPr lang="en-US" sz="1500" b="1" dirty="0">
                <a:solidFill>
                  <a:srgbClr val="124DA3"/>
                </a:solidFill>
                <a:latin typeface="Calibri" pitchFamily="34" charset="0"/>
                <a:ea typeface="Calibri" pitchFamily="34" charset="-122"/>
                <a:cs typeface="Calibri" pitchFamily="34" charset="-120"/>
              </a:rPr>
              <a:t>Máy chủ (Laravel)</a:t>
            </a:r>
            <a:endParaRPr lang="en-US" sz="1500" dirty="0"/>
          </a:p>
        </p:txBody>
      </p:sp>
      <p:sp>
        <p:nvSpPr>
          <p:cNvPr id="21" name="Text 19"/>
          <p:cNvSpPr/>
          <p:nvPr/>
        </p:nvSpPr>
        <p:spPr>
          <a:xfrm>
            <a:off x="6665976" y="3419856"/>
            <a:ext cx="2148840" cy="292608"/>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chạy trên VPS</a:t>
            </a:r>
            <a:endParaRPr lang="en-US" sz="1150" dirty="0"/>
          </a:p>
        </p:txBody>
      </p:sp>
      <p:sp>
        <p:nvSpPr>
          <p:cNvPr id="22" name="Text 20"/>
          <p:cNvSpPr/>
          <p:nvPr/>
        </p:nvSpPr>
        <p:spPr>
          <a:xfrm>
            <a:off x="6665976" y="3657600"/>
            <a:ext cx="2148840" cy="274320"/>
          </a:xfrm>
          <a:prstGeom prst="rect">
            <a:avLst/>
          </a:prstGeom>
          <a:noFill/>
          <a:ln/>
        </p:spPr>
        <p:txBody>
          <a:bodyPr wrap="square"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xử lý mọi luật nghiệp vụ</a:t>
            </a:r>
            <a:endParaRPr lang="en-US" sz="1050" dirty="0"/>
          </a:p>
        </p:txBody>
      </p:sp>
      <p:sp>
        <p:nvSpPr>
          <p:cNvPr id="23" name="Shape 21"/>
          <p:cNvSpPr/>
          <p:nvPr/>
        </p:nvSpPr>
        <p:spPr>
          <a:xfrm>
            <a:off x="8979408" y="3154680"/>
            <a:ext cx="420624" cy="0"/>
          </a:xfrm>
          <a:prstGeom prst="line">
            <a:avLst/>
          </a:prstGeom>
          <a:noFill/>
          <a:ln w="44450">
            <a:solidFill>
              <a:srgbClr val="F37022"/>
            </a:solidFill>
            <a:prstDash val="solid"/>
            <a:tailEnd type="triangle"/>
          </a:ln>
        </p:spPr>
        <p:txBody>
          <a:bodyPr/>
          <a:lstStyle/>
          <a:p>
            <a:endParaRPr lang="en-US"/>
          </a:p>
        </p:txBody>
      </p:sp>
      <p:sp>
        <p:nvSpPr>
          <p:cNvPr id="24" name="Shape 22"/>
          <p:cNvSpPr/>
          <p:nvPr/>
        </p:nvSpPr>
        <p:spPr>
          <a:xfrm>
            <a:off x="9473184" y="2377440"/>
            <a:ext cx="2331720" cy="1554480"/>
          </a:xfrm>
          <a:prstGeom prst="roundRect">
            <a:avLst>
              <a:gd name="adj" fmla="val 5294"/>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5" name="Text 23"/>
          <p:cNvSpPr/>
          <p:nvPr/>
        </p:nvSpPr>
        <p:spPr>
          <a:xfrm>
            <a:off x="9473184" y="2542032"/>
            <a:ext cx="2331720" cy="54864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6" name="Text 24"/>
          <p:cNvSpPr/>
          <p:nvPr/>
        </p:nvSpPr>
        <p:spPr>
          <a:xfrm>
            <a:off x="9564624" y="3090672"/>
            <a:ext cx="2148840" cy="365760"/>
          </a:xfrm>
          <a:prstGeom prst="rect">
            <a:avLst/>
          </a:prstGeom>
          <a:noFill/>
          <a:ln/>
        </p:spPr>
        <p:txBody>
          <a:bodyPr wrap="square" rtlCol="0" anchor="ctr"/>
          <a:lstStyle/>
          <a:p>
            <a:pPr marL="0" indent="0" algn="ctr">
              <a:buNone/>
            </a:pPr>
            <a:r>
              <a:rPr lang="en-US" sz="1500" b="1" dirty="0">
                <a:solidFill>
                  <a:srgbClr val="0F1E3D"/>
                </a:solidFill>
                <a:latin typeface="Calibri" pitchFamily="34" charset="0"/>
                <a:ea typeface="Calibri" pitchFamily="34" charset="-122"/>
                <a:cs typeface="Calibri" pitchFamily="34" charset="-120"/>
              </a:rPr>
              <a:t>Cơ sở dữ liệu</a:t>
            </a:r>
            <a:endParaRPr lang="en-US" sz="1500" dirty="0"/>
          </a:p>
        </p:txBody>
      </p:sp>
      <p:sp>
        <p:nvSpPr>
          <p:cNvPr id="27" name="Text 25"/>
          <p:cNvSpPr/>
          <p:nvPr/>
        </p:nvSpPr>
        <p:spPr>
          <a:xfrm>
            <a:off x="9564624" y="3419856"/>
            <a:ext cx="2148840" cy="292608"/>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PostgreSQL + Redis</a:t>
            </a:r>
            <a:endParaRPr lang="en-US" sz="1150" dirty="0"/>
          </a:p>
        </p:txBody>
      </p:sp>
      <p:sp>
        <p:nvSpPr>
          <p:cNvPr id="28" name="Text 26"/>
          <p:cNvSpPr/>
          <p:nvPr/>
        </p:nvSpPr>
        <p:spPr>
          <a:xfrm>
            <a:off x="9564624" y="3657600"/>
            <a:ext cx="2148840" cy="274320"/>
          </a:xfrm>
          <a:prstGeom prst="rect">
            <a:avLst/>
          </a:prstGeom>
          <a:noFill/>
          <a:ln/>
        </p:spPr>
        <p:txBody>
          <a:bodyPr wrap="square"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lưu trữ &amp; ghi nhớ nhanh</a:t>
            </a:r>
            <a:endParaRPr lang="en-US" sz="1050" dirty="0"/>
          </a:p>
        </p:txBody>
      </p:sp>
      <p:sp>
        <p:nvSpPr>
          <p:cNvPr id="29" name="Text 27"/>
          <p:cNvSpPr/>
          <p:nvPr/>
        </p:nvSpPr>
        <p:spPr>
          <a:xfrm>
            <a:off x="777240" y="1874520"/>
            <a:ext cx="10515600" cy="320040"/>
          </a:xfrm>
          <a:prstGeom prst="rect">
            <a:avLst/>
          </a:prstGeom>
          <a:noFill/>
          <a:ln/>
        </p:spPr>
        <p:txBody>
          <a:bodyPr wrap="square" rtlCol="0" anchor="ctr"/>
          <a:lstStyle/>
          <a:p>
            <a:pPr marL="0" indent="0" algn="ctr">
              <a:buNone/>
            </a:pPr>
            <a:r>
              <a:rPr lang="en-US" sz="1250" b="1" dirty="0">
                <a:solidFill>
                  <a:srgbClr val="124DA3"/>
                </a:solidFill>
                <a:latin typeface="Calibri" pitchFamily="34" charset="0"/>
                <a:ea typeface="Calibri" pitchFamily="34" charset="-122"/>
                <a:cs typeface="Calibri" pitchFamily="34" charset="-120"/>
              </a:rPr>
              <a:t>① Gửi yêu cầu  →   →   →</a:t>
            </a:r>
            <a:endParaRPr lang="en-US" sz="1250" dirty="0"/>
          </a:p>
        </p:txBody>
      </p:sp>
      <p:sp>
        <p:nvSpPr>
          <p:cNvPr id="30" name="Text 28"/>
          <p:cNvSpPr/>
          <p:nvPr/>
        </p:nvSpPr>
        <p:spPr>
          <a:xfrm>
            <a:off x="777240" y="4160520"/>
            <a:ext cx="10515600" cy="320040"/>
          </a:xfrm>
          <a:prstGeom prst="rect">
            <a:avLst/>
          </a:prstGeom>
          <a:noFill/>
          <a:ln/>
        </p:spPr>
        <p:txBody>
          <a:bodyPr wrap="square" rtlCol="0" anchor="ctr"/>
          <a:lstStyle/>
          <a:p>
            <a:pPr marL="0" indent="0" algn="ctr">
              <a:buNone/>
            </a:pPr>
            <a:r>
              <a:rPr lang="en-US" sz="1250" b="1" dirty="0">
                <a:solidFill>
                  <a:srgbClr val="4EB748"/>
                </a:solidFill>
                <a:latin typeface="Calibri" pitchFamily="34" charset="0"/>
                <a:ea typeface="Calibri" pitchFamily="34" charset="-122"/>
                <a:cs typeface="Calibri" pitchFamily="34" charset="-120"/>
              </a:rPr>
              <a:t>←  ←  ←  ② Trả kết quả (dữ liệu đã xử lý)</a:t>
            </a:r>
            <a:endParaRPr lang="en-US" sz="1250" dirty="0"/>
          </a:p>
        </p:txBody>
      </p:sp>
      <p:sp>
        <p:nvSpPr>
          <p:cNvPr id="31" name="Text 29"/>
          <p:cNvSpPr/>
          <p:nvPr/>
        </p:nvSpPr>
        <p:spPr>
          <a:xfrm>
            <a:off x="640080" y="5943600"/>
            <a:ext cx="10881360" cy="320040"/>
          </a:xfrm>
          <a:prstGeom prst="rect">
            <a:avLst/>
          </a:prstGeom>
          <a:noFill/>
          <a:ln/>
        </p:spPr>
        <p:txBody>
          <a:bodyPr wrap="square" rtlCol="0" anchor="ctr"/>
          <a:lstStyle/>
          <a:p>
            <a:pPr marL="0" indent="0" algn="ctr">
              <a:buNone/>
            </a:pPr>
            <a:r>
              <a:rPr lang="en-US" sz="1300" i="1" dirty="0">
                <a:solidFill>
                  <a:srgbClr val="64748B"/>
                </a:solidFill>
                <a:latin typeface="Calibri" pitchFamily="34" charset="0"/>
                <a:ea typeface="Calibri" pitchFamily="34" charset="-122"/>
                <a:cs typeface="Calibri" pitchFamily="34" charset="-120"/>
              </a:rPr>
              <a:t>Toàn bộ đóng gói bằng Docker để chạy đồng nhất ở mọi nơi.</a:t>
            </a:r>
            <a:endParaRPr lang="en-US" sz="1300" dirty="0"/>
          </a:p>
        </p:txBody>
      </p:sp>
      <p:sp>
        <p:nvSpPr>
          <p:cNvPr id="32" name="Shape 30"/>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33"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ĐIỂM NHẤN KIẾN TRÚC</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Hybrid Database — “kho 3 ngăn” thông minh</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07</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Text 4"/>
          <p:cNvSpPr/>
          <p:nvPr/>
        </p:nvSpPr>
        <p:spPr>
          <a:xfrm>
            <a:off x="640080" y="1417320"/>
            <a:ext cx="10881360" cy="36576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Thay vì chỉ dùng một loại kho, hệ thống kết hợp 3 cách lưu trữ, mỗi loại giỏi một việc:</a:t>
            </a:r>
            <a:endParaRPr lang="en-US" sz="1500" dirty="0"/>
          </a:p>
        </p:txBody>
      </p:sp>
      <p:sp>
        <p:nvSpPr>
          <p:cNvPr id="7" name="Shape 5"/>
          <p:cNvSpPr/>
          <p:nvPr/>
        </p:nvSpPr>
        <p:spPr>
          <a:xfrm>
            <a:off x="685800" y="2011680"/>
            <a:ext cx="3429000" cy="3291840"/>
          </a:xfrm>
          <a:prstGeom prst="roundRect">
            <a:avLst>
              <a:gd name="adj" fmla="val 250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8" name="Shape 6"/>
          <p:cNvSpPr/>
          <p:nvPr/>
        </p:nvSpPr>
        <p:spPr>
          <a:xfrm>
            <a:off x="1897380" y="2331720"/>
            <a:ext cx="1005840" cy="1005840"/>
          </a:xfrm>
          <a:prstGeom prst="ellipse">
            <a:avLst/>
          </a:prstGeom>
          <a:solidFill>
            <a:srgbClr val="F4F7FB"/>
          </a:solidFill>
          <a:ln w="25400">
            <a:solidFill>
              <a:srgbClr val="124DA3"/>
            </a:solidFill>
            <a:prstDash val="solid"/>
          </a:ln>
        </p:spPr>
        <p:txBody>
          <a:bodyPr/>
          <a:lstStyle/>
          <a:p>
            <a:endParaRPr lang="en-US"/>
          </a:p>
        </p:txBody>
      </p:sp>
      <p:sp>
        <p:nvSpPr>
          <p:cNvPr id="9" name="Text 7"/>
          <p:cNvSpPr/>
          <p:nvPr/>
        </p:nvSpPr>
        <p:spPr>
          <a:xfrm>
            <a:off x="1897380" y="2331720"/>
            <a:ext cx="1005840" cy="100584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10" name="Text 8"/>
          <p:cNvSpPr/>
          <p:nvPr/>
        </p:nvSpPr>
        <p:spPr>
          <a:xfrm>
            <a:off x="868680" y="3520440"/>
            <a:ext cx="3063240" cy="365760"/>
          </a:xfrm>
          <a:prstGeom prst="rect">
            <a:avLst/>
          </a:prstGeom>
          <a:noFill/>
          <a:ln/>
        </p:spPr>
        <p:txBody>
          <a:bodyPr wrap="square" rtlCol="0" anchor="ctr"/>
          <a:lstStyle/>
          <a:p>
            <a:pPr marL="0" indent="0" algn="ctr">
              <a:buNone/>
            </a:pPr>
            <a:r>
              <a:rPr lang="en-US" sz="1600" b="1" dirty="0">
                <a:solidFill>
                  <a:srgbClr val="124DA3"/>
                </a:solidFill>
                <a:latin typeface="Calibri" pitchFamily="34" charset="0"/>
                <a:ea typeface="Calibri" pitchFamily="34" charset="-122"/>
                <a:cs typeface="Calibri" pitchFamily="34" charset="-120"/>
              </a:rPr>
              <a:t>Dữ liệu QUAN HỆ</a:t>
            </a:r>
            <a:endParaRPr lang="en-US" sz="1600" dirty="0"/>
          </a:p>
        </p:txBody>
      </p:sp>
      <p:sp>
        <p:nvSpPr>
          <p:cNvPr id="11" name="Text 9"/>
          <p:cNvSpPr/>
          <p:nvPr/>
        </p:nvSpPr>
        <p:spPr>
          <a:xfrm>
            <a:off x="868680" y="3886200"/>
            <a:ext cx="3063240" cy="320040"/>
          </a:xfrm>
          <a:prstGeom prst="rect">
            <a:avLst/>
          </a:prstGeom>
          <a:noFill/>
          <a:ln/>
        </p:spPr>
        <p:txBody>
          <a:bodyPr wrap="square"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PostgreSQL – bảng</a:t>
            </a:r>
            <a:endParaRPr lang="en-US" sz="1200" dirty="0"/>
          </a:p>
        </p:txBody>
      </p:sp>
      <p:sp>
        <p:nvSpPr>
          <p:cNvPr id="12" name="Text 10"/>
          <p:cNvSpPr/>
          <p:nvPr/>
        </p:nvSpPr>
        <p:spPr>
          <a:xfrm>
            <a:off x="960120" y="4297680"/>
            <a:ext cx="2880360" cy="914400"/>
          </a:xfrm>
          <a:prstGeom prst="rect">
            <a:avLst/>
          </a:prstGeom>
          <a:noFill/>
          <a:ln/>
        </p:spPr>
        <p:txBody>
          <a:bodyPr wrap="square" rtlCol="0" anchor="ctr"/>
          <a:lstStyle/>
          <a:p>
            <a:pPr marL="0" indent="0" algn="ctr">
              <a:lnSpc>
                <a:spcPct val="105000"/>
              </a:lnSpc>
              <a:buNone/>
            </a:pPr>
            <a:r>
              <a:rPr lang="en-US" sz="1200" dirty="0">
                <a:solidFill>
                  <a:srgbClr val="64748B"/>
                </a:solidFill>
                <a:latin typeface="Calibri" pitchFamily="34" charset="0"/>
                <a:ea typeface="Calibri" pitchFamily="34" charset="-122"/>
                <a:cs typeface="Calibri" pitchFamily="34" charset="-120"/>
              </a:rPr>
              <a:t>Thông tin có cấu trúc cố định: nhân viên, phòng ban, hợp đồng.</a:t>
            </a:r>
            <a:endParaRPr lang="en-US" sz="1200" dirty="0"/>
          </a:p>
        </p:txBody>
      </p:sp>
      <p:sp>
        <p:nvSpPr>
          <p:cNvPr id="13" name="Shape 11"/>
          <p:cNvSpPr/>
          <p:nvPr/>
        </p:nvSpPr>
        <p:spPr>
          <a:xfrm>
            <a:off x="4416552" y="2011680"/>
            <a:ext cx="3429000" cy="3291840"/>
          </a:xfrm>
          <a:prstGeom prst="roundRect">
            <a:avLst>
              <a:gd name="adj" fmla="val 250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4" name="Shape 12"/>
          <p:cNvSpPr/>
          <p:nvPr/>
        </p:nvSpPr>
        <p:spPr>
          <a:xfrm>
            <a:off x="5628132" y="2331720"/>
            <a:ext cx="1005840" cy="1005840"/>
          </a:xfrm>
          <a:prstGeom prst="ellipse">
            <a:avLst/>
          </a:prstGeom>
          <a:solidFill>
            <a:srgbClr val="F4F7FB"/>
          </a:solidFill>
          <a:ln w="25400">
            <a:solidFill>
              <a:srgbClr val="F37022"/>
            </a:solidFill>
            <a:prstDash val="solid"/>
          </a:ln>
        </p:spPr>
        <p:txBody>
          <a:bodyPr/>
          <a:lstStyle/>
          <a:p>
            <a:endParaRPr lang="en-US"/>
          </a:p>
        </p:txBody>
      </p:sp>
      <p:sp>
        <p:nvSpPr>
          <p:cNvPr id="15" name="Text 13"/>
          <p:cNvSpPr/>
          <p:nvPr/>
        </p:nvSpPr>
        <p:spPr>
          <a:xfrm>
            <a:off x="5628132" y="2331720"/>
            <a:ext cx="1005840" cy="100584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16" name="Text 14"/>
          <p:cNvSpPr/>
          <p:nvPr/>
        </p:nvSpPr>
        <p:spPr>
          <a:xfrm>
            <a:off x="4599432" y="3520440"/>
            <a:ext cx="3063240" cy="365760"/>
          </a:xfrm>
          <a:prstGeom prst="rect">
            <a:avLst/>
          </a:prstGeom>
          <a:noFill/>
          <a:ln/>
        </p:spPr>
        <p:txBody>
          <a:bodyPr wrap="square" rtlCol="0" anchor="ctr"/>
          <a:lstStyle/>
          <a:p>
            <a:pPr marL="0" indent="0" algn="ctr">
              <a:buNone/>
            </a:pPr>
            <a:r>
              <a:rPr lang="en-US" sz="1600" b="1" dirty="0">
                <a:solidFill>
                  <a:srgbClr val="F37022"/>
                </a:solidFill>
                <a:latin typeface="Calibri" pitchFamily="34" charset="0"/>
                <a:ea typeface="Calibri" pitchFamily="34" charset="-122"/>
                <a:cs typeface="Calibri" pitchFamily="34" charset="-120"/>
              </a:rPr>
              <a:t>Dữ liệu LINH HOẠT</a:t>
            </a:r>
            <a:endParaRPr lang="en-US" sz="1600" dirty="0"/>
          </a:p>
        </p:txBody>
      </p:sp>
      <p:sp>
        <p:nvSpPr>
          <p:cNvPr id="17" name="Text 15"/>
          <p:cNvSpPr/>
          <p:nvPr/>
        </p:nvSpPr>
        <p:spPr>
          <a:xfrm>
            <a:off x="4599432" y="3886200"/>
            <a:ext cx="3063240" cy="320040"/>
          </a:xfrm>
          <a:prstGeom prst="rect">
            <a:avLst/>
          </a:prstGeom>
          <a:noFill/>
          <a:ln/>
        </p:spPr>
        <p:txBody>
          <a:bodyPr wrap="square"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Cột JSON (jsonb)</a:t>
            </a:r>
            <a:endParaRPr lang="en-US" sz="1200" dirty="0"/>
          </a:p>
        </p:txBody>
      </p:sp>
      <p:sp>
        <p:nvSpPr>
          <p:cNvPr id="18" name="Text 16"/>
          <p:cNvSpPr/>
          <p:nvPr/>
        </p:nvSpPr>
        <p:spPr>
          <a:xfrm>
            <a:off x="4690872" y="4297680"/>
            <a:ext cx="2880360" cy="914400"/>
          </a:xfrm>
          <a:prstGeom prst="rect">
            <a:avLst/>
          </a:prstGeom>
          <a:noFill/>
          <a:ln/>
        </p:spPr>
        <p:txBody>
          <a:bodyPr wrap="square" rtlCol="0" anchor="ctr"/>
          <a:lstStyle/>
          <a:p>
            <a:pPr marL="0" indent="0" algn="ctr">
              <a:lnSpc>
                <a:spcPct val="105000"/>
              </a:lnSpc>
              <a:buNone/>
            </a:pPr>
            <a:r>
              <a:rPr lang="en-US" sz="1200" dirty="0">
                <a:solidFill>
                  <a:srgbClr val="64748B"/>
                </a:solidFill>
                <a:latin typeface="Calibri" pitchFamily="34" charset="0"/>
                <a:ea typeface="Calibri" pitchFamily="34" charset="-122"/>
                <a:cs typeface="Calibri" pitchFamily="34" charset="-120"/>
              </a:rPr>
              <a:t>Thông tin mỗi công ty mỗi khác: cấu hình, chi tiết đơn, lịch sử.</a:t>
            </a:r>
            <a:endParaRPr lang="en-US" sz="1200" dirty="0"/>
          </a:p>
        </p:txBody>
      </p:sp>
      <p:sp>
        <p:nvSpPr>
          <p:cNvPr id="19" name="Shape 17"/>
          <p:cNvSpPr/>
          <p:nvPr/>
        </p:nvSpPr>
        <p:spPr>
          <a:xfrm>
            <a:off x="8147304" y="2011680"/>
            <a:ext cx="3429000" cy="3291840"/>
          </a:xfrm>
          <a:prstGeom prst="roundRect">
            <a:avLst>
              <a:gd name="adj" fmla="val 250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0" name="Shape 18"/>
          <p:cNvSpPr/>
          <p:nvPr/>
        </p:nvSpPr>
        <p:spPr>
          <a:xfrm>
            <a:off x="9358884" y="2331720"/>
            <a:ext cx="1005840" cy="1005840"/>
          </a:xfrm>
          <a:prstGeom prst="ellipse">
            <a:avLst/>
          </a:prstGeom>
          <a:solidFill>
            <a:srgbClr val="F4F7FB"/>
          </a:solidFill>
          <a:ln w="25400">
            <a:solidFill>
              <a:srgbClr val="4EB748"/>
            </a:solidFill>
            <a:prstDash val="solid"/>
          </a:ln>
        </p:spPr>
        <p:txBody>
          <a:bodyPr/>
          <a:lstStyle/>
          <a:p>
            <a:endParaRPr lang="en-US"/>
          </a:p>
        </p:txBody>
      </p:sp>
      <p:sp>
        <p:nvSpPr>
          <p:cNvPr id="21" name="Text 19"/>
          <p:cNvSpPr/>
          <p:nvPr/>
        </p:nvSpPr>
        <p:spPr>
          <a:xfrm>
            <a:off x="9358884" y="2331720"/>
            <a:ext cx="1005840" cy="100584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22" name="Text 20"/>
          <p:cNvSpPr/>
          <p:nvPr/>
        </p:nvSpPr>
        <p:spPr>
          <a:xfrm>
            <a:off x="8330184" y="3520440"/>
            <a:ext cx="3063240" cy="365760"/>
          </a:xfrm>
          <a:prstGeom prst="rect">
            <a:avLst/>
          </a:prstGeom>
          <a:noFill/>
          <a:ln/>
        </p:spPr>
        <p:txBody>
          <a:bodyPr wrap="square" rtlCol="0" anchor="ctr"/>
          <a:lstStyle/>
          <a:p>
            <a:pPr marL="0" indent="0" algn="ctr">
              <a:buNone/>
            </a:pPr>
            <a:r>
              <a:rPr lang="en-US" sz="1600" b="1" dirty="0">
                <a:solidFill>
                  <a:srgbClr val="4EB748"/>
                </a:solidFill>
                <a:latin typeface="Calibri" pitchFamily="34" charset="0"/>
                <a:ea typeface="Calibri" pitchFamily="34" charset="-122"/>
                <a:cs typeface="Calibri" pitchFamily="34" charset="-120"/>
              </a:rPr>
              <a:t>Bộ nhớ NHANH</a:t>
            </a:r>
            <a:endParaRPr lang="en-US" sz="1600" dirty="0"/>
          </a:p>
        </p:txBody>
      </p:sp>
      <p:sp>
        <p:nvSpPr>
          <p:cNvPr id="23" name="Text 21"/>
          <p:cNvSpPr/>
          <p:nvPr/>
        </p:nvSpPr>
        <p:spPr>
          <a:xfrm>
            <a:off x="8330184" y="3886200"/>
            <a:ext cx="3063240" cy="320040"/>
          </a:xfrm>
          <a:prstGeom prst="rect">
            <a:avLst/>
          </a:prstGeom>
          <a:noFill/>
          <a:ln/>
        </p:spPr>
        <p:txBody>
          <a:bodyPr wrap="square"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Redis – in-memory</a:t>
            </a:r>
            <a:endParaRPr lang="en-US" sz="1200" dirty="0"/>
          </a:p>
        </p:txBody>
      </p:sp>
      <p:sp>
        <p:nvSpPr>
          <p:cNvPr id="24" name="Text 22"/>
          <p:cNvSpPr/>
          <p:nvPr/>
        </p:nvSpPr>
        <p:spPr>
          <a:xfrm>
            <a:off x="8421624" y="4297680"/>
            <a:ext cx="2880360" cy="914400"/>
          </a:xfrm>
          <a:prstGeom prst="rect">
            <a:avLst/>
          </a:prstGeom>
          <a:noFill/>
          <a:ln/>
        </p:spPr>
        <p:txBody>
          <a:bodyPr wrap="square" rtlCol="0" anchor="ctr"/>
          <a:lstStyle/>
          <a:p>
            <a:pPr marL="0" indent="0" algn="ctr">
              <a:lnSpc>
                <a:spcPct val="105000"/>
              </a:lnSpc>
              <a:buNone/>
            </a:pPr>
            <a:r>
              <a:rPr lang="en-US" sz="1200" dirty="0">
                <a:solidFill>
                  <a:srgbClr val="64748B"/>
                </a:solidFill>
                <a:latin typeface="Calibri" pitchFamily="34" charset="0"/>
                <a:ea typeface="Calibri" pitchFamily="34" charset="-122"/>
                <a:cs typeface="Calibri" pitchFamily="34" charset="-120"/>
              </a:rPr>
              <a:t>Ghi nhớ tạm để phản hồi tức thì &amp; xếp hàng xử lý nền.</a:t>
            </a:r>
            <a:endParaRPr lang="en-US" sz="1200" dirty="0"/>
          </a:p>
        </p:txBody>
      </p:sp>
      <p:sp>
        <p:nvSpPr>
          <p:cNvPr id="25" name="Text 23"/>
          <p:cNvSpPr/>
          <p:nvPr/>
        </p:nvSpPr>
        <p:spPr>
          <a:xfrm>
            <a:off x="640080" y="5623560"/>
            <a:ext cx="10881360" cy="457200"/>
          </a:xfrm>
          <a:prstGeom prst="rect">
            <a:avLst/>
          </a:prstGeom>
          <a:noFill/>
          <a:ln/>
        </p:spPr>
        <p:txBody>
          <a:bodyPr wrap="square" rtlCol="0" anchor="ctr"/>
          <a:lstStyle/>
          <a:p>
            <a:pPr marL="0" indent="0" algn="ctr">
              <a:buNone/>
            </a:pPr>
            <a:r>
              <a:rPr lang="en-US" sz="1450" b="1" dirty="0">
                <a:solidFill>
                  <a:srgbClr val="F37022"/>
                </a:solidFill>
                <a:latin typeface="Calibri" pitchFamily="34" charset="0"/>
                <a:ea typeface="Calibri" pitchFamily="34" charset="-122"/>
                <a:cs typeface="Calibri" pitchFamily="34" charset="-120"/>
              </a:rPr>
              <a:t>➡  Nhờ vậy hệ thống vừa CHẶT CHẼ (đúng dữ liệu), vừa LINH HOẠT (mỗi công ty một kiểu), vừa NHANH.</a:t>
            </a:r>
            <a:endParaRPr lang="en-US" sz="1450" dirty="0"/>
          </a:p>
        </p:txBody>
      </p:sp>
      <p:sp>
        <p:nvSpPr>
          <p:cNvPr id="26" name="Shape 24"/>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27"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SAAS ĐA TỔ CHỨC</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Một hệ thống — nhiều công ty, dữ liệu tách biệt</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Text 4"/>
          <p:cNvSpPr/>
          <p:nvPr/>
        </p:nvSpPr>
        <p:spPr>
          <a:xfrm>
            <a:off x="640080" y="1417320"/>
            <a:ext cx="10881360" cy="36576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Giống một tòa nhà văn phòng: chung một tòa nhà, nhưng mỗi công ty có phòng riêng khóa riêng.</a:t>
            </a:r>
            <a:endParaRPr lang="en-US" sz="1500" dirty="0"/>
          </a:p>
        </p:txBody>
      </p:sp>
      <p:sp>
        <p:nvSpPr>
          <p:cNvPr id="7" name="Shape 5"/>
          <p:cNvSpPr/>
          <p:nvPr/>
        </p:nvSpPr>
        <p:spPr>
          <a:xfrm>
            <a:off x="4754880" y="2194560"/>
            <a:ext cx="2697480" cy="1051560"/>
          </a:xfrm>
          <a:prstGeom prst="roundRect">
            <a:avLst>
              <a:gd name="adj" fmla="val 7826"/>
            </a:avLst>
          </a:prstGeom>
          <a:solidFill>
            <a:srgbClr val="0F1E3D"/>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8" name="Text 6"/>
          <p:cNvSpPr/>
          <p:nvPr/>
        </p:nvSpPr>
        <p:spPr>
          <a:xfrm>
            <a:off x="4754880" y="2194560"/>
            <a:ext cx="2697480" cy="10515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HỆ THỐNG HRM</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(một bản duy nhất)</a:t>
            </a:r>
            <a:endParaRPr lang="en-US" sz="1500" dirty="0"/>
          </a:p>
        </p:txBody>
      </p:sp>
      <p:sp>
        <p:nvSpPr>
          <p:cNvPr id="9" name="Shape 7"/>
          <p:cNvSpPr/>
          <p:nvPr/>
        </p:nvSpPr>
        <p:spPr>
          <a:xfrm>
            <a:off x="960120" y="4343400"/>
            <a:ext cx="3017520" cy="1371600"/>
          </a:xfrm>
          <a:prstGeom prst="roundRect">
            <a:avLst>
              <a:gd name="adj" fmla="val 600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0" name="Text 8"/>
          <p:cNvSpPr/>
          <p:nvPr/>
        </p:nvSpPr>
        <p:spPr>
          <a:xfrm>
            <a:off x="1143000" y="4526280"/>
            <a:ext cx="2651760" cy="411480"/>
          </a:xfrm>
          <a:prstGeom prst="rect">
            <a:avLst/>
          </a:prstGeom>
          <a:noFill/>
          <a:ln/>
        </p:spPr>
        <p:txBody>
          <a:bodyPr wrap="square" rtlCol="0" anchor="ctr"/>
          <a:lstStyle/>
          <a:p>
            <a:pPr marL="0" indent="0">
              <a:buNone/>
            </a:pPr>
            <a:r>
              <a:rPr lang="en-US" sz="1600" b="1" dirty="0">
                <a:solidFill>
                  <a:srgbClr val="F37022"/>
                </a:solidFill>
                <a:latin typeface="Calibri" pitchFamily="34" charset="0"/>
                <a:ea typeface="Calibri" pitchFamily="34" charset="-122"/>
                <a:cs typeface="Calibri" pitchFamily="34" charset="-120"/>
              </a:rPr>
              <a:t>🏢 Công ty A</a:t>
            </a:r>
            <a:endParaRPr lang="en-US" sz="1600" dirty="0"/>
          </a:p>
        </p:txBody>
      </p:sp>
      <p:sp>
        <p:nvSpPr>
          <p:cNvPr id="11" name="Text 9"/>
          <p:cNvSpPr/>
          <p:nvPr/>
        </p:nvSpPr>
        <p:spPr>
          <a:xfrm>
            <a:off x="1143000" y="5001768"/>
            <a:ext cx="2651760" cy="5486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Dữ liệu riêng · gắn nhãn tenant_id</a:t>
            </a:r>
            <a:endParaRPr lang="en-US" sz="1200" dirty="0"/>
          </a:p>
        </p:txBody>
      </p:sp>
      <p:sp>
        <p:nvSpPr>
          <p:cNvPr id="12" name="Shape 10"/>
          <p:cNvSpPr/>
          <p:nvPr/>
        </p:nvSpPr>
        <p:spPr>
          <a:xfrm>
            <a:off x="2468880" y="3291840"/>
            <a:ext cx="0" cy="1033272"/>
          </a:xfrm>
          <a:prstGeom prst="line">
            <a:avLst/>
          </a:prstGeom>
          <a:noFill/>
          <a:ln w="44450">
            <a:solidFill>
              <a:srgbClr val="64748B"/>
            </a:solidFill>
            <a:prstDash val="solid"/>
            <a:tailEnd type="triangle"/>
          </a:ln>
        </p:spPr>
        <p:txBody>
          <a:bodyPr/>
          <a:lstStyle/>
          <a:p>
            <a:endParaRPr lang="en-US"/>
          </a:p>
        </p:txBody>
      </p:sp>
      <p:sp>
        <p:nvSpPr>
          <p:cNvPr id="13" name="Shape 11"/>
          <p:cNvSpPr/>
          <p:nvPr/>
        </p:nvSpPr>
        <p:spPr>
          <a:xfrm>
            <a:off x="4480560" y="4343400"/>
            <a:ext cx="3017520" cy="1371600"/>
          </a:xfrm>
          <a:prstGeom prst="roundRect">
            <a:avLst>
              <a:gd name="adj" fmla="val 600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4" name="Text 12"/>
          <p:cNvSpPr/>
          <p:nvPr/>
        </p:nvSpPr>
        <p:spPr>
          <a:xfrm>
            <a:off x="4663440" y="4526280"/>
            <a:ext cx="2651760" cy="411480"/>
          </a:xfrm>
          <a:prstGeom prst="rect">
            <a:avLst/>
          </a:prstGeom>
          <a:noFill/>
          <a:ln/>
        </p:spPr>
        <p:txBody>
          <a:bodyPr wrap="square" rtlCol="0" anchor="ctr"/>
          <a:lstStyle/>
          <a:p>
            <a:pPr marL="0" indent="0">
              <a:buNone/>
            </a:pPr>
            <a:r>
              <a:rPr lang="en-US" sz="1600" b="1" dirty="0">
                <a:solidFill>
                  <a:srgbClr val="4EB748"/>
                </a:solidFill>
                <a:latin typeface="Calibri" pitchFamily="34" charset="0"/>
                <a:ea typeface="Calibri" pitchFamily="34" charset="-122"/>
                <a:cs typeface="Calibri" pitchFamily="34" charset="-120"/>
              </a:rPr>
              <a:t>🏬 Công ty B</a:t>
            </a:r>
            <a:endParaRPr lang="en-US" sz="1600" dirty="0"/>
          </a:p>
        </p:txBody>
      </p:sp>
      <p:sp>
        <p:nvSpPr>
          <p:cNvPr id="15" name="Text 13"/>
          <p:cNvSpPr/>
          <p:nvPr/>
        </p:nvSpPr>
        <p:spPr>
          <a:xfrm>
            <a:off x="4663440" y="5001768"/>
            <a:ext cx="2651760" cy="5486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Dữ liệu riêng · gắn nhãn tenant_id</a:t>
            </a:r>
            <a:endParaRPr lang="en-US" sz="1200" dirty="0"/>
          </a:p>
        </p:txBody>
      </p:sp>
      <p:sp>
        <p:nvSpPr>
          <p:cNvPr id="16" name="Shape 14"/>
          <p:cNvSpPr/>
          <p:nvPr/>
        </p:nvSpPr>
        <p:spPr>
          <a:xfrm>
            <a:off x="5989320" y="3291840"/>
            <a:ext cx="0" cy="1033272"/>
          </a:xfrm>
          <a:prstGeom prst="line">
            <a:avLst/>
          </a:prstGeom>
          <a:noFill/>
          <a:ln w="44450">
            <a:solidFill>
              <a:srgbClr val="64748B"/>
            </a:solidFill>
            <a:prstDash val="solid"/>
            <a:tailEnd type="triangle"/>
          </a:ln>
        </p:spPr>
        <p:txBody>
          <a:bodyPr/>
          <a:lstStyle/>
          <a:p>
            <a:endParaRPr lang="en-US"/>
          </a:p>
        </p:txBody>
      </p:sp>
      <p:sp>
        <p:nvSpPr>
          <p:cNvPr id="17" name="Shape 15"/>
          <p:cNvSpPr/>
          <p:nvPr/>
        </p:nvSpPr>
        <p:spPr>
          <a:xfrm>
            <a:off x="8001000" y="4343400"/>
            <a:ext cx="3017520" cy="1371600"/>
          </a:xfrm>
          <a:prstGeom prst="roundRect">
            <a:avLst>
              <a:gd name="adj" fmla="val 600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8" name="Text 16"/>
          <p:cNvSpPr/>
          <p:nvPr/>
        </p:nvSpPr>
        <p:spPr>
          <a:xfrm>
            <a:off x="8183880" y="4526280"/>
            <a:ext cx="2651760" cy="411480"/>
          </a:xfrm>
          <a:prstGeom prst="rect">
            <a:avLst/>
          </a:prstGeom>
          <a:noFill/>
          <a:ln/>
        </p:spPr>
        <p:txBody>
          <a:bodyPr wrap="square" rtlCol="0" anchor="ctr"/>
          <a:lstStyle/>
          <a:p>
            <a:pPr marL="0" indent="0">
              <a:buNone/>
            </a:pPr>
            <a:r>
              <a:rPr lang="en-US" sz="1600" b="1" dirty="0">
                <a:solidFill>
                  <a:srgbClr val="124DA3"/>
                </a:solidFill>
                <a:latin typeface="Calibri" pitchFamily="34" charset="0"/>
                <a:ea typeface="Calibri" pitchFamily="34" charset="-122"/>
                <a:cs typeface="Calibri" pitchFamily="34" charset="-120"/>
              </a:rPr>
              <a:t>🏦 Công ty C</a:t>
            </a:r>
            <a:endParaRPr lang="en-US" sz="1600" dirty="0"/>
          </a:p>
        </p:txBody>
      </p:sp>
      <p:sp>
        <p:nvSpPr>
          <p:cNvPr id="19" name="Text 17"/>
          <p:cNvSpPr/>
          <p:nvPr/>
        </p:nvSpPr>
        <p:spPr>
          <a:xfrm>
            <a:off x="8183880" y="5001768"/>
            <a:ext cx="2651760" cy="5486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Dữ liệu riêng · gắn nhãn tenant_id</a:t>
            </a:r>
            <a:endParaRPr lang="en-US" sz="1200" dirty="0"/>
          </a:p>
        </p:txBody>
      </p:sp>
      <p:sp>
        <p:nvSpPr>
          <p:cNvPr id="20" name="Shape 18"/>
          <p:cNvSpPr/>
          <p:nvPr/>
        </p:nvSpPr>
        <p:spPr>
          <a:xfrm>
            <a:off x="9509760" y="3291840"/>
            <a:ext cx="0" cy="1033272"/>
          </a:xfrm>
          <a:prstGeom prst="line">
            <a:avLst/>
          </a:prstGeom>
          <a:noFill/>
          <a:ln w="44450">
            <a:solidFill>
              <a:srgbClr val="64748B"/>
            </a:solidFill>
            <a:prstDash val="solid"/>
            <a:tailEnd type="triangle"/>
          </a:ln>
        </p:spPr>
        <p:txBody>
          <a:bodyPr/>
          <a:lstStyle/>
          <a:p>
            <a:endParaRPr lang="en-US"/>
          </a:p>
        </p:txBody>
      </p:sp>
      <p:sp>
        <p:nvSpPr>
          <p:cNvPr id="21" name="Text 19"/>
          <p:cNvSpPr/>
          <p:nvPr/>
        </p:nvSpPr>
        <p:spPr>
          <a:xfrm>
            <a:off x="640080" y="5943600"/>
            <a:ext cx="10881360" cy="365760"/>
          </a:xfrm>
          <a:prstGeom prst="rect">
            <a:avLst/>
          </a:prstGeom>
          <a:noFill/>
          <a:ln/>
        </p:spPr>
        <p:txBody>
          <a:bodyPr wrap="square" rtlCol="0" anchor="ctr"/>
          <a:lstStyle/>
          <a:p>
            <a:pPr marL="0" indent="0" algn="ctr">
              <a:buNone/>
            </a:pPr>
            <a:r>
              <a:rPr lang="en-US" sz="1350" b="1" dirty="0">
                <a:solidFill>
                  <a:srgbClr val="124DA3"/>
                </a:solidFill>
                <a:latin typeface="Calibri" pitchFamily="34" charset="0"/>
                <a:ea typeface="Calibri" pitchFamily="34" charset="-122"/>
                <a:cs typeface="Calibri" pitchFamily="34" charset="-120"/>
              </a:rPr>
              <a:t>🔒 Mỗi dòng dữ liệu đều mang “tenant_id” → công ty này KHÔNG BAO GIỜ thấy dữ liệu công ty kia.</a:t>
            </a:r>
            <a:endParaRPr lang="en-US" sz="1350" dirty="0"/>
          </a:p>
        </p:txBody>
      </p:sp>
      <p:sp>
        <p:nvSpPr>
          <p:cNvPr id="22" name="Shape 20"/>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23"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TỔNG QUAN HỆ THỐNG</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8 nhóm chức năng chính (module)</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09</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Shape 4"/>
          <p:cNvSpPr/>
          <p:nvPr/>
        </p:nvSpPr>
        <p:spPr>
          <a:xfrm>
            <a:off x="640080" y="1554480"/>
            <a:ext cx="2606040" cy="196596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7" name="Shape 5"/>
          <p:cNvSpPr/>
          <p:nvPr/>
        </p:nvSpPr>
        <p:spPr>
          <a:xfrm>
            <a:off x="1485900" y="1810512"/>
            <a:ext cx="914400" cy="914400"/>
          </a:xfrm>
          <a:prstGeom prst="ellipse">
            <a:avLst/>
          </a:prstGeom>
          <a:solidFill>
            <a:srgbClr val="F4F7FB"/>
          </a:solidFill>
          <a:ln w="19050">
            <a:solidFill>
              <a:srgbClr val="124DA3"/>
            </a:solidFill>
            <a:prstDash val="solid"/>
          </a:ln>
        </p:spPr>
        <p:txBody>
          <a:bodyPr/>
          <a:lstStyle/>
          <a:p>
            <a:endParaRPr lang="en-US"/>
          </a:p>
        </p:txBody>
      </p:sp>
      <p:sp>
        <p:nvSpPr>
          <p:cNvPr id="8" name="Text 6"/>
          <p:cNvSpPr/>
          <p:nvPr/>
        </p:nvSpPr>
        <p:spPr>
          <a:xfrm>
            <a:off x="1485900" y="1810512"/>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9" name="Text 7"/>
          <p:cNvSpPr/>
          <p:nvPr/>
        </p:nvSpPr>
        <p:spPr>
          <a:xfrm>
            <a:off x="777240" y="2761488"/>
            <a:ext cx="2331720" cy="365760"/>
          </a:xfrm>
          <a:prstGeom prst="rect">
            <a:avLst/>
          </a:prstGeom>
          <a:noFill/>
          <a:ln/>
        </p:spPr>
        <p:txBody>
          <a:bodyPr wrap="square" rtlCol="0" anchor="ctr"/>
          <a:lstStyle/>
          <a:p>
            <a:pPr marL="0" indent="0" algn="ctr">
              <a:buNone/>
            </a:pPr>
            <a:r>
              <a:rPr lang="en-US" sz="1350" b="1" dirty="0">
                <a:solidFill>
                  <a:srgbClr val="0F1E3D"/>
                </a:solidFill>
                <a:latin typeface="Calibri" pitchFamily="34" charset="0"/>
                <a:ea typeface="Calibri" pitchFamily="34" charset="-122"/>
                <a:cs typeface="Calibri" pitchFamily="34" charset="-120"/>
              </a:rPr>
              <a:t>Nhân sự &amp; Hợp đồng</a:t>
            </a:r>
            <a:endParaRPr lang="en-US" sz="1350" dirty="0"/>
          </a:p>
        </p:txBody>
      </p:sp>
      <p:sp>
        <p:nvSpPr>
          <p:cNvPr id="10" name="Text 8"/>
          <p:cNvSpPr/>
          <p:nvPr/>
        </p:nvSpPr>
        <p:spPr>
          <a:xfrm>
            <a:off x="822960" y="3090672"/>
            <a:ext cx="2240280" cy="384048"/>
          </a:xfrm>
          <a:prstGeom prst="rect">
            <a:avLst/>
          </a:prstGeom>
          <a:noFill/>
          <a:ln/>
        </p:spPr>
        <p:txBody>
          <a:bodyPr wrap="square"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Hồ sơ, phòng ban, hợp đồng, hội nhập</a:t>
            </a:r>
            <a:endParaRPr lang="en-US" sz="1050" dirty="0"/>
          </a:p>
        </p:txBody>
      </p:sp>
      <p:sp>
        <p:nvSpPr>
          <p:cNvPr id="11" name="Shape 9"/>
          <p:cNvSpPr/>
          <p:nvPr/>
        </p:nvSpPr>
        <p:spPr>
          <a:xfrm>
            <a:off x="3465576" y="1554480"/>
            <a:ext cx="2606040" cy="196596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2" name="Shape 10"/>
          <p:cNvSpPr/>
          <p:nvPr/>
        </p:nvSpPr>
        <p:spPr>
          <a:xfrm>
            <a:off x="4311396" y="1810512"/>
            <a:ext cx="914400" cy="914400"/>
          </a:xfrm>
          <a:prstGeom prst="ellipse">
            <a:avLst/>
          </a:prstGeom>
          <a:solidFill>
            <a:srgbClr val="F4F7FB"/>
          </a:solidFill>
          <a:ln w="19050">
            <a:solidFill>
              <a:srgbClr val="F37022"/>
            </a:solidFill>
            <a:prstDash val="solid"/>
          </a:ln>
        </p:spPr>
        <p:txBody>
          <a:bodyPr/>
          <a:lstStyle/>
          <a:p>
            <a:endParaRPr lang="en-US"/>
          </a:p>
        </p:txBody>
      </p:sp>
      <p:sp>
        <p:nvSpPr>
          <p:cNvPr id="13" name="Text 11"/>
          <p:cNvSpPr/>
          <p:nvPr/>
        </p:nvSpPr>
        <p:spPr>
          <a:xfrm>
            <a:off x="4311396" y="1810512"/>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4" name="Text 12"/>
          <p:cNvSpPr/>
          <p:nvPr/>
        </p:nvSpPr>
        <p:spPr>
          <a:xfrm>
            <a:off x="3602736" y="2761488"/>
            <a:ext cx="2331720" cy="365760"/>
          </a:xfrm>
          <a:prstGeom prst="rect">
            <a:avLst/>
          </a:prstGeom>
          <a:noFill/>
          <a:ln/>
        </p:spPr>
        <p:txBody>
          <a:bodyPr wrap="square" rtlCol="0" anchor="ctr"/>
          <a:lstStyle/>
          <a:p>
            <a:pPr marL="0" indent="0" algn="ctr">
              <a:buNone/>
            </a:pPr>
            <a:r>
              <a:rPr lang="en-US" sz="1350" b="1" dirty="0">
                <a:solidFill>
                  <a:srgbClr val="0F1E3D"/>
                </a:solidFill>
                <a:latin typeface="Calibri" pitchFamily="34" charset="0"/>
                <a:ea typeface="Calibri" pitchFamily="34" charset="-122"/>
                <a:cs typeface="Calibri" pitchFamily="34" charset="-120"/>
              </a:rPr>
              <a:t>Công &amp; Lịch</a:t>
            </a:r>
            <a:endParaRPr lang="en-US" sz="1350" dirty="0"/>
          </a:p>
        </p:txBody>
      </p:sp>
      <p:sp>
        <p:nvSpPr>
          <p:cNvPr id="15" name="Text 13"/>
          <p:cNvSpPr/>
          <p:nvPr/>
        </p:nvSpPr>
        <p:spPr>
          <a:xfrm>
            <a:off x="3648456" y="3090672"/>
            <a:ext cx="2240280" cy="384048"/>
          </a:xfrm>
          <a:prstGeom prst="rect">
            <a:avLst/>
          </a:prstGeom>
          <a:noFill/>
          <a:ln/>
        </p:spPr>
        <p:txBody>
          <a:bodyPr wrap="square"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Chấm công, ca làm, nghỉ phép, tăng ca</a:t>
            </a:r>
            <a:endParaRPr lang="en-US" sz="1050" dirty="0"/>
          </a:p>
        </p:txBody>
      </p:sp>
      <p:sp>
        <p:nvSpPr>
          <p:cNvPr id="16" name="Shape 14"/>
          <p:cNvSpPr/>
          <p:nvPr/>
        </p:nvSpPr>
        <p:spPr>
          <a:xfrm>
            <a:off x="6291072" y="1554480"/>
            <a:ext cx="2606040" cy="196596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7" name="Shape 15"/>
          <p:cNvSpPr/>
          <p:nvPr/>
        </p:nvSpPr>
        <p:spPr>
          <a:xfrm>
            <a:off x="7136892" y="1810512"/>
            <a:ext cx="914400" cy="914400"/>
          </a:xfrm>
          <a:prstGeom prst="ellipse">
            <a:avLst/>
          </a:prstGeom>
          <a:solidFill>
            <a:srgbClr val="F4F7FB"/>
          </a:solidFill>
          <a:ln w="19050">
            <a:solidFill>
              <a:srgbClr val="4EB748"/>
            </a:solidFill>
            <a:prstDash val="solid"/>
          </a:ln>
        </p:spPr>
        <p:txBody>
          <a:bodyPr/>
          <a:lstStyle/>
          <a:p>
            <a:endParaRPr lang="en-US"/>
          </a:p>
        </p:txBody>
      </p:sp>
      <p:sp>
        <p:nvSpPr>
          <p:cNvPr id="18" name="Text 16"/>
          <p:cNvSpPr/>
          <p:nvPr/>
        </p:nvSpPr>
        <p:spPr>
          <a:xfrm>
            <a:off x="7136892" y="1810512"/>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9" name="Text 17"/>
          <p:cNvSpPr/>
          <p:nvPr/>
        </p:nvSpPr>
        <p:spPr>
          <a:xfrm>
            <a:off x="6428232" y="2761488"/>
            <a:ext cx="2331720" cy="365760"/>
          </a:xfrm>
          <a:prstGeom prst="rect">
            <a:avLst/>
          </a:prstGeom>
          <a:noFill/>
          <a:ln/>
        </p:spPr>
        <p:txBody>
          <a:bodyPr wrap="square" rtlCol="0" anchor="ctr"/>
          <a:lstStyle/>
          <a:p>
            <a:pPr marL="0" indent="0" algn="ctr">
              <a:buNone/>
            </a:pPr>
            <a:r>
              <a:rPr lang="en-US" sz="1350" b="1" dirty="0">
                <a:solidFill>
                  <a:srgbClr val="0F1E3D"/>
                </a:solidFill>
                <a:latin typeface="Calibri" pitchFamily="34" charset="0"/>
                <a:ea typeface="Calibri" pitchFamily="34" charset="-122"/>
                <a:cs typeface="Calibri" pitchFamily="34" charset="-120"/>
              </a:rPr>
              <a:t>Lương &amp; Báo cáo</a:t>
            </a:r>
            <a:endParaRPr lang="en-US" sz="1350" dirty="0"/>
          </a:p>
        </p:txBody>
      </p:sp>
      <p:sp>
        <p:nvSpPr>
          <p:cNvPr id="20" name="Text 18"/>
          <p:cNvSpPr/>
          <p:nvPr/>
        </p:nvSpPr>
        <p:spPr>
          <a:xfrm>
            <a:off x="6473952" y="3090672"/>
            <a:ext cx="2240280" cy="384048"/>
          </a:xfrm>
          <a:prstGeom prst="rect">
            <a:avLst/>
          </a:prstGeom>
          <a:noFill/>
          <a:ln/>
        </p:spPr>
        <p:txBody>
          <a:bodyPr wrap="square"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Tính lương, thuế, bảo hiểm, báo cáo</a:t>
            </a:r>
            <a:endParaRPr lang="en-US" sz="1050" dirty="0"/>
          </a:p>
        </p:txBody>
      </p:sp>
      <p:sp>
        <p:nvSpPr>
          <p:cNvPr id="21" name="Shape 19"/>
          <p:cNvSpPr/>
          <p:nvPr/>
        </p:nvSpPr>
        <p:spPr>
          <a:xfrm>
            <a:off x="9116568" y="1554480"/>
            <a:ext cx="2606040" cy="196596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2" name="Shape 20"/>
          <p:cNvSpPr/>
          <p:nvPr/>
        </p:nvSpPr>
        <p:spPr>
          <a:xfrm>
            <a:off x="9962388" y="1810512"/>
            <a:ext cx="914400" cy="914400"/>
          </a:xfrm>
          <a:prstGeom prst="ellipse">
            <a:avLst/>
          </a:prstGeom>
          <a:solidFill>
            <a:srgbClr val="F4F7FB"/>
          </a:solidFill>
          <a:ln w="19050">
            <a:solidFill>
              <a:srgbClr val="124DA3"/>
            </a:solidFill>
            <a:prstDash val="solid"/>
          </a:ln>
        </p:spPr>
        <p:txBody>
          <a:bodyPr/>
          <a:lstStyle/>
          <a:p>
            <a:endParaRPr lang="en-US"/>
          </a:p>
        </p:txBody>
      </p:sp>
      <p:sp>
        <p:nvSpPr>
          <p:cNvPr id="23" name="Text 21"/>
          <p:cNvSpPr/>
          <p:nvPr/>
        </p:nvSpPr>
        <p:spPr>
          <a:xfrm>
            <a:off x="9962388" y="1810512"/>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24" name="Text 22"/>
          <p:cNvSpPr/>
          <p:nvPr/>
        </p:nvSpPr>
        <p:spPr>
          <a:xfrm>
            <a:off x="9253728" y="2761488"/>
            <a:ext cx="2331720" cy="365760"/>
          </a:xfrm>
          <a:prstGeom prst="rect">
            <a:avLst/>
          </a:prstGeom>
          <a:noFill/>
          <a:ln/>
        </p:spPr>
        <p:txBody>
          <a:bodyPr wrap="square" rtlCol="0" anchor="ctr"/>
          <a:lstStyle/>
          <a:p>
            <a:pPr marL="0" indent="0" algn="ctr">
              <a:buNone/>
            </a:pPr>
            <a:r>
              <a:rPr lang="en-US" sz="1350" b="1" dirty="0">
                <a:solidFill>
                  <a:srgbClr val="0F1E3D"/>
                </a:solidFill>
                <a:latin typeface="Calibri" pitchFamily="34" charset="0"/>
                <a:ea typeface="Calibri" pitchFamily="34" charset="-122"/>
                <a:cs typeface="Calibri" pitchFamily="34" charset="-120"/>
              </a:rPr>
              <a:t>Tuyển dụng &amp; AI</a:t>
            </a:r>
            <a:endParaRPr lang="en-US" sz="1350" dirty="0"/>
          </a:p>
        </p:txBody>
      </p:sp>
      <p:sp>
        <p:nvSpPr>
          <p:cNvPr id="25" name="Text 23"/>
          <p:cNvSpPr/>
          <p:nvPr/>
        </p:nvSpPr>
        <p:spPr>
          <a:xfrm>
            <a:off x="9299448" y="3090672"/>
            <a:ext cx="2240280" cy="384048"/>
          </a:xfrm>
          <a:prstGeom prst="rect">
            <a:avLst/>
          </a:prstGeom>
          <a:noFill/>
          <a:ln/>
        </p:spPr>
        <p:txBody>
          <a:bodyPr wrap="square"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Ứng viên, phỏng vấn, AI chấm điểm</a:t>
            </a:r>
            <a:endParaRPr lang="en-US" sz="1050" dirty="0"/>
          </a:p>
        </p:txBody>
      </p:sp>
      <p:sp>
        <p:nvSpPr>
          <p:cNvPr id="26" name="Shape 24"/>
          <p:cNvSpPr/>
          <p:nvPr/>
        </p:nvSpPr>
        <p:spPr>
          <a:xfrm>
            <a:off x="640080" y="3776472"/>
            <a:ext cx="2606040" cy="196596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7" name="Shape 25"/>
          <p:cNvSpPr/>
          <p:nvPr/>
        </p:nvSpPr>
        <p:spPr>
          <a:xfrm>
            <a:off x="1485900" y="4032504"/>
            <a:ext cx="914400" cy="914400"/>
          </a:xfrm>
          <a:prstGeom prst="ellipse">
            <a:avLst/>
          </a:prstGeom>
          <a:solidFill>
            <a:srgbClr val="F4F7FB"/>
          </a:solidFill>
          <a:ln w="19050">
            <a:solidFill>
              <a:srgbClr val="F37022"/>
            </a:solidFill>
            <a:prstDash val="solid"/>
          </a:ln>
        </p:spPr>
        <p:txBody>
          <a:bodyPr/>
          <a:lstStyle/>
          <a:p>
            <a:endParaRPr lang="en-US"/>
          </a:p>
        </p:txBody>
      </p:sp>
      <p:sp>
        <p:nvSpPr>
          <p:cNvPr id="28" name="Text 26"/>
          <p:cNvSpPr/>
          <p:nvPr/>
        </p:nvSpPr>
        <p:spPr>
          <a:xfrm>
            <a:off x="1485900" y="4032504"/>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29" name="Text 27"/>
          <p:cNvSpPr/>
          <p:nvPr/>
        </p:nvSpPr>
        <p:spPr>
          <a:xfrm>
            <a:off x="777240" y="4983480"/>
            <a:ext cx="2331720" cy="365760"/>
          </a:xfrm>
          <a:prstGeom prst="rect">
            <a:avLst/>
          </a:prstGeom>
          <a:noFill/>
          <a:ln/>
        </p:spPr>
        <p:txBody>
          <a:bodyPr wrap="square" rtlCol="0" anchor="ctr"/>
          <a:lstStyle/>
          <a:p>
            <a:pPr marL="0" indent="0" algn="ctr">
              <a:buNone/>
            </a:pPr>
            <a:r>
              <a:rPr lang="en-US" sz="1350" b="1" dirty="0">
                <a:solidFill>
                  <a:srgbClr val="0F1E3D"/>
                </a:solidFill>
                <a:latin typeface="Calibri" pitchFamily="34" charset="0"/>
                <a:ea typeface="Calibri" pitchFamily="34" charset="-122"/>
                <a:cs typeface="Calibri" pitchFamily="34" charset="-120"/>
              </a:rPr>
              <a:t>Truyền thông</a:t>
            </a:r>
            <a:endParaRPr lang="en-US" sz="1350" dirty="0"/>
          </a:p>
        </p:txBody>
      </p:sp>
      <p:sp>
        <p:nvSpPr>
          <p:cNvPr id="30" name="Text 28"/>
          <p:cNvSpPr/>
          <p:nvPr/>
        </p:nvSpPr>
        <p:spPr>
          <a:xfrm>
            <a:off x="822960" y="5312664"/>
            <a:ext cx="2240280" cy="384048"/>
          </a:xfrm>
          <a:prstGeom prst="rect">
            <a:avLst/>
          </a:prstGeom>
          <a:noFill/>
          <a:ln/>
        </p:spPr>
        <p:txBody>
          <a:bodyPr wrap="square"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Tin nội bộ, chính sách công ty</a:t>
            </a:r>
            <a:endParaRPr lang="en-US" sz="1050" dirty="0"/>
          </a:p>
        </p:txBody>
      </p:sp>
      <p:sp>
        <p:nvSpPr>
          <p:cNvPr id="31" name="Shape 29"/>
          <p:cNvSpPr/>
          <p:nvPr/>
        </p:nvSpPr>
        <p:spPr>
          <a:xfrm>
            <a:off x="3465576" y="3776472"/>
            <a:ext cx="2606040" cy="196596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32" name="Shape 30"/>
          <p:cNvSpPr/>
          <p:nvPr/>
        </p:nvSpPr>
        <p:spPr>
          <a:xfrm>
            <a:off x="4311396" y="4032504"/>
            <a:ext cx="914400" cy="914400"/>
          </a:xfrm>
          <a:prstGeom prst="ellipse">
            <a:avLst/>
          </a:prstGeom>
          <a:solidFill>
            <a:srgbClr val="F4F7FB"/>
          </a:solidFill>
          <a:ln w="19050">
            <a:solidFill>
              <a:srgbClr val="4EB748"/>
            </a:solidFill>
            <a:prstDash val="solid"/>
          </a:ln>
        </p:spPr>
        <p:txBody>
          <a:bodyPr/>
          <a:lstStyle/>
          <a:p>
            <a:endParaRPr lang="en-US"/>
          </a:p>
        </p:txBody>
      </p:sp>
      <p:sp>
        <p:nvSpPr>
          <p:cNvPr id="33" name="Text 31"/>
          <p:cNvSpPr/>
          <p:nvPr/>
        </p:nvSpPr>
        <p:spPr>
          <a:xfrm>
            <a:off x="4311396" y="4032504"/>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34" name="Text 32"/>
          <p:cNvSpPr/>
          <p:nvPr/>
        </p:nvSpPr>
        <p:spPr>
          <a:xfrm>
            <a:off x="3602736" y="4983480"/>
            <a:ext cx="2331720" cy="365760"/>
          </a:xfrm>
          <a:prstGeom prst="rect">
            <a:avLst/>
          </a:prstGeom>
          <a:noFill/>
          <a:ln/>
        </p:spPr>
        <p:txBody>
          <a:bodyPr wrap="square" rtlCol="0" anchor="ctr"/>
          <a:lstStyle/>
          <a:p>
            <a:pPr marL="0" indent="0" algn="ctr">
              <a:buNone/>
            </a:pPr>
            <a:r>
              <a:rPr lang="en-US" sz="1350" b="1" dirty="0">
                <a:solidFill>
                  <a:srgbClr val="0F1E3D"/>
                </a:solidFill>
                <a:latin typeface="Calibri" pitchFamily="34" charset="0"/>
                <a:ea typeface="Calibri" pitchFamily="34" charset="-122"/>
                <a:cs typeface="Calibri" pitchFamily="34" charset="-120"/>
              </a:rPr>
              <a:t>Cấu hình &amp; Phân quyền</a:t>
            </a:r>
            <a:endParaRPr lang="en-US" sz="1350" dirty="0"/>
          </a:p>
        </p:txBody>
      </p:sp>
      <p:sp>
        <p:nvSpPr>
          <p:cNvPr id="35" name="Text 33"/>
          <p:cNvSpPr/>
          <p:nvPr/>
        </p:nvSpPr>
        <p:spPr>
          <a:xfrm>
            <a:off x="3648456" y="5312664"/>
            <a:ext cx="2240280" cy="384048"/>
          </a:xfrm>
          <a:prstGeom prst="rect">
            <a:avLst/>
          </a:prstGeom>
          <a:noFill/>
          <a:ln/>
        </p:spPr>
        <p:txBody>
          <a:bodyPr wrap="square"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Vai trò, quy tắc nghiệp vụ theo công ty</a:t>
            </a:r>
            <a:endParaRPr lang="en-US" sz="1050" dirty="0"/>
          </a:p>
        </p:txBody>
      </p:sp>
      <p:sp>
        <p:nvSpPr>
          <p:cNvPr id="36" name="Shape 34"/>
          <p:cNvSpPr/>
          <p:nvPr/>
        </p:nvSpPr>
        <p:spPr>
          <a:xfrm>
            <a:off x="6291072" y="3776472"/>
            <a:ext cx="2606040" cy="196596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37" name="Shape 35"/>
          <p:cNvSpPr/>
          <p:nvPr/>
        </p:nvSpPr>
        <p:spPr>
          <a:xfrm>
            <a:off x="7136892" y="4032504"/>
            <a:ext cx="914400" cy="914400"/>
          </a:xfrm>
          <a:prstGeom prst="ellipse">
            <a:avLst/>
          </a:prstGeom>
          <a:solidFill>
            <a:srgbClr val="F4F7FB"/>
          </a:solidFill>
          <a:ln w="19050">
            <a:solidFill>
              <a:srgbClr val="124DA3"/>
            </a:solidFill>
            <a:prstDash val="solid"/>
          </a:ln>
        </p:spPr>
        <p:txBody>
          <a:bodyPr/>
          <a:lstStyle/>
          <a:p>
            <a:endParaRPr lang="en-US"/>
          </a:p>
        </p:txBody>
      </p:sp>
      <p:sp>
        <p:nvSpPr>
          <p:cNvPr id="38" name="Text 36"/>
          <p:cNvSpPr/>
          <p:nvPr/>
        </p:nvSpPr>
        <p:spPr>
          <a:xfrm>
            <a:off x="7136892" y="4032504"/>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39" name="Text 37"/>
          <p:cNvSpPr/>
          <p:nvPr/>
        </p:nvSpPr>
        <p:spPr>
          <a:xfrm>
            <a:off x="6428232" y="4983480"/>
            <a:ext cx="2331720" cy="365760"/>
          </a:xfrm>
          <a:prstGeom prst="rect">
            <a:avLst/>
          </a:prstGeom>
          <a:noFill/>
          <a:ln/>
        </p:spPr>
        <p:txBody>
          <a:bodyPr wrap="square" rtlCol="0" anchor="ctr"/>
          <a:lstStyle/>
          <a:p>
            <a:pPr marL="0" indent="0" algn="ctr">
              <a:buNone/>
            </a:pPr>
            <a:r>
              <a:rPr lang="en-US" sz="1350" b="1" dirty="0">
                <a:solidFill>
                  <a:srgbClr val="0F1E3D"/>
                </a:solidFill>
                <a:latin typeface="Calibri" pitchFamily="34" charset="0"/>
                <a:ea typeface="Calibri" pitchFamily="34" charset="-122"/>
                <a:cs typeface="Calibri" pitchFamily="34" charset="-120"/>
              </a:rPr>
              <a:t>Cổng nhân viên</a:t>
            </a:r>
            <a:endParaRPr lang="en-US" sz="1350" dirty="0"/>
          </a:p>
        </p:txBody>
      </p:sp>
      <p:sp>
        <p:nvSpPr>
          <p:cNvPr id="40" name="Text 38"/>
          <p:cNvSpPr/>
          <p:nvPr/>
        </p:nvSpPr>
        <p:spPr>
          <a:xfrm>
            <a:off x="6473952" y="5312664"/>
            <a:ext cx="2240280" cy="384048"/>
          </a:xfrm>
          <a:prstGeom prst="rect">
            <a:avLst/>
          </a:prstGeom>
          <a:noFill/>
          <a:ln/>
        </p:spPr>
        <p:txBody>
          <a:bodyPr wrap="square"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NV tự chấm công, xin nghỉ, xem lịch</a:t>
            </a:r>
            <a:endParaRPr lang="en-US" sz="1050" dirty="0"/>
          </a:p>
        </p:txBody>
      </p:sp>
      <p:sp>
        <p:nvSpPr>
          <p:cNvPr id="41" name="Shape 39"/>
          <p:cNvSpPr/>
          <p:nvPr/>
        </p:nvSpPr>
        <p:spPr>
          <a:xfrm>
            <a:off x="9116568" y="3776472"/>
            <a:ext cx="2606040" cy="196596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42" name="Shape 40"/>
          <p:cNvSpPr/>
          <p:nvPr/>
        </p:nvSpPr>
        <p:spPr>
          <a:xfrm>
            <a:off x="9962388" y="4032504"/>
            <a:ext cx="914400" cy="914400"/>
          </a:xfrm>
          <a:prstGeom prst="ellipse">
            <a:avLst/>
          </a:prstGeom>
          <a:solidFill>
            <a:srgbClr val="F4F7FB"/>
          </a:solidFill>
          <a:ln w="19050">
            <a:solidFill>
              <a:srgbClr val="0F1E3D"/>
            </a:solidFill>
            <a:prstDash val="solid"/>
          </a:ln>
        </p:spPr>
        <p:txBody>
          <a:bodyPr/>
          <a:lstStyle/>
          <a:p>
            <a:endParaRPr lang="en-US"/>
          </a:p>
        </p:txBody>
      </p:sp>
      <p:sp>
        <p:nvSpPr>
          <p:cNvPr id="43" name="Text 41"/>
          <p:cNvSpPr/>
          <p:nvPr/>
        </p:nvSpPr>
        <p:spPr>
          <a:xfrm>
            <a:off x="9962388" y="4032504"/>
            <a:ext cx="914400" cy="91440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44" name="Text 42"/>
          <p:cNvSpPr/>
          <p:nvPr/>
        </p:nvSpPr>
        <p:spPr>
          <a:xfrm>
            <a:off x="9253728" y="4983480"/>
            <a:ext cx="2331720" cy="365760"/>
          </a:xfrm>
          <a:prstGeom prst="rect">
            <a:avLst/>
          </a:prstGeom>
          <a:noFill/>
          <a:ln/>
        </p:spPr>
        <p:txBody>
          <a:bodyPr wrap="square" rtlCol="0" anchor="ctr"/>
          <a:lstStyle/>
          <a:p>
            <a:pPr marL="0" indent="0" algn="ctr">
              <a:buNone/>
            </a:pPr>
            <a:r>
              <a:rPr lang="en-US" sz="1350" b="1" dirty="0">
                <a:solidFill>
                  <a:srgbClr val="0F1E3D"/>
                </a:solidFill>
                <a:latin typeface="Calibri" pitchFamily="34" charset="0"/>
                <a:ea typeface="Calibri" pitchFamily="34" charset="-122"/>
                <a:cs typeface="Calibri" pitchFamily="34" charset="-120"/>
              </a:rPr>
              <a:t>Quản trị Platform</a:t>
            </a:r>
            <a:endParaRPr lang="en-US" sz="1350" dirty="0"/>
          </a:p>
        </p:txBody>
      </p:sp>
      <p:sp>
        <p:nvSpPr>
          <p:cNvPr id="45" name="Text 43"/>
          <p:cNvSpPr/>
          <p:nvPr/>
        </p:nvSpPr>
        <p:spPr>
          <a:xfrm>
            <a:off x="9299448" y="5312664"/>
            <a:ext cx="2240280" cy="384048"/>
          </a:xfrm>
          <a:prstGeom prst="rect">
            <a:avLst/>
          </a:prstGeom>
          <a:noFill/>
          <a:ln/>
        </p:spPr>
        <p:txBody>
          <a:bodyPr wrap="square"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Quản lý các tổ chức (tenant)</a:t>
            </a:r>
            <a:endParaRPr lang="en-US" sz="1050" dirty="0"/>
          </a:p>
        </p:txBody>
      </p:sp>
      <p:sp>
        <p:nvSpPr>
          <p:cNvPr id="46" name="Shape 44"/>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47"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NGHIỆP VỤ 1</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Vòng đời nhân viên: từ ứng viên đến chính thức</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Shape 4"/>
          <p:cNvSpPr/>
          <p:nvPr/>
        </p:nvSpPr>
        <p:spPr>
          <a:xfrm>
            <a:off x="777240" y="2468880"/>
            <a:ext cx="1874520" cy="2103120"/>
          </a:xfrm>
          <a:prstGeom prst="roundRect">
            <a:avLst>
              <a:gd name="adj" fmla="val 439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7" name="Shape 5"/>
          <p:cNvSpPr/>
          <p:nvPr/>
        </p:nvSpPr>
        <p:spPr>
          <a:xfrm>
            <a:off x="1440180" y="2194560"/>
            <a:ext cx="548640" cy="548640"/>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8" name="Text 6"/>
          <p:cNvSpPr/>
          <p:nvPr/>
        </p:nvSpPr>
        <p:spPr>
          <a:xfrm>
            <a:off x="1440180" y="219456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777240" y="2880360"/>
            <a:ext cx="187452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868680" y="3429000"/>
            <a:ext cx="1691640" cy="365760"/>
          </a:xfrm>
          <a:prstGeom prst="rect">
            <a:avLst/>
          </a:prstGeom>
          <a:noFill/>
          <a:ln/>
        </p:spPr>
        <p:txBody>
          <a:bodyPr wrap="square" rtlCol="0" anchor="ctr"/>
          <a:lstStyle/>
          <a:p>
            <a:pPr marL="0" indent="0" algn="ctr">
              <a:buNone/>
            </a:pPr>
            <a:r>
              <a:rPr lang="en-US" sz="1400" b="1" dirty="0">
                <a:solidFill>
                  <a:srgbClr val="124DA3"/>
                </a:solidFill>
                <a:latin typeface="Calibri" pitchFamily="34" charset="0"/>
                <a:ea typeface="Calibri" pitchFamily="34" charset="-122"/>
                <a:cs typeface="Calibri" pitchFamily="34" charset="-120"/>
              </a:rPr>
              <a:t>Ứng viên</a:t>
            </a:r>
            <a:endParaRPr lang="en-US" sz="1400" dirty="0"/>
          </a:p>
        </p:txBody>
      </p:sp>
      <p:sp>
        <p:nvSpPr>
          <p:cNvPr id="11" name="Text 9"/>
          <p:cNvSpPr/>
          <p:nvPr/>
        </p:nvSpPr>
        <p:spPr>
          <a:xfrm>
            <a:off x="914400" y="3794760"/>
            <a:ext cx="1600200" cy="685800"/>
          </a:xfrm>
          <a:prstGeom prst="rect">
            <a:avLst/>
          </a:prstGeom>
          <a:noFill/>
          <a:ln/>
        </p:spPr>
        <p:txBody>
          <a:bodyPr wrap="square" rtlCol="0" anchor="ctr"/>
          <a:lstStyle/>
          <a:p>
            <a:pPr marL="0" indent="0" algn="ctr">
              <a:lnSpc>
                <a:spcPct val="103000"/>
              </a:lnSpc>
              <a:buNone/>
            </a:pPr>
            <a:r>
              <a:rPr lang="en-US" sz="1100" dirty="0">
                <a:solidFill>
                  <a:srgbClr val="64748B"/>
                </a:solidFill>
                <a:latin typeface="Calibri" pitchFamily="34" charset="0"/>
                <a:ea typeface="Calibri" pitchFamily="34" charset="-122"/>
                <a:cs typeface="Calibri" pitchFamily="34" charset="-120"/>
              </a:rPr>
              <a:t>Nộp hồ sơ, AI chấm điểm, phỏng vấn</a:t>
            </a:r>
            <a:endParaRPr lang="en-US" sz="1100" dirty="0"/>
          </a:p>
        </p:txBody>
      </p:sp>
      <p:sp>
        <p:nvSpPr>
          <p:cNvPr id="12" name="Shape 10"/>
          <p:cNvSpPr/>
          <p:nvPr/>
        </p:nvSpPr>
        <p:spPr>
          <a:xfrm>
            <a:off x="2697480" y="3520440"/>
            <a:ext cx="228600" cy="0"/>
          </a:xfrm>
          <a:prstGeom prst="line">
            <a:avLst/>
          </a:prstGeom>
          <a:noFill/>
          <a:ln w="44450">
            <a:solidFill>
              <a:srgbClr val="4EB748"/>
            </a:solidFill>
            <a:prstDash val="solid"/>
            <a:tailEnd type="triangle"/>
          </a:ln>
        </p:spPr>
        <p:txBody>
          <a:bodyPr/>
          <a:lstStyle/>
          <a:p>
            <a:endParaRPr lang="en-US"/>
          </a:p>
        </p:txBody>
      </p:sp>
      <p:sp>
        <p:nvSpPr>
          <p:cNvPr id="13" name="Shape 11"/>
          <p:cNvSpPr/>
          <p:nvPr/>
        </p:nvSpPr>
        <p:spPr>
          <a:xfrm>
            <a:off x="2971800" y="2468880"/>
            <a:ext cx="1874520" cy="2103120"/>
          </a:xfrm>
          <a:prstGeom prst="roundRect">
            <a:avLst>
              <a:gd name="adj" fmla="val 439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4" name="Shape 12"/>
          <p:cNvSpPr/>
          <p:nvPr/>
        </p:nvSpPr>
        <p:spPr>
          <a:xfrm>
            <a:off x="3634740" y="2194560"/>
            <a:ext cx="548640" cy="548640"/>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15" name="Text 13"/>
          <p:cNvSpPr/>
          <p:nvPr/>
        </p:nvSpPr>
        <p:spPr>
          <a:xfrm>
            <a:off x="3634740" y="219456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2971800" y="2880360"/>
            <a:ext cx="187452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3063240" y="3429000"/>
            <a:ext cx="1691640" cy="365760"/>
          </a:xfrm>
          <a:prstGeom prst="rect">
            <a:avLst/>
          </a:prstGeom>
          <a:noFill/>
          <a:ln/>
        </p:spPr>
        <p:txBody>
          <a:bodyPr wrap="square" rtlCol="0" anchor="ctr"/>
          <a:lstStyle/>
          <a:p>
            <a:pPr marL="0" indent="0" algn="ctr">
              <a:buNone/>
            </a:pPr>
            <a:r>
              <a:rPr lang="en-US" sz="1400" b="1" dirty="0">
                <a:solidFill>
                  <a:srgbClr val="124DA3"/>
                </a:solidFill>
                <a:latin typeface="Calibri" pitchFamily="34" charset="0"/>
                <a:ea typeface="Calibri" pitchFamily="34" charset="-122"/>
                <a:cs typeface="Calibri" pitchFamily="34" charset="-120"/>
              </a:rPr>
              <a:t>Tạo hợp đồng</a:t>
            </a:r>
            <a:endParaRPr lang="en-US" sz="1400" dirty="0"/>
          </a:p>
        </p:txBody>
      </p:sp>
      <p:sp>
        <p:nvSpPr>
          <p:cNvPr id="18" name="Text 16"/>
          <p:cNvSpPr/>
          <p:nvPr/>
        </p:nvSpPr>
        <p:spPr>
          <a:xfrm>
            <a:off x="3108960" y="3794760"/>
            <a:ext cx="1600200" cy="685800"/>
          </a:xfrm>
          <a:prstGeom prst="rect">
            <a:avLst/>
          </a:prstGeom>
          <a:noFill/>
          <a:ln/>
        </p:spPr>
        <p:txBody>
          <a:bodyPr wrap="square" rtlCol="0" anchor="ctr"/>
          <a:lstStyle/>
          <a:p>
            <a:pPr marL="0" indent="0" algn="ctr">
              <a:lnSpc>
                <a:spcPct val="103000"/>
              </a:lnSpc>
              <a:buNone/>
            </a:pPr>
            <a:r>
              <a:rPr lang="en-US" sz="1100" dirty="0">
                <a:solidFill>
                  <a:srgbClr val="64748B"/>
                </a:solidFill>
                <a:latin typeface="Calibri" pitchFamily="34" charset="0"/>
                <a:ea typeface="Calibri" pitchFamily="34" charset="-122"/>
                <a:cs typeface="Calibri" pitchFamily="34" charset="-120"/>
              </a:rPr>
              <a:t>Soạn từ mẫu, ký điện tử (e-sign)</a:t>
            </a:r>
            <a:endParaRPr lang="en-US" sz="1100" dirty="0"/>
          </a:p>
        </p:txBody>
      </p:sp>
      <p:sp>
        <p:nvSpPr>
          <p:cNvPr id="19" name="Shape 17"/>
          <p:cNvSpPr/>
          <p:nvPr/>
        </p:nvSpPr>
        <p:spPr>
          <a:xfrm>
            <a:off x="4892040" y="3520440"/>
            <a:ext cx="228600" cy="0"/>
          </a:xfrm>
          <a:prstGeom prst="line">
            <a:avLst/>
          </a:prstGeom>
          <a:noFill/>
          <a:ln w="44450">
            <a:solidFill>
              <a:srgbClr val="4EB748"/>
            </a:solidFill>
            <a:prstDash val="solid"/>
            <a:tailEnd type="triangle"/>
          </a:ln>
        </p:spPr>
        <p:txBody>
          <a:bodyPr/>
          <a:lstStyle/>
          <a:p>
            <a:endParaRPr lang="en-US"/>
          </a:p>
        </p:txBody>
      </p:sp>
      <p:sp>
        <p:nvSpPr>
          <p:cNvPr id="20" name="Shape 18"/>
          <p:cNvSpPr/>
          <p:nvPr/>
        </p:nvSpPr>
        <p:spPr>
          <a:xfrm>
            <a:off x="5166360" y="2468880"/>
            <a:ext cx="1874520" cy="2103120"/>
          </a:xfrm>
          <a:prstGeom prst="roundRect">
            <a:avLst>
              <a:gd name="adj" fmla="val 439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1" name="Shape 19"/>
          <p:cNvSpPr/>
          <p:nvPr/>
        </p:nvSpPr>
        <p:spPr>
          <a:xfrm>
            <a:off x="5829300" y="2194560"/>
            <a:ext cx="548640" cy="548640"/>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22" name="Text 20"/>
          <p:cNvSpPr/>
          <p:nvPr/>
        </p:nvSpPr>
        <p:spPr>
          <a:xfrm>
            <a:off x="5829300" y="219456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21"/>
          <p:cNvSpPr/>
          <p:nvPr/>
        </p:nvSpPr>
        <p:spPr>
          <a:xfrm>
            <a:off x="5166360" y="2880360"/>
            <a:ext cx="187452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4" name="Text 22"/>
          <p:cNvSpPr/>
          <p:nvPr/>
        </p:nvSpPr>
        <p:spPr>
          <a:xfrm>
            <a:off x="5257800" y="3429000"/>
            <a:ext cx="1691640" cy="365760"/>
          </a:xfrm>
          <a:prstGeom prst="rect">
            <a:avLst/>
          </a:prstGeom>
          <a:noFill/>
          <a:ln/>
        </p:spPr>
        <p:txBody>
          <a:bodyPr wrap="square" rtlCol="0" anchor="ctr"/>
          <a:lstStyle/>
          <a:p>
            <a:pPr marL="0" indent="0" algn="ctr">
              <a:buNone/>
            </a:pPr>
            <a:r>
              <a:rPr lang="en-US" sz="1400" b="1" dirty="0">
                <a:solidFill>
                  <a:srgbClr val="124DA3"/>
                </a:solidFill>
                <a:latin typeface="Calibri" pitchFamily="34" charset="0"/>
                <a:ea typeface="Calibri" pitchFamily="34" charset="-122"/>
                <a:cs typeface="Calibri" pitchFamily="34" charset="-120"/>
              </a:rPr>
              <a:t>Hội nhập</a:t>
            </a:r>
            <a:endParaRPr lang="en-US" sz="1400" dirty="0"/>
          </a:p>
        </p:txBody>
      </p:sp>
      <p:sp>
        <p:nvSpPr>
          <p:cNvPr id="25" name="Text 23"/>
          <p:cNvSpPr/>
          <p:nvPr/>
        </p:nvSpPr>
        <p:spPr>
          <a:xfrm>
            <a:off x="5303520" y="3794760"/>
            <a:ext cx="1600200" cy="685800"/>
          </a:xfrm>
          <a:prstGeom prst="rect">
            <a:avLst/>
          </a:prstGeom>
          <a:noFill/>
          <a:ln/>
        </p:spPr>
        <p:txBody>
          <a:bodyPr wrap="square" rtlCol="0" anchor="ctr"/>
          <a:lstStyle/>
          <a:p>
            <a:pPr marL="0" indent="0" algn="ctr">
              <a:lnSpc>
                <a:spcPct val="103000"/>
              </a:lnSpc>
              <a:buNone/>
            </a:pPr>
            <a:r>
              <a:rPr lang="en-US" sz="1100" dirty="0">
                <a:solidFill>
                  <a:srgbClr val="64748B"/>
                </a:solidFill>
                <a:latin typeface="Calibri" pitchFamily="34" charset="0"/>
                <a:ea typeface="Calibri" pitchFamily="34" charset="-122"/>
                <a:cs typeface="Calibri" pitchFamily="34" charset="-120"/>
              </a:rPr>
              <a:t>Checklist nhận việc, cấp tài khoản</a:t>
            </a:r>
            <a:endParaRPr lang="en-US" sz="1100" dirty="0"/>
          </a:p>
        </p:txBody>
      </p:sp>
      <p:sp>
        <p:nvSpPr>
          <p:cNvPr id="26" name="Shape 24"/>
          <p:cNvSpPr/>
          <p:nvPr/>
        </p:nvSpPr>
        <p:spPr>
          <a:xfrm>
            <a:off x="7086600" y="3520440"/>
            <a:ext cx="228600" cy="0"/>
          </a:xfrm>
          <a:prstGeom prst="line">
            <a:avLst/>
          </a:prstGeom>
          <a:noFill/>
          <a:ln w="44450">
            <a:solidFill>
              <a:srgbClr val="4EB748"/>
            </a:solidFill>
            <a:prstDash val="solid"/>
            <a:tailEnd type="triangle"/>
          </a:ln>
        </p:spPr>
        <p:txBody>
          <a:bodyPr/>
          <a:lstStyle/>
          <a:p>
            <a:endParaRPr lang="en-US"/>
          </a:p>
        </p:txBody>
      </p:sp>
      <p:sp>
        <p:nvSpPr>
          <p:cNvPr id="27" name="Shape 25"/>
          <p:cNvSpPr/>
          <p:nvPr/>
        </p:nvSpPr>
        <p:spPr>
          <a:xfrm>
            <a:off x="7360920" y="2468880"/>
            <a:ext cx="1874520" cy="2103120"/>
          </a:xfrm>
          <a:prstGeom prst="roundRect">
            <a:avLst>
              <a:gd name="adj" fmla="val 439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8" name="Shape 26"/>
          <p:cNvSpPr/>
          <p:nvPr/>
        </p:nvSpPr>
        <p:spPr>
          <a:xfrm>
            <a:off x="8023860" y="2194560"/>
            <a:ext cx="548640" cy="548640"/>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29" name="Text 27"/>
          <p:cNvSpPr/>
          <p:nvPr/>
        </p:nvSpPr>
        <p:spPr>
          <a:xfrm>
            <a:off x="8023860" y="219456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0" name="Text 28"/>
          <p:cNvSpPr/>
          <p:nvPr/>
        </p:nvSpPr>
        <p:spPr>
          <a:xfrm>
            <a:off x="7360920" y="2880360"/>
            <a:ext cx="187452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1" name="Text 29"/>
          <p:cNvSpPr/>
          <p:nvPr/>
        </p:nvSpPr>
        <p:spPr>
          <a:xfrm>
            <a:off x="7452360" y="3429000"/>
            <a:ext cx="1691640" cy="365760"/>
          </a:xfrm>
          <a:prstGeom prst="rect">
            <a:avLst/>
          </a:prstGeom>
          <a:noFill/>
          <a:ln/>
        </p:spPr>
        <p:txBody>
          <a:bodyPr wrap="square" rtlCol="0" anchor="ctr"/>
          <a:lstStyle/>
          <a:p>
            <a:pPr marL="0" indent="0" algn="ctr">
              <a:buNone/>
            </a:pPr>
            <a:r>
              <a:rPr lang="en-US" sz="1400" b="1" dirty="0">
                <a:solidFill>
                  <a:srgbClr val="124DA3"/>
                </a:solidFill>
                <a:latin typeface="Calibri" pitchFamily="34" charset="0"/>
                <a:ea typeface="Calibri" pitchFamily="34" charset="-122"/>
                <a:cs typeface="Calibri" pitchFamily="34" charset="-120"/>
              </a:rPr>
              <a:t>Hồ sơ 360°</a:t>
            </a:r>
            <a:endParaRPr lang="en-US" sz="1400" dirty="0"/>
          </a:p>
        </p:txBody>
      </p:sp>
      <p:sp>
        <p:nvSpPr>
          <p:cNvPr id="32" name="Text 30"/>
          <p:cNvSpPr/>
          <p:nvPr/>
        </p:nvSpPr>
        <p:spPr>
          <a:xfrm>
            <a:off x="7498080" y="3794760"/>
            <a:ext cx="1600200" cy="685800"/>
          </a:xfrm>
          <a:prstGeom prst="rect">
            <a:avLst/>
          </a:prstGeom>
          <a:noFill/>
          <a:ln/>
        </p:spPr>
        <p:txBody>
          <a:bodyPr wrap="square" rtlCol="0" anchor="ctr"/>
          <a:lstStyle/>
          <a:p>
            <a:pPr marL="0" indent="0" algn="ctr">
              <a:lnSpc>
                <a:spcPct val="103000"/>
              </a:lnSpc>
              <a:buNone/>
            </a:pPr>
            <a:r>
              <a:rPr lang="en-US" sz="1100" dirty="0">
                <a:solidFill>
                  <a:srgbClr val="64748B"/>
                </a:solidFill>
                <a:latin typeface="Calibri" pitchFamily="34" charset="0"/>
                <a:ea typeface="Calibri" pitchFamily="34" charset="-122"/>
                <a:cs typeface="Calibri" pitchFamily="34" charset="-120"/>
              </a:rPr>
              <a:t>Lương, phòng ban, người phụ thuộc</a:t>
            </a:r>
            <a:endParaRPr lang="en-US" sz="1100" dirty="0"/>
          </a:p>
        </p:txBody>
      </p:sp>
      <p:sp>
        <p:nvSpPr>
          <p:cNvPr id="33" name="Shape 31"/>
          <p:cNvSpPr/>
          <p:nvPr/>
        </p:nvSpPr>
        <p:spPr>
          <a:xfrm>
            <a:off x="9281160" y="3520440"/>
            <a:ext cx="228600" cy="0"/>
          </a:xfrm>
          <a:prstGeom prst="line">
            <a:avLst/>
          </a:prstGeom>
          <a:noFill/>
          <a:ln w="44450">
            <a:solidFill>
              <a:srgbClr val="4EB748"/>
            </a:solidFill>
            <a:prstDash val="solid"/>
            <a:tailEnd type="triangle"/>
          </a:ln>
        </p:spPr>
        <p:txBody>
          <a:bodyPr/>
          <a:lstStyle/>
          <a:p>
            <a:endParaRPr lang="en-US"/>
          </a:p>
        </p:txBody>
      </p:sp>
      <p:sp>
        <p:nvSpPr>
          <p:cNvPr id="34" name="Shape 32"/>
          <p:cNvSpPr/>
          <p:nvPr/>
        </p:nvSpPr>
        <p:spPr>
          <a:xfrm>
            <a:off x="9555480" y="2468880"/>
            <a:ext cx="1874520" cy="2103120"/>
          </a:xfrm>
          <a:prstGeom prst="roundRect">
            <a:avLst>
              <a:gd name="adj" fmla="val 439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35" name="Shape 33"/>
          <p:cNvSpPr/>
          <p:nvPr/>
        </p:nvSpPr>
        <p:spPr>
          <a:xfrm>
            <a:off x="10218420" y="2194560"/>
            <a:ext cx="548640" cy="548640"/>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36" name="Text 34"/>
          <p:cNvSpPr/>
          <p:nvPr/>
        </p:nvSpPr>
        <p:spPr>
          <a:xfrm>
            <a:off x="10218420" y="219456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7" name="Text 35"/>
          <p:cNvSpPr/>
          <p:nvPr/>
        </p:nvSpPr>
        <p:spPr>
          <a:xfrm>
            <a:off x="9555480" y="2880360"/>
            <a:ext cx="187452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8" name="Text 36"/>
          <p:cNvSpPr/>
          <p:nvPr/>
        </p:nvSpPr>
        <p:spPr>
          <a:xfrm>
            <a:off x="9646920" y="3429000"/>
            <a:ext cx="1691640" cy="365760"/>
          </a:xfrm>
          <a:prstGeom prst="rect">
            <a:avLst/>
          </a:prstGeom>
          <a:noFill/>
          <a:ln/>
        </p:spPr>
        <p:txBody>
          <a:bodyPr wrap="square" rtlCol="0" anchor="ctr"/>
          <a:lstStyle/>
          <a:p>
            <a:pPr marL="0" indent="0" algn="ctr">
              <a:buNone/>
            </a:pPr>
            <a:r>
              <a:rPr lang="en-US" sz="1400" b="1" dirty="0">
                <a:solidFill>
                  <a:srgbClr val="124DA3"/>
                </a:solidFill>
                <a:latin typeface="Calibri" pitchFamily="34" charset="0"/>
                <a:ea typeface="Calibri" pitchFamily="34" charset="-122"/>
                <a:cs typeface="Calibri" pitchFamily="34" charset="-120"/>
              </a:rPr>
              <a:t>Biến động</a:t>
            </a:r>
            <a:endParaRPr lang="en-US" sz="1400" dirty="0"/>
          </a:p>
        </p:txBody>
      </p:sp>
      <p:sp>
        <p:nvSpPr>
          <p:cNvPr id="39" name="Text 37"/>
          <p:cNvSpPr/>
          <p:nvPr/>
        </p:nvSpPr>
        <p:spPr>
          <a:xfrm>
            <a:off x="9692640" y="3794760"/>
            <a:ext cx="1600200" cy="685800"/>
          </a:xfrm>
          <a:prstGeom prst="rect">
            <a:avLst/>
          </a:prstGeom>
          <a:noFill/>
          <a:ln/>
        </p:spPr>
        <p:txBody>
          <a:bodyPr wrap="square" rtlCol="0" anchor="ctr"/>
          <a:lstStyle/>
          <a:p>
            <a:pPr marL="0" indent="0" algn="ctr">
              <a:lnSpc>
                <a:spcPct val="103000"/>
              </a:lnSpc>
              <a:buNone/>
            </a:pPr>
            <a:r>
              <a:rPr lang="en-US" sz="1100" dirty="0">
                <a:solidFill>
                  <a:srgbClr val="64748B"/>
                </a:solidFill>
                <a:latin typeface="Calibri" pitchFamily="34" charset="0"/>
                <a:ea typeface="Calibri" pitchFamily="34" charset="-122"/>
                <a:cs typeface="Calibri" pitchFamily="34" charset="-120"/>
              </a:rPr>
              <a:t>Đổi thông tin, thăng chức, nghỉ việc</a:t>
            </a:r>
            <a:endParaRPr lang="en-US" sz="1100" dirty="0"/>
          </a:p>
        </p:txBody>
      </p:sp>
      <p:sp>
        <p:nvSpPr>
          <p:cNvPr id="40" name="Text 38"/>
          <p:cNvSpPr/>
          <p:nvPr/>
        </p:nvSpPr>
        <p:spPr>
          <a:xfrm>
            <a:off x="640080" y="5806440"/>
            <a:ext cx="10881360" cy="365760"/>
          </a:xfrm>
          <a:prstGeom prst="rect">
            <a:avLst/>
          </a:prstGeom>
          <a:noFill/>
          <a:ln/>
        </p:spPr>
        <p:txBody>
          <a:bodyPr wrap="square" rtlCol="0" anchor="ctr"/>
          <a:lstStyle/>
          <a:p>
            <a:pPr marL="0" indent="0" algn="ctr">
              <a:buNone/>
            </a:pPr>
            <a:r>
              <a:rPr lang="en-US" sz="1350" i="1" dirty="0">
                <a:solidFill>
                  <a:srgbClr val="64748B"/>
                </a:solidFill>
                <a:latin typeface="Calibri" pitchFamily="34" charset="0"/>
                <a:ea typeface="Calibri" pitchFamily="34" charset="-122"/>
                <a:cs typeface="Calibri" pitchFamily="34" charset="-120"/>
              </a:rPr>
              <a:t>💡 Mọi thay đổi thông tin quan trọng đều đi qua bước DUYỆT để đảm bảo chính xác.</a:t>
            </a:r>
            <a:endParaRPr lang="en-US" sz="1350" dirty="0"/>
          </a:p>
        </p:txBody>
      </p:sp>
      <p:sp>
        <p:nvSpPr>
          <p:cNvPr id="41" name="Shape 39"/>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42"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NGHIỆP VỤ 2  ·  MODULE HOÀN THIỆN</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Công &amp; Lịch: từ máy chấm công đến bảng công tháng</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Shape 4"/>
          <p:cNvSpPr/>
          <p:nvPr/>
        </p:nvSpPr>
        <p:spPr>
          <a:xfrm>
            <a:off x="640080" y="2468880"/>
            <a:ext cx="1965960" cy="214884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7" name="Shape 5"/>
          <p:cNvSpPr/>
          <p:nvPr/>
        </p:nvSpPr>
        <p:spPr>
          <a:xfrm>
            <a:off x="1348740" y="2194560"/>
            <a:ext cx="548640" cy="548640"/>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8" name="Text 6"/>
          <p:cNvSpPr/>
          <p:nvPr/>
        </p:nvSpPr>
        <p:spPr>
          <a:xfrm>
            <a:off x="1348740" y="219456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640080" y="2852928"/>
            <a:ext cx="196596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731520" y="3401568"/>
            <a:ext cx="1783080" cy="365760"/>
          </a:xfrm>
          <a:prstGeom prst="rect">
            <a:avLst/>
          </a:prstGeom>
          <a:noFill/>
          <a:ln/>
        </p:spPr>
        <p:txBody>
          <a:bodyPr wrap="square" rtlCol="0" anchor="ctr"/>
          <a:lstStyle/>
          <a:p>
            <a:pPr marL="0" indent="0" algn="ctr">
              <a:buNone/>
            </a:pPr>
            <a:r>
              <a:rPr lang="en-US" sz="1350" b="1" dirty="0">
                <a:solidFill>
                  <a:srgbClr val="F37022"/>
                </a:solidFill>
                <a:latin typeface="Calibri" pitchFamily="34" charset="0"/>
                <a:ea typeface="Calibri" pitchFamily="34" charset="-122"/>
                <a:cs typeface="Calibri" pitchFamily="34" charset="-120"/>
              </a:rPr>
              <a:t>Chấm công</a:t>
            </a:r>
            <a:endParaRPr lang="en-US" sz="1350" dirty="0"/>
          </a:p>
        </p:txBody>
      </p:sp>
      <p:sp>
        <p:nvSpPr>
          <p:cNvPr id="11" name="Text 9"/>
          <p:cNvSpPr/>
          <p:nvPr/>
        </p:nvSpPr>
        <p:spPr>
          <a:xfrm>
            <a:off x="777240" y="3767328"/>
            <a:ext cx="1691640" cy="777240"/>
          </a:xfrm>
          <a:prstGeom prst="rect">
            <a:avLst/>
          </a:prstGeom>
          <a:noFill/>
          <a:ln/>
        </p:spPr>
        <p:txBody>
          <a:bodyPr wrap="square" rtlCol="0" anchor="ctr"/>
          <a:lstStyle/>
          <a:p>
            <a:pPr marL="0" indent="0" algn="ctr">
              <a:lnSpc>
                <a:spcPct val="103000"/>
              </a:lnSpc>
              <a:buNone/>
            </a:pPr>
            <a:r>
              <a:rPr lang="en-US" sz="1050" dirty="0">
                <a:solidFill>
                  <a:srgbClr val="64748B"/>
                </a:solidFill>
                <a:latin typeface="Calibri" pitchFamily="34" charset="0"/>
                <a:ea typeface="Calibri" pitchFamily="34" charset="-122"/>
                <a:cs typeface="Calibri" pitchFamily="34" charset="-120"/>
              </a:rPr>
              <a:t>Vân tay / khuôn mặt / thẻ trên máy chấm công</a:t>
            </a:r>
            <a:endParaRPr lang="en-US" sz="1050" dirty="0"/>
          </a:p>
        </p:txBody>
      </p:sp>
      <p:sp>
        <p:nvSpPr>
          <p:cNvPr id="12" name="Shape 10"/>
          <p:cNvSpPr/>
          <p:nvPr/>
        </p:nvSpPr>
        <p:spPr>
          <a:xfrm>
            <a:off x="2624328" y="3543300"/>
            <a:ext cx="219456" cy="0"/>
          </a:xfrm>
          <a:prstGeom prst="line">
            <a:avLst/>
          </a:prstGeom>
          <a:noFill/>
          <a:ln w="44450">
            <a:solidFill>
              <a:srgbClr val="F37022"/>
            </a:solidFill>
            <a:prstDash val="solid"/>
            <a:tailEnd type="triangle"/>
          </a:ln>
        </p:spPr>
        <p:txBody>
          <a:bodyPr/>
          <a:lstStyle/>
          <a:p>
            <a:endParaRPr lang="en-US"/>
          </a:p>
        </p:txBody>
      </p:sp>
      <p:sp>
        <p:nvSpPr>
          <p:cNvPr id="13" name="Shape 11"/>
          <p:cNvSpPr/>
          <p:nvPr/>
        </p:nvSpPr>
        <p:spPr>
          <a:xfrm>
            <a:off x="2862072" y="2468880"/>
            <a:ext cx="1965960" cy="214884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4" name="Shape 12"/>
          <p:cNvSpPr/>
          <p:nvPr/>
        </p:nvSpPr>
        <p:spPr>
          <a:xfrm>
            <a:off x="3570732" y="2194560"/>
            <a:ext cx="548640" cy="548640"/>
          </a:xfrm>
          <a:prstGeom prst="ellipse">
            <a:avLst/>
          </a:prstGeom>
          <a:solidFill>
            <a:srgbClr val="124DA3"/>
          </a:solidFill>
          <a:ln/>
          <a:effectLst>
            <a:outerShdw blurRad="114300" dist="38100" dir="5400000" algn="bl" rotWithShape="0">
              <a:srgbClr val="1E293B">
                <a:alpha val="16000"/>
              </a:srgbClr>
            </a:outerShdw>
          </a:effectLst>
        </p:spPr>
        <p:txBody>
          <a:bodyPr/>
          <a:lstStyle/>
          <a:p>
            <a:endParaRPr lang="en-US"/>
          </a:p>
        </p:txBody>
      </p:sp>
      <p:sp>
        <p:nvSpPr>
          <p:cNvPr id="15" name="Text 13"/>
          <p:cNvSpPr/>
          <p:nvPr/>
        </p:nvSpPr>
        <p:spPr>
          <a:xfrm>
            <a:off x="3570732" y="219456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2862072" y="2852928"/>
            <a:ext cx="196596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2953512" y="3401568"/>
            <a:ext cx="1783080" cy="365760"/>
          </a:xfrm>
          <a:prstGeom prst="rect">
            <a:avLst/>
          </a:prstGeom>
          <a:noFill/>
          <a:ln/>
        </p:spPr>
        <p:txBody>
          <a:bodyPr wrap="square" rtlCol="0" anchor="ctr"/>
          <a:lstStyle/>
          <a:p>
            <a:pPr marL="0" indent="0" algn="ctr">
              <a:buNone/>
            </a:pPr>
            <a:r>
              <a:rPr lang="en-US" sz="1350" b="1" dirty="0">
                <a:solidFill>
                  <a:srgbClr val="124DA3"/>
                </a:solidFill>
                <a:latin typeface="Calibri" pitchFamily="34" charset="0"/>
                <a:ea typeface="Calibri" pitchFamily="34" charset="-122"/>
                <a:cs typeface="Calibri" pitchFamily="34" charset="-120"/>
              </a:rPr>
              <a:t>Thu nhận dữ liệu</a:t>
            </a:r>
            <a:endParaRPr lang="en-US" sz="1350" dirty="0"/>
          </a:p>
        </p:txBody>
      </p:sp>
      <p:sp>
        <p:nvSpPr>
          <p:cNvPr id="18" name="Text 16"/>
          <p:cNvSpPr/>
          <p:nvPr/>
        </p:nvSpPr>
        <p:spPr>
          <a:xfrm>
            <a:off x="2999232" y="3767328"/>
            <a:ext cx="1691640" cy="777240"/>
          </a:xfrm>
          <a:prstGeom prst="rect">
            <a:avLst/>
          </a:prstGeom>
          <a:noFill/>
          <a:ln/>
        </p:spPr>
        <p:txBody>
          <a:bodyPr wrap="square" rtlCol="0" anchor="ctr"/>
          <a:lstStyle/>
          <a:p>
            <a:pPr marL="0" indent="0" algn="ctr">
              <a:lnSpc>
                <a:spcPct val="103000"/>
              </a:lnSpc>
              <a:buNone/>
            </a:pPr>
            <a:r>
              <a:rPr lang="en-US" sz="1050" dirty="0">
                <a:solidFill>
                  <a:srgbClr val="64748B"/>
                </a:solidFill>
                <a:latin typeface="Calibri" pitchFamily="34" charset="0"/>
                <a:ea typeface="Calibri" pitchFamily="34" charset="-122"/>
                <a:cs typeface="Calibri" pitchFamily="34" charset="-120"/>
              </a:rPr>
              <a:t>Máy gửi giờ vào/ra về hệ thống tự động</a:t>
            </a:r>
            <a:endParaRPr lang="en-US" sz="1050" dirty="0"/>
          </a:p>
        </p:txBody>
      </p:sp>
      <p:sp>
        <p:nvSpPr>
          <p:cNvPr id="19" name="Shape 17"/>
          <p:cNvSpPr/>
          <p:nvPr/>
        </p:nvSpPr>
        <p:spPr>
          <a:xfrm>
            <a:off x="4846320" y="3543300"/>
            <a:ext cx="219456" cy="0"/>
          </a:xfrm>
          <a:prstGeom prst="line">
            <a:avLst/>
          </a:prstGeom>
          <a:noFill/>
          <a:ln w="44450">
            <a:solidFill>
              <a:srgbClr val="F37022"/>
            </a:solidFill>
            <a:prstDash val="solid"/>
            <a:tailEnd type="triangle"/>
          </a:ln>
        </p:spPr>
        <p:txBody>
          <a:bodyPr/>
          <a:lstStyle/>
          <a:p>
            <a:endParaRPr lang="en-US"/>
          </a:p>
        </p:txBody>
      </p:sp>
      <p:sp>
        <p:nvSpPr>
          <p:cNvPr id="20" name="Shape 18"/>
          <p:cNvSpPr/>
          <p:nvPr/>
        </p:nvSpPr>
        <p:spPr>
          <a:xfrm>
            <a:off x="5084064" y="2468880"/>
            <a:ext cx="1965960" cy="214884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1" name="Shape 19"/>
          <p:cNvSpPr/>
          <p:nvPr/>
        </p:nvSpPr>
        <p:spPr>
          <a:xfrm>
            <a:off x="5792724" y="2194560"/>
            <a:ext cx="548640" cy="548640"/>
          </a:xfrm>
          <a:prstGeom prst="ellipse">
            <a:avLst/>
          </a:prstGeom>
          <a:solidFill>
            <a:srgbClr val="4EB748"/>
          </a:solidFill>
          <a:ln/>
          <a:effectLst>
            <a:outerShdw blurRad="114300" dist="38100" dir="5400000" algn="bl" rotWithShape="0">
              <a:srgbClr val="1E293B">
                <a:alpha val="16000"/>
              </a:srgbClr>
            </a:outerShdw>
          </a:effectLst>
        </p:spPr>
        <p:txBody>
          <a:bodyPr/>
          <a:lstStyle/>
          <a:p>
            <a:endParaRPr lang="en-US"/>
          </a:p>
        </p:txBody>
      </p:sp>
      <p:sp>
        <p:nvSpPr>
          <p:cNvPr id="22" name="Text 20"/>
          <p:cNvSpPr/>
          <p:nvPr/>
        </p:nvSpPr>
        <p:spPr>
          <a:xfrm>
            <a:off x="5792724" y="219456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21"/>
          <p:cNvSpPr/>
          <p:nvPr/>
        </p:nvSpPr>
        <p:spPr>
          <a:xfrm>
            <a:off x="5084064" y="2852928"/>
            <a:ext cx="196596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4" name="Text 22"/>
          <p:cNvSpPr/>
          <p:nvPr/>
        </p:nvSpPr>
        <p:spPr>
          <a:xfrm>
            <a:off x="5175504" y="3401568"/>
            <a:ext cx="1783080" cy="365760"/>
          </a:xfrm>
          <a:prstGeom prst="rect">
            <a:avLst/>
          </a:prstGeom>
          <a:noFill/>
          <a:ln/>
        </p:spPr>
        <p:txBody>
          <a:bodyPr wrap="square" rtlCol="0" anchor="ctr"/>
          <a:lstStyle/>
          <a:p>
            <a:pPr marL="0" indent="0" algn="ctr">
              <a:buNone/>
            </a:pPr>
            <a:r>
              <a:rPr lang="en-US" sz="1350" b="1" dirty="0">
                <a:solidFill>
                  <a:srgbClr val="4EB748"/>
                </a:solidFill>
                <a:latin typeface="Calibri" pitchFamily="34" charset="0"/>
                <a:ea typeface="Calibri" pitchFamily="34" charset="-122"/>
                <a:cs typeface="Calibri" pitchFamily="34" charset="-120"/>
              </a:rPr>
              <a:t>Xếp ca &amp; lịch</a:t>
            </a:r>
            <a:endParaRPr lang="en-US" sz="1350" dirty="0"/>
          </a:p>
        </p:txBody>
      </p:sp>
      <p:sp>
        <p:nvSpPr>
          <p:cNvPr id="25" name="Text 23"/>
          <p:cNvSpPr/>
          <p:nvPr/>
        </p:nvSpPr>
        <p:spPr>
          <a:xfrm>
            <a:off x="5221224" y="3767328"/>
            <a:ext cx="1691640" cy="777240"/>
          </a:xfrm>
          <a:prstGeom prst="rect">
            <a:avLst/>
          </a:prstGeom>
          <a:noFill/>
          <a:ln/>
        </p:spPr>
        <p:txBody>
          <a:bodyPr wrap="square" rtlCol="0" anchor="ctr"/>
          <a:lstStyle/>
          <a:p>
            <a:pPr marL="0" indent="0" algn="ctr">
              <a:lnSpc>
                <a:spcPct val="103000"/>
              </a:lnSpc>
              <a:buNone/>
            </a:pPr>
            <a:r>
              <a:rPr lang="en-US" sz="1050" dirty="0">
                <a:solidFill>
                  <a:srgbClr val="64748B"/>
                </a:solidFill>
                <a:latin typeface="Calibri" pitchFamily="34" charset="0"/>
                <a:ea typeface="Calibri" pitchFamily="34" charset="-122"/>
                <a:cs typeface="Calibri" pitchFamily="34" charset="-120"/>
              </a:rPr>
              <a:t>Phân ca, đổi ca, phủ ca khi có người vắng</a:t>
            </a:r>
            <a:endParaRPr lang="en-US" sz="1050" dirty="0"/>
          </a:p>
        </p:txBody>
      </p:sp>
      <p:sp>
        <p:nvSpPr>
          <p:cNvPr id="26" name="Shape 24"/>
          <p:cNvSpPr/>
          <p:nvPr/>
        </p:nvSpPr>
        <p:spPr>
          <a:xfrm>
            <a:off x="7068312" y="3543300"/>
            <a:ext cx="219456" cy="0"/>
          </a:xfrm>
          <a:prstGeom prst="line">
            <a:avLst/>
          </a:prstGeom>
          <a:noFill/>
          <a:ln w="44450">
            <a:solidFill>
              <a:srgbClr val="F37022"/>
            </a:solidFill>
            <a:prstDash val="solid"/>
            <a:tailEnd type="triangle"/>
          </a:ln>
        </p:spPr>
        <p:txBody>
          <a:bodyPr/>
          <a:lstStyle/>
          <a:p>
            <a:endParaRPr lang="en-US"/>
          </a:p>
        </p:txBody>
      </p:sp>
      <p:sp>
        <p:nvSpPr>
          <p:cNvPr id="27" name="Shape 25"/>
          <p:cNvSpPr/>
          <p:nvPr/>
        </p:nvSpPr>
        <p:spPr>
          <a:xfrm>
            <a:off x="7306056" y="2468880"/>
            <a:ext cx="1965960" cy="214884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8" name="Shape 26"/>
          <p:cNvSpPr/>
          <p:nvPr/>
        </p:nvSpPr>
        <p:spPr>
          <a:xfrm>
            <a:off x="8014716" y="2194560"/>
            <a:ext cx="548640" cy="548640"/>
          </a:xfrm>
          <a:prstGeom prst="ellipse">
            <a:avLst/>
          </a:prstGeom>
          <a:solidFill>
            <a:srgbClr val="124DA3"/>
          </a:solidFill>
          <a:ln/>
          <a:effectLst>
            <a:outerShdw blurRad="114300" dist="38100" dir="5400000" algn="bl" rotWithShape="0">
              <a:srgbClr val="1E293B">
                <a:alpha val="16000"/>
              </a:srgbClr>
            </a:outerShdw>
          </a:effectLst>
        </p:spPr>
        <p:txBody>
          <a:bodyPr/>
          <a:lstStyle/>
          <a:p>
            <a:endParaRPr lang="en-US"/>
          </a:p>
        </p:txBody>
      </p:sp>
      <p:sp>
        <p:nvSpPr>
          <p:cNvPr id="29" name="Text 27"/>
          <p:cNvSpPr/>
          <p:nvPr/>
        </p:nvSpPr>
        <p:spPr>
          <a:xfrm>
            <a:off x="8014716" y="219456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0" name="Text 28"/>
          <p:cNvSpPr/>
          <p:nvPr/>
        </p:nvSpPr>
        <p:spPr>
          <a:xfrm>
            <a:off x="7306056" y="2852928"/>
            <a:ext cx="196596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1" name="Text 29"/>
          <p:cNvSpPr/>
          <p:nvPr/>
        </p:nvSpPr>
        <p:spPr>
          <a:xfrm>
            <a:off x="7397496" y="3401568"/>
            <a:ext cx="1783080" cy="365760"/>
          </a:xfrm>
          <a:prstGeom prst="rect">
            <a:avLst/>
          </a:prstGeom>
          <a:noFill/>
          <a:ln/>
        </p:spPr>
        <p:txBody>
          <a:bodyPr wrap="square" rtlCol="0" anchor="ctr"/>
          <a:lstStyle/>
          <a:p>
            <a:pPr marL="0" indent="0" algn="ctr">
              <a:buNone/>
            </a:pPr>
            <a:r>
              <a:rPr lang="en-US" sz="1350" b="1" dirty="0">
                <a:solidFill>
                  <a:srgbClr val="124DA3"/>
                </a:solidFill>
                <a:latin typeface="Calibri" pitchFamily="34" charset="0"/>
                <a:ea typeface="Calibri" pitchFamily="34" charset="-122"/>
                <a:cs typeface="Calibri" pitchFamily="34" charset="-120"/>
              </a:rPr>
              <a:t>Tính công</a:t>
            </a:r>
            <a:endParaRPr lang="en-US" sz="1350" dirty="0"/>
          </a:p>
        </p:txBody>
      </p:sp>
      <p:sp>
        <p:nvSpPr>
          <p:cNvPr id="32" name="Text 30"/>
          <p:cNvSpPr/>
          <p:nvPr/>
        </p:nvSpPr>
        <p:spPr>
          <a:xfrm>
            <a:off x="7443216" y="3767328"/>
            <a:ext cx="1691640" cy="777240"/>
          </a:xfrm>
          <a:prstGeom prst="rect">
            <a:avLst/>
          </a:prstGeom>
          <a:noFill/>
          <a:ln/>
        </p:spPr>
        <p:txBody>
          <a:bodyPr wrap="square" rtlCol="0" anchor="ctr"/>
          <a:lstStyle/>
          <a:p>
            <a:pPr marL="0" indent="0" algn="ctr">
              <a:lnSpc>
                <a:spcPct val="103000"/>
              </a:lnSpc>
              <a:buNone/>
            </a:pPr>
            <a:r>
              <a:rPr lang="en-US" sz="1050" dirty="0">
                <a:solidFill>
                  <a:srgbClr val="64748B"/>
                </a:solidFill>
                <a:latin typeface="Calibri" pitchFamily="34" charset="0"/>
                <a:ea typeface="Calibri" pitchFamily="34" charset="-122"/>
                <a:cs typeface="Calibri" pitchFamily="34" charset="-120"/>
              </a:rPr>
              <a:t>So ca chuẩn → đi trễ, tăng ca, nghỉ (theo luật VN)</a:t>
            </a:r>
            <a:endParaRPr lang="en-US" sz="1050" dirty="0"/>
          </a:p>
        </p:txBody>
      </p:sp>
      <p:sp>
        <p:nvSpPr>
          <p:cNvPr id="33" name="Shape 31"/>
          <p:cNvSpPr/>
          <p:nvPr/>
        </p:nvSpPr>
        <p:spPr>
          <a:xfrm>
            <a:off x="9290304" y="3543300"/>
            <a:ext cx="219456" cy="0"/>
          </a:xfrm>
          <a:prstGeom prst="line">
            <a:avLst/>
          </a:prstGeom>
          <a:noFill/>
          <a:ln w="44450">
            <a:solidFill>
              <a:srgbClr val="F37022"/>
            </a:solidFill>
            <a:prstDash val="solid"/>
            <a:tailEnd type="triangle"/>
          </a:ln>
        </p:spPr>
        <p:txBody>
          <a:bodyPr/>
          <a:lstStyle/>
          <a:p>
            <a:endParaRPr lang="en-US"/>
          </a:p>
        </p:txBody>
      </p:sp>
      <p:sp>
        <p:nvSpPr>
          <p:cNvPr id="34" name="Shape 32"/>
          <p:cNvSpPr/>
          <p:nvPr/>
        </p:nvSpPr>
        <p:spPr>
          <a:xfrm>
            <a:off x="9528048" y="2468880"/>
            <a:ext cx="1965960" cy="2148840"/>
          </a:xfrm>
          <a:prstGeom prst="roundRect">
            <a:avLst>
              <a:gd name="adj" fmla="val 4186"/>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35" name="Shape 33"/>
          <p:cNvSpPr/>
          <p:nvPr/>
        </p:nvSpPr>
        <p:spPr>
          <a:xfrm>
            <a:off x="10236708" y="2194560"/>
            <a:ext cx="548640" cy="548640"/>
          </a:xfrm>
          <a:prstGeom prst="ellipse">
            <a:avLst/>
          </a:prstGeom>
          <a:solidFill>
            <a:srgbClr val="0F1E3D"/>
          </a:solidFill>
          <a:ln/>
          <a:effectLst>
            <a:outerShdw blurRad="114300" dist="38100" dir="5400000" algn="bl" rotWithShape="0">
              <a:srgbClr val="1E293B">
                <a:alpha val="16000"/>
              </a:srgbClr>
            </a:outerShdw>
          </a:effectLst>
        </p:spPr>
        <p:txBody>
          <a:bodyPr/>
          <a:lstStyle/>
          <a:p>
            <a:endParaRPr lang="en-US"/>
          </a:p>
        </p:txBody>
      </p:sp>
      <p:sp>
        <p:nvSpPr>
          <p:cNvPr id="36" name="Text 34"/>
          <p:cNvSpPr/>
          <p:nvPr/>
        </p:nvSpPr>
        <p:spPr>
          <a:xfrm>
            <a:off x="10236708" y="219456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7" name="Text 35"/>
          <p:cNvSpPr/>
          <p:nvPr/>
        </p:nvSpPr>
        <p:spPr>
          <a:xfrm>
            <a:off x="9528048" y="2852928"/>
            <a:ext cx="196596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8" name="Text 36"/>
          <p:cNvSpPr/>
          <p:nvPr/>
        </p:nvSpPr>
        <p:spPr>
          <a:xfrm>
            <a:off x="9619488" y="3401568"/>
            <a:ext cx="1783080" cy="365760"/>
          </a:xfrm>
          <a:prstGeom prst="rect">
            <a:avLst/>
          </a:prstGeom>
          <a:noFill/>
          <a:ln/>
        </p:spPr>
        <p:txBody>
          <a:bodyPr wrap="square" rtlCol="0" anchor="ctr"/>
          <a:lstStyle/>
          <a:p>
            <a:pPr marL="0" indent="0" algn="ctr">
              <a:buNone/>
            </a:pPr>
            <a:r>
              <a:rPr lang="en-US" sz="1350" b="1" dirty="0">
                <a:solidFill>
                  <a:srgbClr val="0F1E3D"/>
                </a:solidFill>
                <a:latin typeface="Calibri" pitchFamily="34" charset="0"/>
                <a:ea typeface="Calibri" pitchFamily="34" charset="-122"/>
                <a:cs typeface="Calibri" pitchFamily="34" charset="-120"/>
              </a:rPr>
              <a:t>Bảng công tháng</a:t>
            </a:r>
            <a:endParaRPr lang="en-US" sz="1350" dirty="0"/>
          </a:p>
        </p:txBody>
      </p:sp>
      <p:sp>
        <p:nvSpPr>
          <p:cNvPr id="39" name="Text 37"/>
          <p:cNvSpPr/>
          <p:nvPr/>
        </p:nvSpPr>
        <p:spPr>
          <a:xfrm>
            <a:off x="9665208" y="3767328"/>
            <a:ext cx="1691640" cy="777240"/>
          </a:xfrm>
          <a:prstGeom prst="rect">
            <a:avLst/>
          </a:prstGeom>
          <a:noFill/>
          <a:ln/>
        </p:spPr>
        <p:txBody>
          <a:bodyPr wrap="square" rtlCol="0" anchor="ctr"/>
          <a:lstStyle/>
          <a:p>
            <a:pPr marL="0" indent="0" algn="ctr">
              <a:lnSpc>
                <a:spcPct val="103000"/>
              </a:lnSpc>
              <a:buNone/>
            </a:pPr>
            <a:r>
              <a:rPr lang="en-US" sz="1050" dirty="0">
                <a:solidFill>
                  <a:srgbClr val="64748B"/>
                </a:solidFill>
                <a:latin typeface="Calibri" pitchFamily="34" charset="0"/>
                <a:ea typeface="Calibri" pitchFamily="34" charset="-122"/>
                <a:cs typeface="Calibri" pitchFamily="34" charset="-120"/>
              </a:rPr>
              <a:t>Tổng hợp ngày công → chuyển sang tính lương</a:t>
            </a:r>
            <a:endParaRPr lang="en-US" sz="1050" dirty="0"/>
          </a:p>
        </p:txBody>
      </p:sp>
      <p:sp>
        <p:nvSpPr>
          <p:cNvPr id="40" name="Shape 38"/>
          <p:cNvSpPr/>
          <p:nvPr/>
        </p:nvSpPr>
        <p:spPr>
          <a:xfrm>
            <a:off x="640080" y="5669280"/>
            <a:ext cx="10881360" cy="685800"/>
          </a:xfrm>
          <a:prstGeom prst="roundRect">
            <a:avLst>
              <a:gd name="adj" fmla="val 13333"/>
            </a:avLst>
          </a:prstGeom>
          <a:solidFill>
            <a:srgbClr val="E8F0FB"/>
          </a:solidFill>
          <a:ln/>
        </p:spPr>
        <p:txBody>
          <a:bodyPr/>
          <a:lstStyle/>
          <a:p>
            <a:endParaRPr lang="en-US"/>
          </a:p>
        </p:txBody>
      </p:sp>
      <p:sp>
        <p:nvSpPr>
          <p:cNvPr id="41" name="Text 39"/>
          <p:cNvSpPr/>
          <p:nvPr/>
        </p:nvSpPr>
        <p:spPr>
          <a:xfrm>
            <a:off x="914400" y="5669280"/>
            <a:ext cx="10332720" cy="685800"/>
          </a:xfrm>
          <a:prstGeom prst="rect">
            <a:avLst/>
          </a:prstGeom>
          <a:noFill/>
          <a:ln/>
        </p:spPr>
        <p:txBody>
          <a:bodyPr wrap="square" rtlCol="0" anchor="ctr"/>
          <a:lstStyle/>
          <a:p>
            <a:pPr marL="0" indent="0">
              <a:buNone/>
            </a:pPr>
            <a:r>
              <a:rPr lang="en-US" sz="1300" b="1" dirty="0">
                <a:solidFill>
                  <a:srgbClr val="124DA3"/>
                </a:solidFill>
                <a:latin typeface="Calibri" pitchFamily="34" charset="0"/>
                <a:ea typeface="Calibri" pitchFamily="34" charset="-122"/>
                <a:cs typeface="Calibri" pitchFamily="34" charset="-120"/>
              </a:rPr>
              <a:t>⭐ Đây là module đã hoàn thiện &amp; kiểm thử end-to-end — bộ luật tính công/tăng ca theo pháp luật VN (nghỉ lễ, ca đêm, hệ số OT).</a:t>
            </a:r>
            <a:endParaRPr lang="en-US" sz="1300" dirty="0"/>
          </a:p>
        </p:txBody>
      </p:sp>
      <p:sp>
        <p:nvSpPr>
          <p:cNvPr id="42" name="Shape 40"/>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43"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NGHIỆP VỤ 3</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Quy trình duyệt đơn nhiều cấp (xin nghỉ, tăng ca…)</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Shape 4"/>
          <p:cNvSpPr/>
          <p:nvPr/>
        </p:nvSpPr>
        <p:spPr>
          <a:xfrm>
            <a:off x="640080" y="2651760"/>
            <a:ext cx="2011680" cy="1005840"/>
          </a:xfrm>
          <a:prstGeom prst="roundRect">
            <a:avLst>
              <a:gd name="adj" fmla="val 8182"/>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7" name="Text 5"/>
          <p:cNvSpPr/>
          <p:nvPr/>
        </p:nvSpPr>
        <p:spPr>
          <a:xfrm>
            <a:off x="731520" y="2651760"/>
            <a:ext cx="1828800" cy="1005840"/>
          </a:xfrm>
          <a:prstGeom prst="rect">
            <a:avLst/>
          </a:prstGeom>
          <a:noFill/>
          <a:ln/>
        </p:spPr>
        <p:txBody>
          <a:bodyPr wrap="square" rtlCol="0" anchor="ctr"/>
          <a:lstStyle/>
          <a:p>
            <a:pPr marL="0" indent="0" algn="ctr">
              <a:buNone/>
            </a:pPr>
            <a:r>
              <a:rPr lang="en-US" sz="1350" b="1" dirty="0">
                <a:solidFill>
                  <a:srgbClr val="F37022"/>
                </a:solidFill>
                <a:latin typeface="Calibri" pitchFamily="34" charset="0"/>
                <a:ea typeface="Calibri" pitchFamily="34" charset="-122"/>
                <a:cs typeface="Calibri" pitchFamily="34" charset="-120"/>
              </a:rPr>
              <a:t>👤 Nhân viên</a:t>
            </a:r>
            <a:endParaRPr lang="en-US" sz="1350" dirty="0"/>
          </a:p>
          <a:p>
            <a:pPr marL="0" indent="0" algn="ctr">
              <a:buNone/>
            </a:pPr>
            <a:r>
              <a:rPr lang="en-US" sz="1350" b="1" dirty="0">
                <a:solidFill>
                  <a:srgbClr val="F37022"/>
                </a:solidFill>
                <a:latin typeface="Calibri" pitchFamily="34" charset="0"/>
                <a:ea typeface="Calibri" pitchFamily="34" charset="-122"/>
                <a:cs typeface="Calibri" pitchFamily="34" charset="-120"/>
              </a:rPr>
              <a:t>tạo đơn</a:t>
            </a:r>
            <a:endParaRPr lang="en-US" sz="1350" dirty="0"/>
          </a:p>
        </p:txBody>
      </p:sp>
      <p:sp>
        <p:nvSpPr>
          <p:cNvPr id="8" name="Shape 6"/>
          <p:cNvSpPr/>
          <p:nvPr/>
        </p:nvSpPr>
        <p:spPr>
          <a:xfrm>
            <a:off x="2697480" y="3154680"/>
            <a:ext cx="457200" cy="0"/>
          </a:xfrm>
          <a:prstGeom prst="line">
            <a:avLst/>
          </a:prstGeom>
          <a:noFill/>
          <a:ln w="44450">
            <a:solidFill>
              <a:srgbClr val="124DA3"/>
            </a:solidFill>
            <a:prstDash val="solid"/>
            <a:tailEnd type="triangle"/>
          </a:ln>
        </p:spPr>
        <p:txBody>
          <a:bodyPr/>
          <a:lstStyle/>
          <a:p>
            <a:endParaRPr lang="en-US"/>
          </a:p>
        </p:txBody>
      </p:sp>
      <p:sp>
        <p:nvSpPr>
          <p:cNvPr id="9" name="Shape 7"/>
          <p:cNvSpPr/>
          <p:nvPr/>
        </p:nvSpPr>
        <p:spPr>
          <a:xfrm>
            <a:off x="3200400" y="2651760"/>
            <a:ext cx="2011680" cy="1005840"/>
          </a:xfrm>
          <a:prstGeom prst="roundRect">
            <a:avLst>
              <a:gd name="adj" fmla="val 8182"/>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0" name="Text 8"/>
          <p:cNvSpPr/>
          <p:nvPr/>
        </p:nvSpPr>
        <p:spPr>
          <a:xfrm>
            <a:off x="3291840" y="2651760"/>
            <a:ext cx="1828800" cy="1005840"/>
          </a:xfrm>
          <a:prstGeom prst="rect">
            <a:avLst/>
          </a:prstGeom>
          <a:noFill/>
          <a:ln/>
        </p:spPr>
        <p:txBody>
          <a:bodyPr wrap="square" rtlCol="0" anchor="ctr"/>
          <a:lstStyle/>
          <a:p>
            <a:pPr marL="0" indent="0" algn="ctr">
              <a:buNone/>
            </a:pPr>
            <a:r>
              <a:rPr lang="en-US" sz="1350" b="1" dirty="0">
                <a:solidFill>
                  <a:srgbClr val="124DA3"/>
                </a:solidFill>
                <a:latin typeface="Calibri" pitchFamily="34" charset="0"/>
                <a:ea typeface="Calibri" pitchFamily="34" charset="-122"/>
                <a:cs typeface="Calibri" pitchFamily="34" charset="-120"/>
              </a:rPr>
              <a:t>👔 Quản lý</a:t>
            </a:r>
            <a:endParaRPr lang="en-US" sz="1350" dirty="0"/>
          </a:p>
          <a:p>
            <a:pPr marL="0" indent="0" algn="ctr">
              <a:buNone/>
            </a:pPr>
            <a:r>
              <a:rPr lang="en-US" sz="1350" b="1" dirty="0">
                <a:solidFill>
                  <a:srgbClr val="124DA3"/>
                </a:solidFill>
                <a:latin typeface="Calibri" pitchFamily="34" charset="0"/>
                <a:ea typeface="Calibri" pitchFamily="34" charset="-122"/>
                <a:cs typeface="Calibri" pitchFamily="34" charset="-120"/>
              </a:rPr>
              <a:t>duyệt cấp 1</a:t>
            </a:r>
            <a:endParaRPr lang="en-US" sz="1350" dirty="0"/>
          </a:p>
        </p:txBody>
      </p:sp>
      <p:sp>
        <p:nvSpPr>
          <p:cNvPr id="11" name="Shape 9"/>
          <p:cNvSpPr/>
          <p:nvPr/>
        </p:nvSpPr>
        <p:spPr>
          <a:xfrm>
            <a:off x="5257800" y="3154680"/>
            <a:ext cx="457200" cy="0"/>
          </a:xfrm>
          <a:prstGeom prst="line">
            <a:avLst/>
          </a:prstGeom>
          <a:noFill/>
          <a:ln w="44450">
            <a:solidFill>
              <a:srgbClr val="124DA3"/>
            </a:solidFill>
            <a:prstDash val="solid"/>
            <a:tailEnd type="triangle"/>
          </a:ln>
        </p:spPr>
        <p:txBody>
          <a:bodyPr/>
          <a:lstStyle/>
          <a:p>
            <a:endParaRPr lang="en-US"/>
          </a:p>
        </p:txBody>
      </p:sp>
      <p:sp>
        <p:nvSpPr>
          <p:cNvPr id="12" name="Shape 10"/>
          <p:cNvSpPr/>
          <p:nvPr/>
        </p:nvSpPr>
        <p:spPr>
          <a:xfrm>
            <a:off x="5760720" y="2651760"/>
            <a:ext cx="2011680" cy="1005840"/>
          </a:xfrm>
          <a:prstGeom prst="roundRect">
            <a:avLst>
              <a:gd name="adj" fmla="val 8182"/>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3" name="Text 11"/>
          <p:cNvSpPr/>
          <p:nvPr/>
        </p:nvSpPr>
        <p:spPr>
          <a:xfrm>
            <a:off x="5852160" y="2651760"/>
            <a:ext cx="1828800" cy="1005840"/>
          </a:xfrm>
          <a:prstGeom prst="rect">
            <a:avLst/>
          </a:prstGeom>
          <a:noFill/>
          <a:ln/>
        </p:spPr>
        <p:txBody>
          <a:bodyPr wrap="square" rtlCol="0" anchor="ctr"/>
          <a:lstStyle/>
          <a:p>
            <a:pPr marL="0" indent="0" algn="ctr">
              <a:buNone/>
            </a:pPr>
            <a:r>
              <a:rPr lang="en-US" sz="1350" b="1" dirty="0">
                <a:solidFill>
                  <a:srgbClr val="124DA3"/>
                </a:solidFill>
                <a:latin typeface="Calibri" pitchFamily="34" charset="0"/>
                <a:ea typeface="Calibri" pitchFamily="34" charset="-122"/>
                <a:cs typeface="Calibri" pitchFamily="34" charset="-120"/>
              </a:rPr>
              <a:t>🧑‍💼 HR / Giám đốc</a:t>
            </a:r>
            <a:endParaRPr lang="en-US" sz="1350" dirty="0"/>
          </a:p>
          <a:p>
            <a:pPr marL="0" indent="0" algn="ctr">
              <a:buNone/>
            </a:pPr>
            <a:r>
              <a:rPr lang="en-US" sz="1350" b="1" dirty="0">
                <a:solidFill>
                  <a:srgbClr val="124DA3"/>
                </a:solidFill>
                <a:latin typeface="Calibri" pitchFamily="34" charset="0"/>
                <a:ea typeface="Calibri" pitchFamily="34" charset="-122"/>
                <a:cs typeface="Calibri" pitchFamily="34" charset="-120"/>
              </a:rPr>
              <a:t>duyệt cấp 2</a:t>
            </a:r>
            <a:endParaRPr lang="en-US" sz="1350" dirty="0"/>
          </a:p>
        </p:txBody>
      </p:sp>
      <p:sp>
        <p:nvSpPr>
          <p:cNvPr id="14" name="Shape 12"/>
          <p:cNvSpPr/>
          <p:nvPr/>
        </p:nvSpPr>
        <p:spPr>
          <a:xfrm>
            <a:off x="7818120" y="3154680"/>
            <a:ext cx="457200" cy="0"/>
          </a:xfrm>
          <a:prstGeom prst="line">
            <a:avLst/>
          </a:prstGeom>
          <a:noFill/>
          <a:ln w="44450">
            <a:solidFill>
              <a:srgbClr val="4EB748"/>
            </a:solidFill>
            <a:prstDash val="solid"/>
            <a:tailEnd type="triangle"/>
          </a:ln>
        </p:spPr>
        <p:txBody>
          <a:bodyPr/>
          <a:lstStyle/>
          <a:p>
            <a:endParaRPr lang="en-US"/>
          </a:p>
        </p:txBody>
      </p:sp>
      <p:sp>
        <p:nvSpPr>
          <p:cNvPr id="15" name="Shape 13"/>
          <p:cNvSpPr/>
          <p:nvPr/>
        </p:nvSpPr>
        <p:spPr>
          <a:xfrm>
            <a:off x="8321040" y="2651760"/>
            <a:ext cx="3200400" cy="1005840"/>
          </a:xfrm>
          <a:prstGeom prst="roundRect">
            <a:avLst>
              <a:gd name="adj" fmla="val 8182"/>
            </a:avLst>
          </a:prstGeom>
          <a:solidFill>
            <a:srgbClr val="E7F6E6"/>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6" name="Text 14"/>
          <p:cNvSpPr/>
          <p:nvPr/>
        </p:nvSpPr>
        <p:spPr>
          <a:xfrm>
            <a:off x="8412480" y="2651760"/>
            <a:ext cx="3017520" cy="1005840"/>
          </a:xfrm>
          <a:prstGeom prst="rect">
            <a:avLst/>
          </a:prstGeom>
          <a:noFill/>
          <a:ln/>
        </p:spPr>
        <p:txBody>
          <a:bodyPr wrap="square" rtlCol="0" anchor="ctr"/>
          <a:lstStyle/>
          <a:p>
            <a:pPr marL="0" indent="0" algn="ctr">
              <a:buNone/>
            </a:pPr>
            <a:r>
              <a:rPr lang="en-US" sz="1350" b="1" dirty="0">
                <a:solidFill>
                  <a:srgbClr val="4EB748"/>
                </a:solidFill>
                <a:latin typeface="Calibri" pitchFamily="34" charset="0"/>
                <a:ea typeface="Calibri" pitchFamily="34" charset="-122"/>
                <a:cs typeface="Calibri" pitchFamily="34" charset="-120"/>
              </a:rPr>
              <a:t>✅ DUYỆT XONG</a:t>
            </a:r>
            <a:endParaRPr lang="en-US" sz="1350" dirty="0"/>
          </a:p>
          <a:p>
            <a:pPr marL="0" indent="0" algn="ctr">
              <a:buNone/>
            </a:pPr>
            <a:r>
              <a:rPr lang="en-US" sz="1350" b="1" dirty="0">
                <a:solidFill>
                  <a:srgbClr val="4EB748"/>
                </a:solidFill>
                <a:latin typeface="Calibri" pitchFamily="34" charset="0"/>
                <a:ea typeface="Calibri" pitchFamily="34" charset="-122"/>
                <a:cs typeface="Calibri" pitchFamily="34" charset="-120"/>
              </a:rPr>
              <a:t>→ vào công tháng &amp; lương</a:t>
            </a:r>
            <a:endParaRPr lang="en-US" sz="1350" dirty="0"/>
          </a:p>
        </p:txBody>
      </p:sp>
      <p:sp>
        <p:nvSpPr>
          <p:cNvPr id="17" name="Shape 15"/>
          <p:cNvSpPr/>
          <p:nvPr/>
        </p:nvSpPr>
        <p:spPr>
          <a:xfrm>
            <a:off x="4206240" y="3703320"/>
            <a:ext cx="0" cy="822960"/>
          </a:xfrm>
          <a:prstGeom prst="line">
            <a:avLst/>
          </a:prstGeom>
          <a:noFill/>
          <a:ln w="38100">
            <a:solidFill>
              <a:srgbClr val="B91C1C"/>
            </a:solidFill>
            <a:prstDash val="solid"/>
            <a:tailEnd type="triangle"/>
          </a:ln>
        </p:spPr>
        <p:txBody>
          <a:bodyPr/>
          <a:lstStyle/>
          <a:p>
            <a:endParaRPr lang="en-US"/>
          </a:p>
        </p:txBody>
      </p:sp>
      <p:sp>
        <p:nvSpPr>
          <p:cNvPr id="18" name="Shape 16"/>
          <p:cNvSpPr/>
          <p:nvPr/>
        </p:nvSpPr>
        <p:spPr>
          <a:xfrm>
            <a:off x="3291840" y="4526280"/>
            <a:ext cx="2926080" cy="640080"/>
          </a:xfrm>
          <a:prstGeom prst="roundRect">
            <a:avLst>
              <a:gd name="adj" fmla="val 14286"/>
            </a:avLst>
          </a:prstGeom>
          <a:solidFill>
            <a:srgbClr val="FEE2E2"/>
          </a:solidFill>
          <a:ln/>
        </p:spPr>
        <p:txBody>
          <a:bodyPr/>
          <a:lstStyle/>
          <a:p>
            <a:endParaRPr lang="en-US"/>
          </a:p>
        </p:txBody>
      </p:sp>
      <p:sp>
        <p:nvSpPr>
          <p:cNvPr id="19" name="Text 17"/>
          <p:cNvSpPr/>
          <p:nvPr/>
        </p:nvSpPr>
        <p:spPr>
          <a:xfrm>
            <a:off x="3291840" y="4526280"/>
            <a:ext cx="2926080" cy="640080"/>
          </a:xfrm>
          <a:prstGeom prst="rect">
            <a:avLst/>
          </a:prstGeom>
          <a:noFill/>
          <a:ln/>
        </p:spPr>
        <p:txBody>
          <a:bodyPr wrap="square" rtlCol="0" anchor="ctr"/>
          <a:lstStyle/>
          <a:p>
            <a:pPr marL="0" indent="0" algn="ctr">
              <a:buNone/>
            </a:pPr>
            <a:r>
              <a:rPr lang="en-US" sz="1250" b="1" dirty="0">
                <a:solidFill>
                  <a:srgbClr val="B91C1C"/>
                </a:solidFill>
                <a:latin typeface="Calibri" pitchFamily="34" charset="0"/>
                <a:ea typeface="Calibri" pitchFamily="34" charset="-122"/>
                <a:cs typeface="Calibri" pitchFamily="34" charset="-120"/>
              </a:rPr>
              <a:t>❌ Từ chối → trả về người tạo</a:t>
            </a:r>
            <a:endParaRPr lang="en-US" sz="1250" dirty="0"/>
          </a:p>
        </p:txBody>
      </p:sp>
      <p:sp>
        <p:nvSpPr>
          <p:cNvPr id="20" name="Shape 18"/>
          <p:cNvSpPr/>
          <p:nvPr/>
        </p:nvSpPr>
        <p:spPr>
          <a:xfrm>
            <a:off x="7406640" y="4069080"/>
            <a:ext cx="4114800" cy="1371600"/>
          </a:xfrm>
          <a:prstGeom prst="roundRect">
            <a:avLst>
              <a:gd name="adj" fmla="val 6667"/>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1" name="Text 19"/>
          <p:cNvSpPr/>
          <p:nvPr/>
        </p:nvSpPr>
        <p:spPr>
          <a:xfrm>
            <a:off x="7635240" y="4206240"/>
            <a:ext cx="3657600" cy="320040"/>
          </a:xfrm>
          <a:prstGeom prst="rect">
            <a:avLst/>
          </a:prstGeom>
          <a:noFill/>
          <a:ln/>
        </p:spPr>
        <p:txBody>
          <a:bodyPr wrap="square" rtlCol="0" anchor="ctr"/>
          <a:lstStyle/>
          <a:p>
            <a:pPr marL="0" indent="0">
              <a:buNone/>
            </a:pPr>
            <a:r>
              <a:rPr lang="en-US" sz="1300" b="1" dirty="0">
                <a:solidFill>
                  <a:srgbClr val="124DA3"/>
                </a:solidFill>
                <a:latin typeface="Calibri" pitchFamily="34" charset="0"/>
                <a:ea typeface="Calibri" pitchFamily="34" charset="-122"/>
                <a:cs typeface="Calibri" pitchFamily="34" charset="-120"/>
              </a:rPr>
              <a:t>🛡️ Luật kiểm soát</a:t>
            </a:r>
            <a:endParaRPr lang="en-US" sz="1300" dirty="0"/>
          </a:p>
        </p:txBody>
      </p:sp>
      <p:sp>
        <p:nvSpPr>
          <p:cNvPr id="22" name="Text 20"/>
          <p:cNvSpPr/>
          <p:nvPr/>
        </p:nvSpPr>
        <p:spPr>
          <a:xfrm>
            <a:off x="7635240" y="4526280"/>
            <a:ext cx="3749040" cy="868680"/>
          </a:xfrm>
          <a:prstGeom prst="rect">
            <a:avLst/>
          </a:prstGeom>
          <a:noFill/>
          <a:ln/>
        </p:spPr>
        <p:txBody>
          <a:bodyPr wrap="square" rtlCol="0" anchor="ctr"/>
          <a:lstStyle/>
          <a:p>
            <a:pPr marL="0" indent="0">
              <a:lnSpc>
                <a:spcPct val="104000"/>
              </a:lnSpc>
              <a:buNone/>
            </a:pPr>
            <a:r>
              <a:rPr lang="en-US" sz="1150" dirty="0">
                <a:solidFill>
                  <a:srgbClr val="64748B"/>
                </a:solidFill>
                <a:latin typeface="Calibri" pitchFamily="34" charset="0"/>
                <a:ea typeface="Calibri" pitchFamily="34" charset="-122"/>
                <a:cs typeface="Calibri" pitchFamily="34" charset="-120"/>
              </a:rPr>
              <a:t>Đúng người – đúng cấp mới được duyệt. HR không “duyệt hộ” cấp quản lý. Có nhật ký ai duyệt, lúc nào.</a:t>
            </a:r>
            <a:endParaRPr lang="en-US" sz="1150" dirty="0"/>
          </a:p>
        </p:txBody>
      </p:sp>
      <p:sp>
        <p:nvSpPr>
          <p:cNvPr id="23" name="Text 21"/>
          <p:cNvSpPr/>
          <p:nvPr/>
        </p:nvSpPr>
        <p:spPr>
          <a:xfrm>
            <a:off x="640080" y="1417320"/>
            <a:ext cx="10881360" cy="36576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Chỉ đơn ĐÃ DUYỆT mới được tính vào công tháng và bảng lương.</a:t>
            </a:r>
            <a:endParaRPr lang="en-US" sz="1400" dirty="0"/>
          </a:p>
        </p:txBody>
      </p:sp>
      <p:sp>
        <p:nvSpPr>
          <p:cNvPr id="24" name="Shape 22"/>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25"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NGHIỆP VỤ 4  ·  TRỌNG TÂM</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Tính lương kiểu “thác nước” — ví dụ 1 nhân viên</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Shape 4"/>
          <p:cNvSpPr/>
          <p:nvPr/>
        </p:nvSpPr>
        <p:spPr>
          <a:xfrm>
            <a:off x="640080" y="1600200"/>
            <a:ext cx="5257800" cy="841248"/>
          </a:xfrm>
          <a:prstGeom prst="roundRect">
            <a:avLst>
              <a:gd name="adj" fmla="val 978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7" name="Shape 5"/>
          <p:cNvSpPr/>
          <p:nvPr/>
        </p:nvSpPr>
        <p:spPr>
          <a:xfrm>
            <a:off x="841248" y="1764792"/>
            <a:ext cx="512064" cy="512064"/>
          </a:xfrm>
          <a:prstGeom prst="ellipse">
            <a:avLst/>
          </a:prstGeom>
          <a:solidFill>
            <a:srgbClr val="124DA3"/>
          </a:solidFill>
          <a:ln/>
          <a:effectLst>
            <a:outerShdw blurRad="114300" dist="38100" dir="5400000" algn="bl" rotWithShape="0">
              <a:srgbClr val="1E293B">
                <a:alpha val="16000"/>
              </a:srgbClr>
            </a:outerShdw>
          </a:effectLst>
        </p:spPr>
        <p:txBody>
          <a:bodyPr/>
          <a:lstStyle/>
          <a:p>
            <a:endParaRPr lang="en-US"/>
          </a:p>
        </p:txBody>
      </p:sp>
      <p:sp>
        <p:nvSpPr>
          <p:cNvPr id="8" name="Text 6"/>
          <p:cNvSpPr/>
          <p:nvPr/>
        </p:nvSpPr>
        <p:spPr>
          <a:xfrm>
            <a:off x="841248" y="1764792"/>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536192" y="1709928"/>
            <a:ext cx="4251960" cy="365760"/>
          </a:xfrm>
          <a:prstGeom prst="rect">
            <a:avLst/>
          </a:prstGeom>
          <a:noFill/>
          <a:ln/>
        </p:spPr>
        <p:txBody>
          <a:bodyPr wrap="square" rtlCol="0" anchor="ctr"/>
          <a:lstStyle/>
          <a:p>
            <a:pPr marL="0" indent="0">
              <a:buNone/>
            </a:pPr>
            <a:r>
              <a:rPr lang="en-US" sz="1500" b="1" dirty="0">
                <a:solidFill>
                  <a:srgbClr val="124DA3"/>
                </a:solidFill>
                <a:latin typeface="Calibri" pitchFamily="34" charset="0"/>
                <a:ea typeface="Calibri" pitchFamily="34" charset="-122"/>
                <a:cs typeface="Calibri" pitchFamily="34" charset="-120"/>
              </a:rPr>
              <a:t>Cộng thu nhập</a:t>
            </a:r>
            <a:endParaRPr lang="en-US" sz="1500" dirty="0"/>
          </a:p>
        </p:txBody>
      </p:sp>
      <p:sp>
        <p:nvSpPr>
          <p:cNvPr id="10" name="Text 8"/>
          <p:cNvSpPr/>
          <p:nvPr/>
        </p:nvSpPr>
        <p:spPr>
          <a:xfrm>
            <a:off x="1536192" y="2057400"/>
            <a:ext cx="4206240" cy="329184"/>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Lương cơ bản + phụ cấp + tăng ca</a:t>
            </a:r>
            <a:endParaRPr lang="en-US" sz="1150" dirty="0"/>
          </a:p>
        </p:txBody>
      </p:sp>
      <p:sp>
        <p:nvSpPr>
          <p:cNvPr id="11" name="Shape 9"/>
          <p:cNvSpPr/>
          <p:nvPr/>
        </p:nvSpPr>
        <p:spPr>
          <a:xfrm>
            <a:off x="640080" y="2569464"/>
            <a:ext cx="5257800" cy="841248"/>
          </a:xfrm>
          <a:prstGeom prst="roundRect">
            <a:avLst>
              <a:gd name="adj" fmla="val 978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2" name="Shape 10"/>
          <p:cNvSpPr/>
          <p:nvPr/>
        </p:nvSpPr>
        <p:spPr>
          <a:xfrm>
            <a:off x="841248" y="2734056"/>
            <a:ext cx="512064" cy="512064"/>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13" name="Text 11"/>
          <p:cNvSpPr/>
          <p:nvPr/>
        </p:nvSpPr>
        <p:spPr>
          <a:xfrm>
            <a:off x="841248" y="2734056"/>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536192" y="2679192"/>
            <a:ext cx="4251960" cy="365760"/>
          </a:xfrm>
          <a:prstGeom prst="rect">
            <a:avLst/>
          </a:prstGeom>
          <a:noFill/>
          <a:ln/>
        </p:spPr>
        <p:txBody>
          <a:bodyPr wrap="square" rtlCol="0" anchor="ctr"/>
          <a:lstStyle/>
          <a:p>
            <a:pPr marL="0" indent="0">
              <a:buNone/>
            </a:pPr>
            <a:r>
              <a:rPr lang="en-US" sz="1500" b="1" dirty="0">
                <a:solidFill>
                  <a:srgbClr val="F37022"/>
                </a:solidFill>
                <a:latin typeface="Calibri" pitchFamily="34" charset="0"/>
                <a:ea typeface="Calibri" pitchFamily="34" charset="-122"/>
                <a:cs typeface="Calibri" pitchFamily="34" charset="-120"/>
              </a:rPr>
              <a:t>Trừ bảo hiểm</a:t>
            </a:r>
            <a:endParaRPr lang="en-US" sz="1500" dirty="0"/>
          </a:p>
        </p:txBody>
      </p:sp>
      <p:sp>
        <p:nvSpPr>
          <p:cNvPr id="15" name="Text 13"/>
          <p:cNvSpPr/>
          <p:nvPr/>
        </p:nvSpPr>
        <p:spPr>
          <a:xfrm>
            <a:off x="1536192" y="3026664"/>
            <a:ext cx="4206240" cy="329184"/>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BHXH 8% + BHYT 1,5% + BHTN 1%</a:t>
            </a:r>
            <a:endParaRPr lang="en-US" sz="1150" dirty="0"/>
          </a:p>
        </p:txBody>
      </p:sp>
      <p:sp>
        <p:nvSpPr>
          <p:cNvPr id="16" name="Shape 14"/>
          <p:cNvSpPr/>
          <p:nvPr/>
        </p:nvSpPr>
        <p:spPr>
          <a:xfrm>
            <a:off x="640080" y="3538728"/>
            <a:ext cx="5257800" cy="841248"/>
          </a:xfrm>
          <a:prstGeom prst="roundRect">
            <a:avLst>
              <a:gd name="adj" fmla="val 978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7" name="Shape 15"/>
          <p:cNvSpPr/>
          <p:nvPr/>
        </p:nvSpPr>
        <p:spPr>
          <a:xfrm>
            <a:off x="841248" y="3703320"/>
            <a:ext cx="512064" cy="512064"/>
          </a:xfrm>
          <a:prstGeom prst="ellipse">
            <a:avLst/>
          </a:prstGeom>
          <a:solidFill>
            <a:srgbClr val="124DA3"/>
          </a:solidFill>
          <a:ln/>
          <a:effectLst>
            <a:outerShdw blurRad="114300" dist="38100" dir="5400000" algn="bl" rotWithShape="0">
              <a:srgbClr val="1E293B">
                <a:alpha val="16000"/>
              </a:srgbClr>
            </a:outerShdw>
          </a:effectLst>
        </p:spPr>
        <p:txBody>
          <a:bodyPr/>
          <a:lstStyle/>
          <a:p>
            <a:endParaRPr lang="en-US"/>
          </a:p>
        </p:txBody>
      </p:sp>
      <p:sp>
        <p:nvSpPr>
          <p:cNvPr id="18" name="Text 16"/>
          <p:cNvSpPr/>
          <p:nvPr/>
        </p:nvSpPr>
        <p:spPr>
          <a:xfrm>
            <a:off x="841248" y="3703320"/>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536192" y="3648456"/>
            <a:ext cx="4251960" cy="365760"/>
          </a:xfrm>
          <a:prstGeom prst="rect">
            <a:avLst/>
          </a:prstGeom>
          <a:noFill/>
          <a:ln/>
        </p:spPr>
        <p:txBody>
          <a:bodyPr wrap="square" rtlCol="0" anchor="ctr"/>
          <a:lstStyle/>
          <a:p>
            <a:pPr marL="0" indent="0">
              <a:buNone/>
            </a:pPr>
            <a:r>
              <a:rPr lang="en-US" sz="1500" b="1" dirty="0">
                <a:solidFill>
                  <a:srgbClr val="124DA3"/>
                </a:solidFill>
                <a:latin typeface="Calibri" pitchFamily="34" charset="0"/>
                <a:ea typeface="Calibri" pitchFamily="34" charset="-122"/>
                <a:cs typeface="Calibri" pitchFamily="34" charset="-120"/>
              </a:rPr>
              <a:t>Giảm trừ gia cảnh</a:t>
            </a:r>
            <a:endParaRPr lang="en-US" sz="1500" dirty="0"/>
          </a:p>
        </p:txBody>
      </p:sp>
      <p:sp>
        <p:nvSpPr>
          <p:cNvPr id="20" name="Text 18"/>
          <p:cNvSpPr/>
          <p:nvPr/>
        </p:nvSpPr>
        <p:spPr>
          <a:xfrm>
            <a:off x="1536192" y="3995928"/>
            <a:ext cx="4206240" cy="329184"/>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Bản thân 15,5tr + mỗi người phụ thuộc 6,2tr</a:t>
            </a:r>
            <a:endParaRPr lang="en-US" sz="1150" dirty="0"/>
          </a:p>
        </p:txBody>
      </p:sp>
      <p:sp>
        <p:nvSpPr>
          <p:cNvPr id="21" name="Shape 19"/>
          <p:cNvSpPr/>
          <p:nvPr/>
        </p:nvSpPr>
        <p:spPr>
          <a:xfrm>
            <a:off x="640080" y="4507992"/>
            <a:ext cx="5257800" cy="841248"/>
          </a:xfrm>
          <a:prstGeom prst="roundRect">
            <a:avLst>
              <a:gd name="adj" fmla="val 978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2" name="Shape 20"/>
          <p:cNvSpPr/>
          <p:nvPr/>
        </p:nvSpPr>
        <p:spPr>
          <a:xfrm>
            <a:off x="841248" y="4672584"/>
            <a:ext cx="512064" cy="512064"/>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23" name="Text 21"/>
          <p:cNvSpPr/>
          <p:nvPr/>
        </p:nvSpPr>
        <p:spPr>
          <a:xfrm>
            <a:off x="841248" y="4672584"/>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1536192" y="4617720"/>
            <a:ext cx="4251960" cy="365760"/>
          </a:xfrm>
          <a:prstGeom prst="rect">
            <a:avLst/>
          </a:prstGeom>
          <a:noFill/>
          <a:ln/>
        </p:spPr>
        <p:txBody>
          <a:bodyPr wrap="square" rtlCol="0" anchor="ctr"/>
          <a:lstStyle/>
          <a:p>
            <a:pPr marL="0" indent="0">
              <a:buNone/>
            </a:pPr>
            <a:r>
              <a:rPr lang="en-US" sz="1500" b="1" dirty="0">
                <a:solidFill>
                  <a:srgbClr val="F37022"/>
                </a:solidFill>
                <a:latin typeface="Calibri" pitchFamily="34" charset="0"/>
                <a:ea typeface="Calibri" pitchFamily="34" charset="-122"/>
                <a:cs typeface="Calibri" pitchFamily="34" charset="-120"/>
              </a:rPr>
              <a:t>Tính thuế TNCN</a:t>
            </a:r>
            <a:endParaRPr lang="en-US" sz="1500" dirty="0"/>
          </a:p>
        </p:txBody>
      </p:sp>
      <p:sp>
        <p:nvSpPr>
          <p:cNvPr id="25" name="Text 23"/>
          <p:cNvSpPr/>
          <p:nvPr/>
        </p:nvSpPr>
        <p:spPr>
          <a:xfrm>
            <a:off x="1536192" y="4965192"/>
            <a:ext cx="4206240" cy="329184"/>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Theo bậc lũy tiến trên thu nhập chịu thuế</a:t>
            </a:r>
            <a:endParaRPr lang="en-US" sz="1150" dirty="0"/>
          </a:p>
        </p:txBody>
      </p:sp>
      <p:sp>
        <p:nvSpPr>
          <p:cNvPr id="26" name="Shape 24"/>
          <p:cNvSpPr/>
          <p:nvPr/>
        </p:nvSpPr>
        <p:spPr>
          <a:xfrm>
            <a:off x="640080" y="5477256"/>
            <a:ext cx="5257800" cy="841248"/>
          </a:xfrm>
          <a:prstGeom prst="roundRect">
            <a:avLst>
              <a:gd name="adj" fmla="val 978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7" name="Shape 25"/>
          <p:cNvSpPr/>
          <p:nvPr/>
        </p:nvSpPr>
        <p:spPr>
          <a:xfrm>
            <a:off x="841248" y="5641848"/>
            <a:ext cx="512064" cy="512064"/>
          </a:xfrm>
          <a:prstGeom prst="ellipse">
            <a:avLst/>
          </a:prstGeom>
          <a:solidFill>
            <a:srgbClr val="4EB748"/>
          </a:solidFill>
          <a:ln/>
          <a:effectLst>
            <a:outerShdw blurRad="114300" dist="38100" dir="5400000" algn="bl" rotWithShape="0">
              <a:srgbClr val="1E293B">
                <a:alpha val="16000"/>
              </a:srgbClr>
            </a:outerShdw>
          </a:effectLst>
        </p:spPr>
        <p:txBody>
          <a:bodyPr/>
          <a:lstStyle/>
          <a:p>
            <a:endParaRPr lang="en-US"/>
          </a:p>
        </p:txBody>
      </p:sp>
      <p:sp>
        <p:nvSpPr>
          <p:cNvPr id="28" name="Text 26"/>
          <p:cNvSpPr/>
          <p:nvPr/>
        </p:nvSpPr>
        <p:spPr>
          <a:xfrm>
            <a:off x="841248" y="5641848"/>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1536192" y="5586984"/>
            <a:ext cx="4251960" cy="365760"/>
          </a:xfrm>
          <a:prstGeom prst="rect">
            <a:avLst/>
          </a:prstGeom>
          <a:noFill/>
          <a:ln/>
        </p:spPr>
        <p:txBody>
          <a:bodyPr wrap="square" rtlCol="0" anchor="ctr"/>
          <a:lstStyle/>
          <a:p>
            <a:pPr marL="0" indent="0">
              <a:buNone/>
            </a:pPr>
            <a:r>
              <a:rPr lang="en-US" sz="1500" b="1" dirty="0">
                <a:solidFill>
                  <a:srgbClr val="4EB748"/>
                </a:solidFill>
                <a:latin typeface="Calibri" pitchFamily="34" charset="0"/>
                <a:ea typeface="Calibri" pitchFamily="34" charset="-122"/>
                <a:cs typeface="Calibri" pitchFamily="34" charset="-120"/>
              </a:rPr>
              <a:t>Ra lương thực nhận</a:t>
            </a:r>
            <a:endParaRPr lang="en-US" sz="1500" dirty="0"/>
          </a:p>
        </p:txBody>
      </p:sp>
      <p:sp>
        <p:nvSpPr>
          <p:cNvPr id="30" name="Text 28"/>
          <p:cNvSpPr/>
          <p:nvPr/>
        </p:nvSpPr>
        <p:spPr>
          <a:xfrm>
            <a:off x="1536192" y="5934456"/>
            <a:ext cx="4206240" cy="329184"/>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Số tiền nhân viên nhận về tay</a:t>
            </a:r>
            <a:endParaRPr lang="en-US" sz="1150" dirty="0"/>
          </a:p>
        </p:txBody>
      </p:sp>
      <p:sp>
        <p:nvSpPr>
          <p:cNvPr id="31" name="Shape 29"/>
          <p:cNvSpPr/>
          <p:nvPr/>
        </p:nvSpPr>
        <p:spPr>
          <a:xfrm>
            <a:off x="6263640" y="1600200"/>
            <a:ext cx="5257800" cy="4828032"/>
          </a:xfrm>
          <a:prstGeom prst="roundRect">
            <a:avLst>
              <a:gd name="adj" fmla="val 1894"/>
            </a:avLst>
          </a:prstGeom>
          <a:solidFill>
            <a:srgbClr val="0F1E3D"/>
          </a:solidFill>
          <a:ln/>
          <a:effectLst>
            <a:outerShdw blurRad="114300" dist="38100" dir="5400000" algn="bl" rotWithShape="0">
              <a:srgbClr val="1E293B">
                <a:alpha val="16000"/>
              </a:srgbClr>
            </a:outerShdw>
          </a:effectLst>
        </p:spPr>
        <p:txBody>
          <a:bodyPr/>
          <a:lstStyle/>
          <a:p>
            <a:endParaRPr lang="en-US"/>
          </a:p>
        </p:txBody>
      </p:sp>
      <p:sp>
        <p:nvSpPr>
          <p:cNvPr id="32" name="Text 30"/>
          <p:cNvSpPr/>
          <p:nvPr/>
        </p:nvSpPr>
        <p:spPr>
          <a:xfrm>
            <a:off x="6583680" y="1783080"/>
            <a:ext cx="4617720" cy="365760"/>
          </a:xfrm>
          <a:prstGeom prst="rect">
            <a:avLst/>
          </a:prstGeom>
          <a:noFill/>
          <a:ln/>
        </p:spPr>
        <p:txBody>
          <a:bodyPr wrap="square"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VÍ DỤ CỤ THỂ (đồng/tháng)</a:t>
            </a:r>
            <a:endParaRPr lang="en-US" sz="1400" dirty="0"/>
          </a:p>
        </p:txBody>
      </p:sp>
      <p:sp>
        <p:nvSpPr>
          <p:cNvPr id="33" name="Text 31"/>
          <p:cNvSpPr/>
          <p:nvPr/>
        </p:nvSpPr>
        <p:spPr>
          <a:xfrm>
            <a:off x="6583680" y="2258568"/>
            <a:ext cx="3383280" cy="411480"/>
          </a:xfrm>
          <a:prstGeom prst="rect">
            <a:avLst/>
          </a:prstGeom>
          <a:noFill/>
          <a:ln/>
        </p:spPr>
        <p:txBody>
          <a:bodyPr wrap="square" rtlCol="0" anchor="ctr"/>
          <a:lstStyle/>
          <a:p>
            <a:pPr marL="0" indent="0">
              <a:buNone/>
            </a:pPr>
            <a:r>
              <a:rPr lang="en-US" sz="1250" dirty="0">
                <a:solidFill>
                  <a:srgbClr val="CBD5E1"/>
                </a:solidFill>
                <a:latin typeface="Calibri" pitchFamily="34" charset="0"/>
                <a:ea typeface="Calibri" pitchFamily="34" charset="-122"/>
                <a:cs typeface="Calibri" pitchFamily="34" charset="-120"/>
              </a:rPr>
              <a:t>Lương cơ bản</a:t>
            </a:r>
            <a:endParaRPr lang="en-US" sz="1250" dirty="0"/>
          </a:p>
        </p:txBody>
      </p:sp>
      <p:sp>
        <p:nvSpPr>
          <p:cNvPr id="34" name="Text 32"/>
          <p:cNvSpPr/>
          <p:nvPr/>
        </p:nvSpPr>
        <p:spPr>
          <a:xfrm>
            <a:off x="9829800" y="2258568"/>
            <a:ext cx="1554480" cy="411480"/>
          </a:xfrm>
          <a:prstGeom prst="rect">
            <a:avLst/>
          </a:prstGeom>
          <a:noFill/>
          <a:ln/>
        </p:spPr>
        <p:txBody>
          <a:bodyPr wrap="square"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30.000.000</a:t>
            </a:r>
            <a:endParaRPr lang="en-US" sz="1300" dirty="0"/>
          </a:p>
        </p:txBody>
      </p:sp>
      <p:sp>
        <p:nvSpPr>
          <p:cNvPr id="35" name="Text 33"/>
          <p:cNvSpPr/>
          <p:nvPr/>
        </p:nvSpPr>
        <p:spPr>
          <a:xfrm>
            <a:off x="6583680" y="2720340"/>
            <a:ext cx="3383280" cy="411480"/>
          </a:xfrm>
          <a:prstGeom prst="rect">
            <a:avLst/>
          </a:prstGeom>
          <a:noFill/>
          <a:ln/>
        </p:spPr>
        <p:txBody>
          <a:bodyPr wrap="square"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Phụ cấp</a:t>
            </a:r>
            <a:endParaRPr lang="en-US" sz="1250" dirty="0"/>
          </a:p>
        </p:txBody>
      </p:sp>
      <p:sp>
        <p:nvSpPr>
          <p:cNvPr id="36" name="Text 34"/>
          <p:cNvSpPr/>
          <p:nvPr/>
        </p:nvSpPr>
        <p:spPr>
          <a:xfrm>
            <a:off x="9829800" y="2720340"/>
            <a:ext cx="1554480" cy="411480"/>
          </a:xfrm>
          <a:prstGeom prst="rect">
            <a:avLst/>
          </a:prstGeom>
          <a:noFill/>
          <a:ln/>
        </p:spPr>
        <p:txBody>
          <a:bodyPr wrap="square"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2.000.000</a:t>
            </a:r>
            <a:endParaRPr lang="en-US" sz="1300" dirty="0"/>
          </a:p>
        </p:txBody>
      </p:sp>
      <p:sp>
        <p:nvSpPr>
          <p:cNvPr id="37" name="Text 35"/>
          <p:cNvSpPr/>
          <p:nvPr/>
        </p:nvSpPr>
        <p:spPr>
          <a:xfrm>
            <a:off x="6583680" y="3182112"/>
            <a:ext cx="3383280" cy="411480"/>
          </a:xfrm>
          <a:prstGeom prst="rect">
            <a:avLst/>
          </a:prstGeom>
          <a:noFill/>
          <a:ln/>
        </p:spPr>
        <p:txBody>
          <a:bodyPr wrap="square"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Tổng thu nhập (Gross)</a:t>
            </a:r>
            <a:endParaRPr lang="en-US" sz="1250" dirty="0"/>
          </a:p>
        </p:txBody>
      </p:sp>
      <p:sp>
        <p:nvSpPr>
          <p:cNvPr id="38" name="Text 36"/>
          <p:cNvSpPr/>
          <p:nvPr/>
        </p:nvSpPr>
        <p:spPr>
          <a:xfrm>
            <a:off x="9829800" y="3182112"/>
            <a:ext cx="1554480" cy="411480"/>
          </a:xfrm>
          <a:prstGeom prst="rect">
            <a:avLst/>
          </a:prstGeom>
          <a:noFill/>
          <a:ln/>
        </p:spPr>
        <p:txBody>
          <a:bodyPr wrap="square" rtlCol="0" anchor="ctr"/>
          <a:lstStyle/>
          <a:p>
            <a:pPr marL="0" indent="0" algn="r">
              <a:buNone/>
            </a:pPr>
            <a:r>
              <a:rPr lang="en-US" sz="1300" b="1" dirty="0">
                <a:solidFill>
                  <a:srgbClr val="3B82F6"/>
                </a:solidFill>
                <a:latin typeface="Calibri" pitchFamily="34" charset="0"/>
                <a:ea typeface="Calibri" pitchFamily="34" charset="-122"/>
                <a:cs typeface="Calibri" pitchFamily="34" charset="-120"/>
              </a:rPr>
              <a:t>32.000.000</a:t>
            </a:r>
            <a:endParaRPr lang="en-US" sz="1300" dirty="0"/>
          </a:p>
        </p:txBody>
      </p:sp>
      <p:sp>
        <p:nvSpPr>
          <p:cNvPr id="39" name="Text 37"/>
          <p:cNvSpPr/>
          <p:nvPr/>
        </p:nvSpPr>
        <p:spPr>
          <a:xfrm>
            <a:off x="6583680" y="3643884"/>
            <a:ext cx="3383280" cy="411480"/>
          </a:xfrm>
          <a:prstGeom prst="rect">
            <a:avLst/>
          </a:prstGeom>
          <a:noFill/>
          <a:ln/>
        </p:spPr>
        <p:txBody>
          <a:bodyPr wrap="square"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Bảo hiểm (10,5% × 30tr)</a:t>
            </a:r>
            <a:endParaRPr lang="en-US" sz="1250" dirty="0"/>
          </a:p>
        </p:txBody>
      </p:sp>
      <p:sp>
        <p:nvSpPr>
          <p:cNvPr id="40" name="Text 38"/>
          <p:cNvSpPr/>
          <p:nvPr/>
        </p:nvSpPr>
        <p:spPr>
          <a:xfrm>
            <a:off x="9829800" y="3643884"/>
            <a:ext cx="1554480" cy="411480"/>
          </a:xfrm>
          <a:prstGeom prst="rect">
            <a:avLst/>
          </a:prstGeom>
          <a:noFill/>
          <a:ln/>
        </p:spPr>
        <p:txBody>
          <a:bodyPr wrap="square" rtlCol="0" anchor="ctr"/>
          <a:lstStyle/>
          <a:p>
            <a:pPr marL="0" indent="0" algn="r">
              <a:buNone/>
            </a:pPr>
            <a:r>
              <a:rPr lang="en-US" sz="1300" b="1" dirty="0">
                <a:solidFill>
                  <a:srgbClr val="F37022"/>
                </a:solidFill>
                <a:latin typeface="Calibri" pitchFamily="34" charset="0"/>
                <a:ea typeface="Calibri" pitchFamily="34" charset="-122"/>
                <a:cs typeface="Calibri" pitchFamily="34" charset="-120"/>
              </a:rPr>
              <a:t>−3.150.000</a:t>
            </a:r>
            <a:endParaRPr lang="en-US" sz="1300" dirty="0"/>
          </a:p>
        </p:txBody>
      </p:sp>
      <p:sp>
        <p:nvSpPr>
          <p:cNvPr id="41" name="Text 39"/>
          <p:cNvSpPr/>
          <p:nvPr/>
        </p:nvSpPr>
        <p:spPr>
          <a:xfrm>
            <a:off x="6583680" y="4105656"/>
            <a:ext cx="3383280" cy="411480"/>
          </a:xfrm>
          <a:prstGeom prst="rect">
            <a:avLst/>
          </a:prstGeom>
          <a:noFill/>
          <a:ln/>
        </p:spPr>
        <p:txBody>
          <a:bodyPr wrap="square"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Giảm trừ (15,5tr + 6,2tr)</a:t>
            </a:r>
            <a:endParaRPr lang="en-US" sz="1250" dirty="0"/>
          </a:p>
        </p:txBody>
      </p:sp>
      <p:sp>
        <p:nvSpPr>
          <p:cNvPr id="42" name="Text 40"/>
          <p:cNvSpPr/>
          <p:nvPr/>
        </p:nvSpPr>
        <p:spPr>
          <a:xfrm>
            <a:off x="9829800" y="4105656"/>
            <a:ext cx="1554480" cy="411480"/>
          </a:xfrm>
          <a:prstGeom prst="rect">
            <a:avLst/>
          </a:prstGeom>
          <a:noFill/>
          <a:ln/>
        </p:spPr>
        <p:txBody>
          <a:bodyPr wrap="square" rtlCol="0" anchor="ctr"/>
          <a:lstStyle/>
          <a:p>
            <a:pPr marL="0" indent="0" algn="r">
              <a:buNone/>
            </a:pPr>
            <a:r>
              <a:rPr lang="en-US" sz="1300" b="1" dirty="0">
                <a:solidFill>
                  <a:srgbClr val="F37022"/>
                </a:solidFill>
                <a:latin typeface="Calibri" pitchFamily="34" charset="0"/>
                <a:ea typeface="Calibri" pitchFamily="34" charset="-122"/>
                <a:cs typeface="Calibri" pitchFamily="34" charset="-120"/>
              </a:rPr>
              <a:t>−21.700.000</a:t>
            </a:r>
            <a:endParaRPr lang="en-US" sz="1300" dirty="0"/>
          </a:p>
        </p:txBody>
      </p:sp>
      <p:sp>
        <p:nvSpPr>
          <p:cNvPr id="43" name="Text 41"/>
          <p:cNvSpPr/>
          <p:nvPr/>
        </p:nvSpPr>
        <p:spPr>
          <a:xfrm>
            <a:off x="6583680" y="4567428"/>
            <a:ext cx="3383280" cy="411480"/>
          </a:xfrm>
          <a:prstGeom prst="rect">
            <a:avLst/>
          </a:prstGeom>
          <a:noFill/>
          <a:ln/>
        </p:spPr>
        <p:txBody>
          <a:bodyPr wrap="square"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Thu nhập chịu thuế</a:t>
            </a:r>
            <a:endParaRPr lang="en-US" sz="1250" dirty="0"/>
          </a:p>
        </p:txBody>
      </p:sp>
      <p:sp>
        <p:nvSpPr>
          <p:cNvPr id="44" name="Text 42"/>
          <p:cNvSpPr/>
          <p:nvPr/>
        </p:nvSpPr>
        <p:spPr>
          <a:xfrm>
            <a:off x="9829800" y="4567428"/>
            <a:ext cx="1554480" cy="411480"/>
          </a:xfrm>
          <a:prstGeom prst="rect">
            <a:avLst/>
          </a:prstGeom>
          <a:noFill/>
          <a:ln/>
        </p:spPr>
        <p:txBody>
          <a:bodyPr wrap="square"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7.150.000</a:t>
            </a:r>
            <a:endParaRPr lang="en-US" sz="1300" dirty="0"/>
          </a:p>
        </p:txBody>
      </p:sp>
      <p:sp>
        <p:nvSpPr>
          <p:cNvPr id="45" name="Text 43"/>
          <p:cNvSpPr/>
          <p:nvPr/>
        </p:nvSpPr>
        <p:spPr>
          <a:xfrm>
            <a:off x="6583680" y="5029200"/>
            <a:ext cx="3383280" cy="411480"/>
          </a:xfrm>
          <a:prstGeom prst="rect">
            <a:avLst/>
          </a:prstGeom>
          <a:noFill/>
          <a:ln/>
        </p:spPr>
        <p:txBody>
          <a:bodyPr wrap="square"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Thuế TNCN (bậc 5%)</a:t>
            </a:r>
            <a:endParaRPr lang="en-US" sz="1250" dirty="0"/>
          </a:p>
        </p:txBody>
      </p:sp>
      <p:sp>
        <p:nvSpPr>
          <p:cNvPr id="46" name="Text 44"/>
          <p:cNvSpPr/>
          <p:nvPr/>
        </p:nvSpPr>
        <p:spPr>
          <a:xfrm>
            <a:off x="9829800" y="5029200"/>
            <a:ext cx="1554480" cy="411480"/>
          </a:xfrm>
          <a:prstGeom prst="rect">
            <a:avLst/>
          </a:prstGeom>
          <a:noFill/>
          <a:ln/>
        </p:spPr>
        <p:txBody>
          <a:bodyPr wrap="square" rtlCol="0" anchor="ctr"/>
          <a:lstStyle/>
          <a:p>
            <a:pPr marL="0" indent="0" algn="r">
              <a:buNone/>
            </a:pPr>
            <a:r>
              <a:rPr lang="en-US" sz="1300" b="1" dirty="0">
                <a:solidFill>
                  <a:srgbClr val="F37022"/>
                </a:solidFill>
                <a:latin typeface="Calibri" pitchFamily="34" charset="0"/>
                <a:ea typeface="Calibri" pitchFamily="34" charset="-122"/>
                <a:cs typeface="Calibri" pitchFamily="34" charset="-120"/>
              </a:rPr>
              <a:t>−357.500</a:t>
            </a:r>
            <a:endParaRPr lang="en-US" sz="1300" dirty="0"/>
          </a:p>
        </p:txBody>
      </p:sp>
      <p:sp>
        <p:nvSpPr>
          <p:cNvPr id="47" name="Shape 45"/>
          <p:cNvSpPr/>
          <p:nvPr/>
        </p:nvSpPr>
        <p:spPr>
          <a:xfrm>
            <a:off x="6583680" y="5577840"/>
            <a:ext cx="4617720" cy="0"/>
          </a:xfrm>
          <a:prstGeom prst="line">
            <a:avLst/>
          </a:prstGeom>
          <a:noFill/>
          <a:ln w="15240">
            <a:solidFill>
              <a:srgbClr val="33456B"/>
            </a:solidFill>
            <a:prstDash val="solid"/>
          </a:ln>
        </p:spPr>
        <p:txBody>
          <a:bodyPr/>
          <a:lstStyle/>
          <a:p>
            <a:endParaRPr lang="en-US"/>
          </a:p>
        </p:txBody>
      </p:sp>
      <p:sp>
        <p:nvSpPr>
          <p:cNvPr id="48" name="Text 46"/>
          <p:cNvSpPr/>
          <p:nvPr/>
        </p:nvSpPr>
        <p:spPr>
          <a:xfrm>
            <a:off x="6583680" y="5715000"/>
            <a:ext cx="3017520" cy="548640"/>
          </a:xfrm>
          <a:prstGeom prst="rect">
            <a:avLst/>
          </a:prstGeom>
          <a:noFill/>
          <a:ln/>
        </p:spPr>
        <p:txBody>
          <a:bodyPr wrap="square" rtlCol="0" anchor="ctr"/>
          <a:lstStyle/>
          <a:p>
            <a:pPr marL="0" indent="0">
              <a:buNone/>
            </a:pPr>
            <a:r>
              <a:rPr lang="en-US" sz="1500" b="1" dirty="0">
                <a:solidFill>
                  <a:srgbClr val="4EB748"/>
                </a:solidFill>
                <a:latin typeface="Calibri" pitchFamily="34" charset="0"/>
                <a:ea typeface="Calibri" pitchFamily="34" charset="-122"/>
                <a:cs typeface="Calibri" pitchFamily="34" charset="-120"/>
              </a:rPr>
              <a:t>THỰC NHẬN (NET)</a:t>
            </a:r>
            <a:endParaRPr lang="en-US" sz="1500" dirty="0"/>
          </a:p>
        </p:txBody>
      </p:sp>
      <p:sp>
        <p:nvSpPr>
          <p:cNvPr id="49" name="Text 47"/>
          <p:cNvSpPr/>
          <p:nvPr/>
        </p:nvSpPr>
        <p:spPr>
          <a:xfrm>
            <a:off x="9464040" y="5715000"/>
            <a:ext cx="1920240" cy="548640"/>
          </a:xfrm>
          <a:prstGeom prst="rect">
            <a:avLst/>
          </a:prstGeom>
          <a:noFill/>
          <a:ln/>
        </p:spPr>
        <p:txBody>
          <a:bodyPr wrap="square" rtlCol="0" anchor="ctr"/>
          <a:lstStyle/>
          <a:p>
            <a:pPr marL="0" indent="0" algn="r">
              <a:buNone/>
            </a:pPr>
            <a:r>
              <a:rPr lang="en-US" sz="2000" b="1" dirty="0">
                <a:solidFill>
                  <a:srgbClr val="4EB748"/>
                </a:solidFill>
                <a:latin typeface="Calibri" pitchFamily="34" charset="0"/>
                <a:ea typeface="Calibri" pitchFamily="34" charset="-122"/>
                <a:cs typeface="Calibri" pitchFamily="34" charset="-120"/>
              </a:rPr>
              <a:t>28.492.500</a:t>
            </a:r>
            <a:endParaRPr lang="en-US" sz="2000" dirty="0"/>
          </a:p>
        </p:txBody>
      </p:sp>
      <p:sp>
        <p:nvSpPr>
          <p:cNvPr id="51" name="Shape 48"/>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52"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ỨNG DỤNG AI</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AI giúp việc nhân sự thông minh hơn</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Shape 4"/>
          <p:cNvSpPr/>
          <p:nvPr/>
        </p:nvSpPr>
        <p:spPr>
          <a:xfrm>
            <a:off x="777240" y="1828800"/>
            <a:ext cx="5349240" cy="3291840"/>
          </a:xfrm>
          <a:prstGeom prst="roundRect">
            <a:avLst>
              <a:gd name="adj" fmla="val 250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7" name="Shape 5"/>
          <p:cNvSpPr/>
          <p:nvPr/>
        </p:nvSpPr>
        <p:spPr>
          <a:xfrm>
            <a:off x="2811780" y="2240280"/>
            <a:ext cx="1280160" cy="1280160"/>
          </a:xfrm>
          <a:prstGeom prst="ellipse">
            <a:avLst/>
          </a:prstGeom>
          <a:solidFill>
            <a:srgbClr val="E8F0FB"/>
          </a:solidFill>
          <a:ln w="25400">
            <a:solidFill>
              <a:srgbClr val="F37022"/>
            </a:solidFill>
            <a:prstDash val="solid"/>
          </a:ln>
        </p:spPr>
        <p:txBody>
          <a:bodyPr/>
          <a:lstStyle/>
          <a:p>
            <a:endParaRPr lang="en-US"/>
          </a:p>
        </p:txBody>
      </p:sp>
      <p:sp>
        <p:nvSpPr>
          <p:cNvPr id="8" name="Text 6"/>
          <p:cNvSpPr/>
          <p:nvPr/>
        </p:nvSpPr>
        <p:spPr>
          <a:xfrm>
            <a:off x="2811780" y="2240280"/>
            <a:ext cx="1280160" cy="1280160"/>
          </a:xfrm>
          <a:prstGeom prst="rect">
            <a:avLst/>
          </a:prstGeom>
          <a:noFill/>
          <a:ln/>
        </p:spPr>
        <p:txBody>
          <a:bodyPr wrap="square" rtlCol="0" anchor="ctr"/>
          <a:lstStyle/>
          <a:p>
            <a:pPr marL="0" indent="0" algn="ctr">
              <a:buNone/>
            </a:pPr>
            <a:r>
              <a:rPr lang="en-US" sz="4800" dirty="0">
                <a:solidFill>
                  <a:srgbClr val="000000"/>
                </a:solidFill>
              </a:rPr>
              <a:t>🎯</a:t>
            </a:r>
            <a:endParaRPr lang="en-US" sz="4800" dirty="0"/>
          </a:p>
        </p:txBody>
      </p:sp>
      <p:sp>
        <p:nvSpPr>
          <p:cNvPr id="9" name="Text 7"/>
          <p:cNvSpPr/>
          <p:nvPr/>
        </p:nvSpPr>
        <p:spPr>
          <a:xfrm>
            <a:off x="1051560" y="3749040"/>
            <a:ext cx="4800600" cy="457200"/>
          </a:xfrm>
          <a:prstGeom prst="rect">
            <a:avLst/>
          </a:prstGeom>
          <a:noFill/>
          <a:ln/>
        </p:spPr>
        <p:txBody>
          <a:bodyPr wrap="square" rtlCol="0" anchor="ctr"/>
          <a:lstStyle/>
          <a:p>
            <a:pPr marL="0" indent="0" algn="ctr">
              <a:buNone/>
            </a:pPr>
            <a:r>
              <a:rPr lang="en-US" sz="1900" b="1" dirty="0">
                <a:solidFill>
                  <a:srgbClr val="F37022"/>
                </a:solidFill>
                <a:latin typeface="Calibri" pitchFamily="34" charset="0"/>
                <a:ea typeface="Calibri" pitchFamily="34" charset="-122"/>
                <a:cs typeface="Calibri" pitchFamily="34" charset="-120"/>
              </a:rPr>
              <a:t>AI chấm điểm ứng viên</a:t>
            </a:r>
            <a:endParaRPr lang="en-US" sz="1900" dirty="0"/>
          </a:p>
        </p:txBody>
      </p:sp>
      <p:sp>
        <p:nvSpPr>
          <p:cNvPr id="10" name="Text 8"/>
          <p:cNvSpPr/>
          <p:nvPr/>
        </p:nvSpPr>
        <p:spPr>
          <a:xfrm>
            <a:off x="1234440" y="4297680"/>
            <a:ext cx="4434840" cy="777240"/>
          </a:xfrm>
          <a:prstGeom prst="rect">
            <a:avLst/>
          </a:prstGeom>
          <a:noFill/>
          <a:ln/>
        </p:spPr>
        <p:txBody>
          <a:bodyPr wrap="square" rtlCol="0" anchor="ctr"/>
          <a:lstStyle/>
          <a:p>
            <a:pPr marL="0" indent="0" algn="ctr">
              <a:lnSpc>
                <a:spcPct val="106000"/>
              </a:lnSpc>
              <a:buNone/>
            </a:pPr>
            <a:r>
              <a:rPr lang="en-US" sz="1300" dirty="0">
                <a:solidFill>
                  <a:srgbClr val="64748B"/>
                </a:solidFill>
                <a:latin typeface="Calibri" pitchFamily="34" charset="0"/>
                <a:ea typeface="Calibri" pitchFamily="34" charset="-122"/>
                <a:cs typeface="Calibri" pitchFamily="34" charset="-120"/>
              </a:rPr>
              <a:t>Đọc hồ sơ và tự động cho điểm mức độ phù hợp với vị trí tuyển dụng, giúp HR lọc nhanh hàng trăm CV.</a:t>
            </a:r>
            <a:endParaRPr lang="en-US" sz="1300" dirty="0"/>
          </a:p>
        </p:txBody>
      </p:sp>
      <p:sp>
        <p:nvSpPr>
          <p:cNvPr id="11" name="Shape 9"/>
          <p:cNvSpPr/>
          <p:nvPr/>
        </p:nvSpPr>
        <p:spPr>
          <a:xfrm>
            <a:off x="6492240" y="1828800"/>
            <a:ext cx="5349240" cy="3291840"/>
          </a:xfrm>
          <a:prstGeom prst="roundRect">
            <a:avLst>
              <a:gd name="adj" fmla="val 2500"/>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2" name="Shape 10"/>
          <p:cNvSpPr/>
          <p:nvPr/>
        </p:nvSpPr>
        <p:spPr>
          <a:xfrm>
            <a:off x="8526780" y="2240280"/>
            <a:ext cx="1280160" cy="1280160"/>
          </a:xfrm>
          <a:prstGeom prst="ellipse">
            <a:avLst/>
          </a:prstGeom>
          <a:solidFill>
            <a:srgbClr val="E8F0FB"/>
          </a:solidFill>
          <a:ln w="25400">
            <a:solidFill>
              <a:srgbClr val="4EB748"/>
            </a:solidFill>
            <a:prstDash val="solid"/>
          </a:ln>
        </p:spPr>
        <p:txBody>
          <a:bodyPr/>
          <a:lstStyle/>
          <a:p>
            <a:endParaRPr lang="en-US"/>
          </a:p>
        </p:txBody>
      </p:sp>
      <p:sp>
        <p:nvSpPr>
          <p:cNvPr id="13" name="Text 11"/>
          <p:cNvSpPr/>
          <p:nvPr/>
        </p:nvSpPr>
        <p:spPr>
          <a:xfrm>
            <a:off x="8526780" y="2240280"/>
            <a:ext cx="1280160" cy="1280160"/>
          </a:xfrm>
          <a:prstGeom prst="rect">
            <a:avLst/>
          </a:prstGeom>
          <a:noFill/>
          <a:ln/>
        </p:spPr>
        <p:txBody>
          <a:bodyPr wrap="square" rtlCol="0" anchor="ctr"/>
          <a:lstStyle/>
          <a:p>
            <a:pPr marL="0" indent="0" algn="ctr">
              <a:buNone/>
            </a:pPr>
            <a:r>
              <a:rPr lang="en-US" sz="4800" dirty="0">
                <a:solidFill>
                  <a:srgbClr val="000000"/>
                </a:solidFill>
              </a:rPr>
              <a:t>💬</a:t>
            </a:r>
            <a:endParaRPr lang="en-US" sz="4800" dirty="0"/>
          </a:p>
        </p:txBody>
      </p:sp>
      <p:sp>
        <p:nvSpPr>
          <p:cNvPr id="14" name="Text 12"/>
          <p:cNvSpPr/>
          <p:nvPr/>
        </p:nvSpPr>
        <p:spPr>
          <a:xfrm>
            <a:off x="6766560" y="3749040"/>
            <a:ext cx="4800600" cy="457200"/>
          </a:xfrm>
          <a:prstGeom prst="rect">
            <a:avLst/>
          </a:prstGeom>
          <a:noFill/>
          <a:ln/>
        </p:spPr>
        <p:txBody>
          <a:bodyPr wrap="square" rtlCol="0" anchor="ctr"/>
          <a:lstStyle/>
          <a:p>
            <a:pPr marL="0" indent="0" algn="ctr">
              <a:buNone/>
            </a:pPr>
            <a:r>
              <a:rPr lang="en-US" sz="1900" b="1" dirty="0">
                <a:solidFill>
                  <a:srgbClr val="4EB748"/>
                </a:solidFill>
                <a:latin typeface="Calibri" pitchFamily="34" charset="0"/>
                <a:ea typeface="Calibri" pitchFamily="34" charset="-122"/>
                <a:cs typeface="Calibri" pitchFamily="34" charset="-120"/>
              </a:rPr>
              <a:t>Trợ lý HR thông minh</a:t>
            </a:r>
            <a:endParaRPr lang="en-US" sz="1900" dirty="0"/>
          </a:p>
        </p:txBody>
      </p:sp>
      <p:sp>
        <p:nvSpPr>
          <p:cNvPr id="15" name="Text 13"/>
          <p:cNvSpPr/>
          <p:nvPr/>
        </p:nvSpPr>
        <p:spPr>
          <a:xfrm>
            <a:off x="6949440" y="4297680"/>
            <a:ext cx="4434840" cy="777240"/>
          </a:xfrm>
          <a:prstGeom prst="rect">
            <a:avLst/>
          </a:prstGeom>
          <a:noFill/>
          <a:ln/>
        </p:spPr>
        <p:txBody>
          <a:bodyPr wrap="square" rtlCol="0" anchor="ctr"/>
          <a:lstStyle/>
          <a:p>
            <a:pPr marL="0" indent="0" algn="ctr">
              <a:lnSpc>
                <a:spcPct val="106000"/>
              </a:lnSpc>
              <a:buNone/>
            </a:pPr>
            <a:r>
              <a:rPr lang="en-US" sz="1300" dirty="0">
                <a:solidFill>
                  <a:srgbClr val="64748B"/>
                </a:solidFill>
                <a:latin typeface="Calibri" pitchFamily="34" charset="0"/>
                <a:ea typeface="Calibri" pitchFamily="34" charset="-122"/>
                <a:cs typeface="Calibri" pitchFamily="34" charset="-120"/>
              </a:rPr>
              <a:t>Nhân viên hỏi “còn mấy ngày phép?”, “lương tháng này?” → AI trả lời ngay bằng dữ liệu thật.</a:t>
            </a:r>
            <a:endParaRPr lang="en-US" sz="1300" dirty="0"/>
          </a:p>
        </p:txBody>
      </p:sp>
      <p:sp>
        <p:nvSpPr>
          <p:cNvPr id="16" name="Shape 14"/>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17"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AN TOÀN &amp; PHÂN QUYỀN</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Ai được thấy gì, làm gì?</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Text 4"/>
          <p:cNvSpPr/>
          <p:nvPr/>
        </p:nvSpPr>
        <p:spPr>
          <a:xfrm>
            <a:off x="640080" y="1417320"/>
            <a:ext cx="10881360" cy="36576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Mỗi vai trò chỉ nhìn thấy đúng phần việc của mình — bảo vệ dữ liệu nhạy cảm như lương.</a:t>
            </a:r>
            <a:endParaRPr lang="en-US" sz="1500" dirty="0"/>
          </a:p>
        </p:txBody>
      </p:sp>
      <p:sp>
        <p:nvSpPr>
          <p:cNvPr id="7" name="Shape 5"/>
          <p:cNvSpPr/>
          <p:nvPr/>
        </p:nvSpPr>
        <p:spPr>
          <a:xfrm>
            <a:off x="640080" y="2011680"/>
            <a:ext cx="2606040" cy="3017520"/>
          </a:xfrm>
          <a:prstGeom prst="roundRect">
            <a:avLst>
              <a:gd name="adj" fmla="val 3158"/>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8" name="Shape 6"/>
          <p:cNvSpPr/>
          <p:nvPr/>
        </p:nvSpPr>
        <p:spPr>
          <a:xfrm>
            <a:off x="1394460" y="2377440"/>
            <a:ext cx="1097280" cy="1097280"/>
          </a:xfrm>
          <a:prstGeom prst="ellipse">
            <a:avLst/>
          </a:prstGeom>
          <a:solidFill>
            <a:srgbClr val="F4F7FB"/>
          </a:solidFill>
          <a:ln w="25400">
            <a:solidFill>
              <a:srgbClr val="0F1E3D"/>
            </a:solidFill>
            <a:prstDash val="solid"/>
          </a:ln>
        </p:spPr>
        <p:txBody>
          <a:bodyPr/>
          <a:lstStyle/>
          <a:p>
            <a:endParaRPr lang="en-US"/>
          </a:p>
        </p:txBody>
      </p:sp>
      <p:sp>
        <p:nvSpPr>
          <p:cNvPr id="9" name="Text 7"/>
          <p:cNvSpPr/>
          <p:nvPr/>
        </p:nvSpPr>
        <p:spPr>
          <a:xfrm>
            <a:off x="1394460" y="2377440"/>
            <a:ext cx="1097280" cy="109728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10" name="Text 8"/>
          <p:cNvSpPr/>
          <p:nvPr/>
        </p:nvSpPr>
        <p:spPr>
          <a:xfrm>
            <a:off x="777240" y="3657600"/>
            <a:ext cx="2331720" cy="411480"/>
          </a:xfrm>
          <a:prstGeom prst="rect">
            <a:avLst/>
          </a:prstGeom>
          <a:noFill/>
          <a:ln/>
        </p:spPr>
        <p:txBody>
          <a:bodyPr wrap="square" rtlCol="0" anchor="ctr"/>
          <a:lstStyle/>
          <a:p>
            <a:pPr marL="0" indent="0" algn="ctr">
              <a:buNone/>
            </a:pPr>
            <a:r>
              <a:rPr lang="en-US" sz="1550" b="1" dirty="0">
                <a:solidFill>
                  <a:srgbClr val="0F1E3D"/>
                </a:solidFill>
                <a:latin typeface="Calibri" pitchFamily="34" charset="0"/>
                <a:ea typeface="Calibri" pitchFamily="34" charset="-122"/>
                <a:cs typeface="Calibri" pitchFamily="34" charset="-120"/>
              </a:rPr>
              <a:t>Quản trị (Admin)</a:t>
            </a:r>
            <a:endParaRPr lang="en-US" sz="1550" dirty="0"/>
          </a:p>
        </p:txBody>
      </p:sp>
      <p:sp>
        <p:nvSpPr>
          <p:cNvPr id="11" name="Text 9"/>
          <p:cNvSpPr/>
          <p:nvPr/>
        </p:nvSpPr>
        <p:spPr>
          <a:xfrm>
            <a:off x="868680" y="4114800"/>
            <a:ext cx="2148840" cy="777240"/>
          </a:xfrm>
          <a:prstGeom prst="rect">
            <a:avLst/>
          </a:prstGeom>
          <a:noFill/>
          <a:ln/>
        </p:spPr>
        <p:txBody>
          <a:bodyPr wrap="square" rtlCol="0" anchor="ctr"/>
          <a:lstStyle/>
          <a:p>
            <a:pPr marL="0" indent="0" algn="ctr">
              <a:lnSpc>
                <a:spcPct val="105000"/>
              </a:lnSpc>
              <a:buNone/>
            </a:pPr>
            <a:r>
              <a:rPr lang="en-US" sz="1200" dirty="0">
                <a:solidFill>
                  <a:srgbClr val="64748B"/>
                </a:solidFill>
                <a:latin typeface="Calibri" pitchFamily="34" charset="0"/>
                <a:ea typeface="Calibri" pitchFamily="34" charset="-122"/>
                <a:cs typeface="Calibri" pitchFamily="34" charset="-120"/>
              </a:rPr>
              <a:t>Toàn quyền cấu hình &amp; mọi module</a:t>
            </a:r>
            <a:endParaRPr lang="en-US" sz="1200" dirty="0"/>
          </a:p>
        </p:txBody>
      </p:sp>
      <p:sp>
        <p:nvSpPr>
          <p:cNvPr id="12" name="Shape 10"/>
          <p:cNvSpPr/>
          <p:nvPr/>
        </p:nvSpPr>
        <p:spPr>
          <a:xfrm>
            <a:off x="3465576" y="2011680"/>
            <a:ext cx="2606040" cy="3017520"/>
          </a:xfrm>
          <a:prstGeom prst="roundRect">
            <a:avLst>
              <a:gd name="adj" fmla="val 3158"/>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3" name="Shape 11"/>
          <p:cNvSpPr/>
          <p:nvPr/>
        </p:nvSpPr>
        <p:spPr>
          <a:xfrm>
            <a:off x="4219956" y="2377440"/>
            <a:ext cx="1097280" cy="1097280"/>
          </a:xfrm>
          <a:prstGeom prst="ellipse">
            <a:avLst/>
          </a:prstGeom>
          <a:solidFill>
            <a:srgbClr val="F4F7FB"/>
          </a:solidFill>
          <a:ln w="25400">
            <a:solidFill>
              <a:srgbClr val="124DA3"/>
            </a:solidFill>
            <a:prstDash val="solid"/>
          </a:ln>
        </p:spPr>
        <p:txBody>
          <a:bodyPr/>
          <a:lstStyle/>
          <a:p>
            <a:endParaRPr lang="en-US"/>
          </a:p>
        </p:txBody>
      </p:sp>
      <p:sp>
        <p:nvSpPr>
          <p:cNvPr id="14" name="Text 12"/>
          <p:cNvSpPr/>
          <p:nvPr/>
        </p:nvSpPr>
        <p:spPr>
          <a:xfrm>
            <a:off x="4219956" y="2377440"/>
            <a:ext cx="1097280" cy="109728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15" name="Text 13"/>
          <p:cNvSpPr/>
          <p:nvPr/>
        </p:nvSpPr>
        <p:spPr>
          <a:xfrm>
            <a:off x="3602736" y="3657600"/>
            <a:ext cx="2331720" cy="411480"/>
          </a:xfrm>
          <a:prstGeom prst="rect">
            <a:avLst/>
          </a:prstGeom>
          <a:noFill/>
          <a:ln/>
        </p:spPr>
        <p:txBody>
          <a:bodyPr wrap="square" rtlCol="0" anchor="ctr"/>
          <a:lstStyle/>
          <a:p>
            <a:pPr marL="0" indent="0" algn="ctr">
              <a:buNone/>
            </a:pPr>
            <a:r>
              <a:rPr lang="en-US" sz="1550" b="1" dirty="0">
                <a:solidFill>
                  <a:srgbClr val="124DA3"/>
                </a:solidFill>
                <a:latin typeface="Calibri" pitchFamily="34" charset="0"/>
                <a:ea typeface="Calibri" pitchFamily="34" charset="-122"/>
                <a:cs typeface="Calibri" pitchFamily="34" charset="-120"/>
              </a:rPr>
              <a:t>HR</a:t>
            </a:r>
            <a:endParaRPr lang="en-US" sz="1550" dirty="0"/>
          </a:p>
        </p:txBody>
      </p:sp>
      <p:sp>
        <p:nvSpPr>
          <p:cNvPr id="16" name="Text 14"/>
          <p:cNvSpPr/>
          <p:nvPr/>
        </p:nvSpPr>
        <p:spPr>
          <a:xfrm>
            <a:off x="3694176" y="4114800"/>
            <a:ext cx="2148840" cy="777240"/>
          </a:xfrm>
          <a:prstGeom prst="rect">
            <a:avLst/>
          </a:prstGeom>
          <a:noFill/>
          <a:ln/>
        </p:spPr>
        <p:txBody>
          <a:bodyPr wrap="square" rtlCol="0" anchor="ctr"/>
          <a:lstStyle/>
          <a:p>
            <a:pPr marL="0" indent="0" algn="ctr">
              <a:lnSpc>
                <a:spcPct val="105000"/>
              </a:lnSpc>
              <a:buNone/>
            </a:pPr>
            <a:r>
              <a:rPr lang="en-US" sz="1200" dirty="0">
                <a:solidFill>
                  <a:srgbClr val="64748B"/>
                </a:solidFill>
                <a:latin typeface="Calibri" pitchFamily="34" charset="0"/>
                <a:ea typeface="Calibri" pitchFamily="34" charset="-122"/>
                <a:cs typeface="Calibri" pitchFamily="34" charset="-120"/>
              </a:rPr>
              <a:t>Nhân sự, chấm công, lương, tuyển dụng</a:t>
            </a:r>
            <a:endParaRPr lang="en-US" sz="1200" dirty="0"/>
          </a:p>
        </p:txBody>
      </p:sp>
      <p:sp>
        <p:nvSpPr>
          <p:cNvPr id="17" name="Shape 15"/>
          <p:cNvSpPr/>
          <p:nvPr/>
        </p:nvSpPr>
        <p:spPr>
          <a:xfrm>
            <a:off x="6291072" y="2011680"/>
            <a:ext cx="2606040" cy="3017520"/>
          </a:xfrm>
          <a:prstGeom prst="roundRect">
            <a:avLst>
              <a:gd name="adj" fmla="val 3158"/>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8" name="Shape 16"/>
          <p:cNvSpPr/>
          <p:nvPr/>
        </p:nvSpPr>
        <p:spPr>
          <a:xfrm>
            <a:off x="7045452" y="2377440"/>
            <a:ext cx="1097280" cy="1097280"/>
          </a:xfrm>
          <a:prstGeom prst="ellipse">
            <a:avLst/>
          </a:prstGeom>
          <a:solidFill>
            <a:srgbClr val="F4F7FB"/>
          </a:solidFill>
          <a:ln w="25400">
            <a:solidFill>
              <a:srgbClr val="F37022"/>
            </a:solidFill>
            <a:prstDash val="solid"/>
          </a:ln>
        </p:spPr>
        <p:txBody>
          <a:bodyPr/>
          <a:lstStyle/>
          <a:p>
            <a:endParaRPr lang="en-US"/>
          </a:p>
        </p:txBody>
      </p:sp>
      <p:sp>
        <p:nvSpPr>
          <p:cNvPr id="19" name="Text 17"/>
          <p:cNvSpPr/>
          <p:nvPr/>
        </p:nvSpPr>
        <p:spPr>
          <a:xfrm>
            <a:off x="7045452" y="2377440"/>
            <a:ext cx="1097280" cy="109728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20" name="Text 18"/>
          <p:cNvSpPr/>
          <p:nvPr/>
        </p:nvSpPr>
        <p:spPr>
          <a:xfrm>
            <a:off x="6428232" y="3657600"/>
            <a:ext cx="2331720" cy="411480"/>
          </a:xfrm>
          <a:prstGeom prst="rect">
            <a:avLst/>
          </a:prstGeom>
          <a:noFill/>
          <a:ln/>
        </p:spPr>
        <p:txBody>
          <a:bodyPr wrap="square" rtlCol="0" anchor="ctr"/>
          <a:lstStyle/>
          <a:p>
            <a:pPr marL="0" indent="0" algn="ctr">
              <a:buNone/>
            </a:pPr>
            <a:r>
              <a:rPr lang="en-US" sz="1550" b="1" dirty="0">
                <a:solidFill>
                  <a:srgbClr val="F37022"/>
                </a:solidFill>
                <a:latin typeface="Calibri" pitchFamily="34" charset="0"/>
                <a:ea typeface="Calibri" pitchFamily="34" charset="-122"/>
                <a:cs typeface="Calibri" pitchFamily="34" charset="-120"/>
              </a:rPr>
              <a:t>Quản lý</a:t>
            </a:r>
            <a:endParaRPr lang="en-US" sz="1550" dirty="0"/>
          </a:p>
        </p:txBody>
      </p:sp>
      <p:sp>
        <p:nvSpPr>
          <p:cNvPr id="21" name="Text 19"/>
          <p:cNvSpPr/>
          <p:nvPr/>
        </p:nvSpPr>
        <p:spPr>
          <a:xfrm>
            <a:off x="6519672" y="4114800"/>
            <a:ext cx="2148840" cy="777240"/>
          </a:xfrm>
          <a:prstGeom prst="rect">
            <a:avLst/>
          </a:prstGeom>
          <a:noFill/>
          <a:ln/>
        </p:spPr>
        <p:txBody>
          <a:bodyPr wrap="square" rtlCol="0" anchor="ctr"/>
          <a:lstStyle/>
          <a:p>
            <a:pPr marL="0" indent="0" algn="ctr">
              <a:lnSpc>
                <a:spcPct val="105000"/>
              </a:lnSpc>
              <a:buNone/>
            </a:pPr>
            <a:r>
              <a:rPr lang="en-US" sz="1200" dirty="0">
                <a:solidFill>
                  <a:srgbClr val="64748B"/>
                </a:solidFill>
                <a:latin typeface="Calibri" pitchFamily="34" charset="0"/>
                <a:ea typeface="Calibri" pitchFamily="34" charset="-122"/>
                <a:cs typeface="Calibri" pitchFamily="34" charset="-120"/>
              </a:rPr>
              <a:t>Duyệt đơn, xem nhóm mình phụ trách</a:t>
            </a:r>
            <a:endParaRPr lang="en-US" sz="1200" dirty="0"/>
          </a:p>
        </p:txBody>
      </p:sp>
      <p:sp>
        <p:nvSpPr>
          <p:cNvPr id="22" name="Shape 20"/>
          <p:cNvSpPr/>
          <p:nvPr/>
        </p:nvSpPr>
        <p:spPr>
          <a:xfrm>
            <a:off x="9116568" y="2011680"/>
            <a:ext cx="2606040" cy="3017520"/>
          </a:xfrm>
          <a:prstGeom prst="roundRect">
            <a:avLst>
              <a:gd name="adj" fmla="val 3158"/>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23" name="Shape 21"/>
          <p:cNvSpPr/>
          <p:nvPr/>
        </p:nvSpPr>
        <p:spPr>
          <a:xfrm>
            <a:off x="9870948" y="2377440"/>
            <a:ext cx="1097280" cy="1097280"/>
          </a:xfrm>
          <a:prstGeom prst="ellipse">
            <a:avLst/>
          </a:prstGeom>
          <a:solidFill>
            <a:srgbClr val="F4F7FB"/>
          </a:solidFill>
          <a:ln w="25400">
            <a:solidFill>
              <a:srgbClr val="4EB748"/>
            </a:solidFill>
            <a:prstDash val="solid"/>
          </a:ln>
        </p:spPr>
        <p:txBody>
          <a:bodyPr/>
          <a:lstStyle/>
          <a:p>
            <a:endParaRPr lang="en-US"/>
          </a:p>
        </p:txBody>
      </p:sp>
      <p:sp>
        <p:nvSpPr>
          <p:cNvPr id="24" name="Text 22"/>
          <p:cNvSpPr/>
          <p:nvPr/>
        </p:nvSpPr>
        <p:spPr>
          <a:xfrm>
            <a:off x="9870948" y="2377440"/>
            <a:ext cx="1097280" cy="109728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25" name="Text 23"/>
          <p:cNvSpPr/>
          <p:nvPr/>
        </p:nvSpPr>
        <p:spPr>
          <a:xfrm>
            <a:off x="9253728" y="3657600"/>
            <a:ext cx="2331720" cy="411480"/>
          </a:xfrm>
          <a:prstGeom prst="rect">
            <a:avLst/>
          </a:prstGeom>
          <a:noFill/>
          <a:ln/>
        </p:spPr>
        <p:txBody>
          <a:bodyPr wrap="square" rtlCol="0" anchor="ctr"/>
          <a:lstStyle/>
          <a:p>
            <a:pPr marL="0" indent="0" algn="ctr">
              <a:buNone/>
            </a:pPr>
            <a:r>
              <a:rPr lang="en-US" sz="1550" b="1" dirty="0">
                <a:solidFill>
                  <a:srgbClr val="4EB748"/>
                </a:solidFill>
                <a:latin typeface="Calibri" pitchFamily="34" charset="0"/>
                <a:ea typeface="Calibri" pitchFamily="34" charset="-122"/>
                <a:cs typeface="Calibri" pitchFamily="34" charset="-120"/>
              </a:rPr>
              <a:t>Nhân viên</a:t>
            </a:r>
            <a:endParaRPr lang="en-US" sz="1550" dirty="0"/>
          </a:p>
        </p:txBody>
      </p:sp>
      <p:sp>
        <p:nvSpPr>
          <p:cNvPr id="26" name="Text 24"/>
          <p:cNvSpPr/>
          <p:nvPr/>
        </p:nvSpPr>
        <p:spPr>
          <a:xfrm>
            <a:off x="9345168" y="4114800"/>
            <a:ext cx="2148840" cy="777240"/>
          </a:xfrm>
          <a:prstGeom prst="rect">
            <a:avLst/>
          </a:prstGeom>
          <a:noFill/>
          <a:ln/>
        </p:spPr>
        <p:txBody>
          <a:bodyPr wrap="square" rtlCol="0" anchor="ctr"/>
          <a:lstStyle/>
          <a:p>
            <a:pPr marL="0" indent="0" algn="ctr">
              <a:lnSpc>
                <a:spcPct val="105000"/>
              </a:lnSpc>
              <a:buNone/>
            </a:pPr>
            <a:r>
              <a:rPr lang="en-US" sz="1200" dirty="0">
                <a:solidFill>
                  <a:srgbClr val="64748B"/>
                </a:solidFill>
                <a:latin typeface="Calibri" pitchFamily="34" charset="0"/>
                <a:ea typeface="Calibri" pitchFamily="34" charset="-122"/>
                <a:cs typeface="Calibri" pitchFamily="34" charset="-120"/>
              </a:rPr>
              <a:t>Tự chấm công, xin nghỉ, xem lương mình</a:t>
            </a:r>
            <a:endParaRPr lang="en-US" sz="1200" dirty="0"/>
          </a:p>
        </p:txBody>
      </p:sp>
      <p:sp>
        <p:nvSpPr>
          <p:cNvPr id="27" name="Text 25"/>
          <p:cNvSpPr/>
          <p:nvPr/>
        </p:nvSpPr>
        <p:spPr>
          <a:xfrm>
            <a:off x="640080" y="5806440"/>
            <a:ext cx="10881360" cy="365760"/>
          </a:xfrm>
          <a:prstGeom prst="rect">
            <a:avLst/>
          </a:prstGeom>
          <a:noFill/>
          <a:ln/>
        </p:spPr>
        <p:txBody>
          <a:bodyPr wrap="square" rtlCol="0" anchor="ctr"/>
          <a:lstStyle/>
          <a:p>
            <a:pPr marL="0" indent="0" algn="ctr">
              <a:buNone/>
            </a:pPr>
            <a:r>
              <a:rPr lang="en-US" sz="1350" b="1" dirty="0">
                <a:solidFill>
                  <a:srgbClr val="124DA3"/>
                </a:solidFill>
                <a:latin typeface="Calibri" pitchFamily="34" charset="0"/>
                <a:ea typeface="Calibri" pitchFamily="34" charset="-122"/>
                <a:cs typeface="Calibri" pitchFamily="34" charset="-120"/>
              </a:rPr>
              <a:t>🔐 Kiểm soát ở CẢ giao diện lẫn máy chủ — chặn tận gốc, không chỉ ẩn nút bấm.</a:t>
            </a:r>
            <a:endParaRPr lang="en-US" sz="1350" dirty="0"/>
          </a:p>
        </p:txBody>
      </p:sp>
      <p:sp>
        <p:nvSpPr>
          <p:cNvPr id="28" name="Shape 26"/>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29"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40080" y="411480"/>
            <a:ext cx="9326880" cy="292608"/>
          </a:xfrm>
          <a:prstGeom prst="rect">
            <a:avLst/>
          </a:prstGeom>
          <a:noFill/>
          <a:ln/>
        </p:spPr>
        <p:txBody>
          <a:bodyPr wrap="square" rtlCol="0" anchor="ctr"/>
          <a:lstStyle/>
          <a:p>
            <a:pPr marL="0" indent="0">
              <a:buNone/>
            </a:pPr>
            <a:r>
              <a:rPr lang="en-US" sz="1200" b="1" kern="0" spc="200" dirty="0">
                <a:solidFill>
                  <a:srgbClr val="F37022"/>
                </a:solidFill>
                <a:latin typeface="Calibri" pitchFamily="34" charset="0"/>
                <a:ea typeface="Calibri" pitchFamily="34" charset="-122"/>
                <a:cs typeface="Calibri" pitchFamily="34" charset="-120"/>
              </a:rPr>
              <a:t>KẾT QUẢ ĐẠT ĐƯỢC</a:t>
            </a:r>
            <a:endParaRPr lang="en-US" sz="1200" dirty="0"/>
          </a:p>
        </p:txBody>
      </p:sp>
      <p:sp>
        <p:nvSpPr>
          <p:cNvPr id="3" name="Text 1"/>
          <p:cNvSpPr/>
          <p:nvPr/>
        </p:nvSpPr>
        <p:spPr>
          <a:xfrm>
            <a:off x="640080" y="685800"/>
            <a:ext cx="9326880" cy="640080"/>
          </a:xfrm>
          <a:prstGeom prst="rect">
            <a:avLst/>
          </a:prstGeom>
          <a:noFill/>
          <a:ln/>
        </p:spPr>
        <p:txBody>
          <a:bodyPr wrap="square" rtlCol="0" anchor="ctr"/>
          <a:lstStyle/>
          <a:p>
            <a:pPr marL="0" indent="0">
              <a:buNone/>
            </a:pPr>
            <a:r>
              <a:rPr lang="en-US" sz="3000" b="1" dirty="0">
                <a:solidFill>
                  <a:srgbClr val="0F1E3D"/>
                </a:solidFill>
                <a:latin typeface="Calibri" pitchFamily="34" charset="0"/>
                <a:ea typeface="Calibri" pitchFamily="34" charset="-122"/>
                <a:cs typeface="Calibri" pitchFamily="34" charset="-120"/>
              </a:rPr>
              <a:t>Hệ thống đã chạy được những gì</a:t>
            </a:r>
            <a:endParaRPr lang="en-US" sz="3000" dirty="0"/>
          </a:p>
        </p:txBody>
      </p:sp>
      <p:sp>
        <p:nvSpPr>
          <p:cNvPr id="4" name="Text 2"/>
          <p:cNvSpPr/>
          <p:nvPr/>
        </p:nvSpPr>
        <p:spPr>
          <a:xfrm>
            <a:off x="11277295"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
        <p:nvSpPr>
          <p:cNvPr id="5" name="Text 3"/>
          <p:cNvSpPr/>
          <p:nvPr/>
        </p:nvSpPr>
        <p:spPr>
          <a:xfrm>
            <a:off x="640080" y="6400800"/>
            <a:ext cx="3657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HRM · CODEDENNGU</a:t>
            </a:r>
            <a:endParaRPr lang="en-US" sz="1000" dirty="0"/>
          </a:p>
        </p:txBody>
      </p:sp>
      <p:sp>
        <p:nvSpPr>
          <p:cNvPr id="6" name="Shape 4"/>
          <p:cNvSpPr/>
          <p:nvPr/>
        </p:nvSpPr>
        <p:spPr>
          <a:xfrm>
            <a:off x="731520" y="1691640"/>
            <a:ext cx="3429000" cy="1554480"/>
          </a:xfrm>
          <a:prstGeom prst="roundRect">
            <a:avLst>
              <a:gd name="adj" fmla="val 5294"/>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7" name="Text 5"/>
          <p:cNvSpPr/>
          <p:nvPr/>
        </p:nvSpPr>
        <p:spPr>
          <a:xfrm>
            <a:off x="731520" y="1828800"/>
            <a:ext cx="3429000" cy="868680"/>
          </a:xfrm>
          <a:prstGeom prst="rect">
            <a:avLst/>
          </a:prstGeom>
          <a:noFill/>
          <a:ln/>
        </p:spPr>
        <p:txBody>
          <a:bodyPr wrap="square" rtlCol="0" anchor="ctr"/>
          <a:lstStyle/>
          <a:p>
            <a:pPr marL="0" indent="0" algn="ctr">
              <a:buNone/>
            </a:pPr>
            <a:r>
              <a:rPr lang="en-US" sz="4600" b="1" dirty="0">
                <a:solidFill>
                  <a:srgbClr val="124DA3"/>
                </a:solidFill>
                <a:latin typeface="Calibri" pitchFamily="34" charset="0"/>
                <a:ea typeface="Calibri" pitchFamily="34" charset="-122"/>
                <a:cs typeface="Calibri" pitchFamily="34" charset="-120"/>
              </a:rPr>
              <a:t>8</a:t>
            </a:r>
            <a:endParaRPr lang="en-US" sz="4600" dirty="0"/>
          </a:p>
        </p:txBody>
      </p:sp>
      <p:sp>
        <p:nvSpPr>
          <p:cNvPr id="8" name="Text 6"/>
          <p:cNvSpPr/>
          <p:nvPr/>
        </p:nvSpPr>
        <p:spPr>
          <a:xfrm>
            <a:off x="731520" y="2697480"/>
            <a:ext cx="3429000" cy="411480"/>
          </a:xfrm>
          <a:prstGeom prst="rect">
            <a:avLst/>
          </a:prstGeom>
          <a:noFill/>
          <a:ln/>
        </p:spPr>
        <p:txBody>
          <a:bodyPr wrap="square" rtlCol="0" anchor="ctr"/>
          <a:lstStyle/>
          <a:p>
            <a:pPr marL="0" indent="0" algn="ctr">
              <a:buNone/>
            </a:pPr>
            <a:r>
              <a:rPr lang="en-US" sz="1350" b="1" dirty="0">
                <a:solidFill>
                  <a:srgbClr val="64748B"/>
                </a:solidFill>
                <a:latin typeface="Calibri" pitchFamily="34" charset="0"/>
                <a:ea typeface="Calibri" pitchFamily="34" charset="-122"/>
                <a:cs typeface="Calibri" pitchFamily="34" charset="-120"/>
              </a:rPr>
              <a:t>Nhóm chức năng chính</a:t>
            </a:r>
            <a:endParaRPr lang="en-US" sz="1350" dirty="0"/>
          </a:p>
        </p:txBody>
      </p:sp>
      <p:sp>
        <p:nvSpPr>
          <p:cNvPr id="9" name="Shape 7"/>
          <p:cNvSpPr/>
          <p:nvPr/>
        </p:nvSpPr>
        <p:spPr>
          <a:xfrm>
            <a:off x="4434840" y="1691640"/>
            <a:ext cx="3429000" cy="1554480"/>
          </a:xfrm>
          <a:prstGeom prst="roundRect">
            <a:avLst>
              <a:gd name="adj" fmla="val 5294"/>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0" name="Text 8"/>
          <p:cNvSpPr/>
          <p:nvPr/>
        </p:nvSpPr>
        <p:spPr>
          <a:xfrm>
            <a:off x="4434840" y="1828800"/>
            <a:ext cx="3429000" cy="868680"/>
          </a:xfrm>
          <a:prstGeom prst="rect">
            <a:avLst/>
          </a:prstGeom>
          <a:noFill/>
          <a:ln/>
        </p:spPr>
        <p:txBody>
          <a:bodyPr wrap="square" rtlCol="0" anchor="ctr"/>
          <a:lstStyle/>
          <a:p>
            <a:pPr marL="0" indent="0" algn="ctr">
              <a:buNone/>
            </a:pPr>
            <a:r>
              <a:rPr lang="en-US" sz="4600" b="1" dirty="0">
                <a:solidFill>
                  <a:srgbClr val="F37022"/>
                </a:solidFill>
                <a:latin typeface="Calibri" pitchFamily="34" charset="0"/>
                <a:ea typeface="Calibri" pitchFamily="34" charset="-122"/>
                <a:cs typeface="Calibri" pitchFamily="34" charset="-120"/>
              </a:rPr>
              <a:t>40+</a:t>
            </a:r>
            <a:endParaRPr lang="en-US" sz="4600" dirty="0"/>
          </a:p>
        </p:txBody>
      </p:sp>
      <p:sp>
        <p:nvSpPr>
          <p:cNvPr id="11" name="Text 9"/>
          <p:cNvSpPr/>
          <p:nvPr/>
        </p:nvSpPr>
        <p:spPr>
          <a:xfrm>
            <a:off x="4434840" y="2697480"/>
            <a:ext cx="3429000" cy="411480"/>
          </a:xfrm>
          <a:prstGeom prst="rect">
            <a:avLst/>
          </a:prstGeom>
          <a:noFill/>
          <a:ln/>
        </p:spPr>
        <p:txBody>
          <a:bodyPr wrap="square" rtlCol="0" anchor="ctr"/>
          <a:lstStyle/>
          <a:p>
            <a:pPr marL="0" indent="0" algn="ctr">
              <a:buNone/>
            </a:pPr>
            <a:r>
              <a:rPr lang="en-US" sz="1350" b="1" dirty="0">
                <a:solidFill>
                  <a:srgbClr val="64748B"/>
                </a:solidFill>
                <a:latin typeface="Calibri" pitchFamily="34" charset="0"/>
                <a:ea typeface="Calibri" pitchFamily="34" charset="-122"/>
                <a:cs typeface="Calibri" pitchFamily="34" charset="-120"/>
              </a:rPr>
              <a:t>Màn hình chức năng</a:t>
            </a:r>
            <a:endParaRPr lang="en-US" sz="1350" dirty="0"/>
          </a:p>
        </p:txBody>
      </p:sp>
      <p:sp>
        <p:nvSpPr>
          <p:cNvPr id="12" name="Shape 10"/>
          <p:cNvSpPr/>
          <p:nvPr/>
        </p:nvSpPr>
        <p:spPr>
          <a:xfrm>
            <a:off x="8138160" y="1691640"/>
            <a:ext cx="3429000" cy="1554480"/>
          </a:xfrm>
          <a:prstGeom prst="roundRect">
            <a:avLst>
              <a:gd name="adj" fmla="val 5294"/>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3" name="Text 11"/>
          <p:cNvSpPr/>
          <p:nvPr/>
        </p:nvSpPr>
        <p:spPr>
          <a:xfrm>
            <a:off x="8138160" y="1828800"/>
            <a:ext cx="3429000" cy="868680"/>
          </a:xfrm>
          <a:prstGeom prst="rect">
            <a:avLst/>
          </a:prstGeom>
          <a:noFill/>
          <a:ln/>
        </p:spPr>
        <p:txBody>
          <a:bodyPr wrap="square" rtlCol="0" anchor="ctr"/>
          <a:lstStyle/>
          <a:p>
            <a:pPr marL="0" indent="0" algn="ctr">
              <a:buNone/>
            </a:pPr>
            <a:r>
              <a:rPr lang="en-US" sz="4600" b="1" dirty="0">
                <a:solidFill>
                  <a:srgbClr val="4EB748"/>
                </a:solidFill>
                <a:latin typeface="Calibri" pitchFamily="34" charset="0"/>
                <a:ea typeface="Calibri" pitchFamily="34" charset="-122"/>
                <a:cs typeface="Calibri" pitchFamily="34" charset="-120"/>
              </a:rPr>
              <a:t>100%</a:t>
            </a:r>
            <a:endParaRPr lang="en-US" sz="4600" dirty="0"/>
          </a:p>
        </p:txBody>
      </p:sp>
      <p:sp>
        <p:nvSpPr>
          <p:cNvPr id="14" name="Text 12"/>
          <p:cNvSpPr/>
          <p:nvPr/>
        </p:nvSpPr>
        <p:spPr>
          <a:xfrm>
            <a:off x="8138160" y="2697480"/>
            <a:ext cx="3429000" cy="411480"/>
          </a:xfrm>
          <a:prstGeom prst="rect">
            <a:avLst/>
          </a:prstGeom>
          <a:noFill/>
          <a:ln/>
        </p:spPr>
        <p:txBody>
          <a:bodyPr wrap="square" rtlCol="0" anchor="ctr"/>
          <a:lstStyle/>
          <a:p>
            <a:pPr marL="0" indent="0" algn="ctr">
              <a:buNone/>
            </a:pPr>
            <a:r>
              <a:rPr lang="en-US" sz="1350" b="1" dirty="0">
                <a:solidFill>
                  <a:srgbClr val="64748B"/>
                </a:solidFill>
                <a:latin typeface="Calibri" pitchFamily="34" charset="0"/>
                <a:ea typeface="Calibri" pitchFamily="34" charset="-122"/>
                <a:cs typeface="Calibri" pitchFamily="34" charset="-120"/>
              </a:rPr>
              <a:t>Nghiệp vụ theo luật VN</a:t>
            </a:r>
            <a:endParaRPr lang="en-US" sz="1350" dirty="0"/>
          </a:p>
        </p:txBody>
      </p:sp>
      <p:sp>
        <p:nvSpPr>
          <p:cNvPr id="15" name="Shape 13"/>
          <p:cNvSpPr/>
          <p:nvPr/>
        </p:nvSpPr>
        <p:spPr>
          <a:xfrm>
            <a:off x="640080" y="3566160"/>
            <a:ext cx="10908792" cy="2514600"/>
          </a:xfrm>
          <a:prstGeom prst="roundRect">
            <a:avLst>
              <a:gd name="adj" fmla="val 3273"/>
            </a:avLst>
          </a:prstGeom>
          <a:solidFill>
            <a:srgbClr val="FFFFFF"/>
          </a:solidFill>
          <a:ln w="12700">
            <a:solidFill>
              <a:srgbClr val="D6DEE9"/>
            </a:solidFill>
            <a:prstDash val="solid"/>
          </a:ln>
          <a:effectLst>
            <a:outerShdw blurRad="114300" dist="38100" dir="5400000" algn="bl" rotWithShape="0">
              <a:srgbClr val="1E293B">
                <a:alpha val="16000"/>
              </a:srgbClr>
            </a:outerShdw>
          </a:effectLst>
        </p:spPr>
        <p:txBody>
          <a:bodyPr/>
          <a:lstStyle/>
          <a:p>
            <a:endParaRPr lang="en-US"/>
          </a:p>
        </p:txBody>
      </p:sp>
      <p:sp>
        <p:nvSpPr>
          <p:cNvPr id="16" name="Text 14"/>
          <p:cNvSpPr/>
          <p:nvPr/>
        </p:nvSpPr>
        <p:spPr>
          <a:xfrm>
            <a:off x="1097280" y="3794760"/>
            <a:ext cx="10058400" cy="457200"/>
          </a:xfrm>
          <a:prstGeom prst="rect">
            <a:avLst/>
          </a:prstGeom>
          <a:noFill/>
          <a:ln/>
        </p:spPr>
        <p:txBody>
          <a:bodyPr wrap="square" rtlCol="0" anchor="ctr"/>
          <a:lstStyle/>
          <a:p>
            <a:pPr marL="0" indent="0">
              <a:buNone/>
            </a:pPr>
            <a:r>
              <a:rPr lang="en-US" sz="1450" dirty="0">
                <a:solidFill>
                  <a:srgbClr val="1E293B"/>
                </a:solidFill>
                <a:latin typeface="Calibri" pitchFamily="34" charset="0"/>
                <a:ea typeface="Calibri" pitchFamily="34" charset="-122"/>
                <a:cs typeface="Calibri" pitchFamily="34" charset="-120"/>
              </a:rPr>
              <a:t>✅ Module Công &amp; Lịch hoàn thiện, kiểm thử đầu-cuối (chấm công → bảng công tháng)</a:t>
            </a:r>
            <a:endParaRPr lang="en-US" sz="1450" dirty="0"/>
          </a:p>
        </p:txBody>
      </p:sp>
      <p:sp>
        <p:nvSpPr>
          <p:cNvPr id="17" name="Text 15"/>
          <p:cNvSpPr/>
          <p:nvPr/>
        </p:nvSpPr>
        <p:spPr>
          <a:xfrm>
            <a:off x="1097280" y="4325112"/>
            <a:ext cx="10058400" cy="457200"/>
          </a:xfrm>
          <a:prstGeom prst="rect">
            <a:avLst/>
          </a:prstGeom>
          <a:noFill/>
          <a:ln/>
        </p:spPr>
        <p:txBody>
          <a:bodyPr wrap="square" rtlCol="0" anchor="ctr"/>
          <a:lstStyle/>
          <a:p>
            <a:pPr marL="0" indent="0">
              <a:buNone/>
            </a:pPr>
            <a:r>
              <a:rPr lang="en-US" sz="1450" dirty="0">
                <a:solidFill>
                  <a:srgbClr val="1E293B"/>
                </a:solidFill>
                <a:latin typeface="Calibri" pitchFamily="34" charset="0"/>
                <a:ea typeface="Calibri" pitchFamily="34" charset="-122"/>
                <a:cs typeface="Calibri" pitchFamily="34" charset="-120"/>
              </a:rPr>
              <a:t>✅ Engine tính lương: bảo hiểm, thuế TNCN lũy tiến, giảm trừ gia cảnh theo luật VN</a:t>
            </a:r>
            <a:endParaRPr lang="en-US" sz="1450" dirty="0"/>
          </a:p>
        </p:txBody>
      </p:sp>
      <p:sp>
        <p:nvSpPr>
          <p:cNvPr id="18" name="Text 16"/>
          <p:cNvSpPr/>
          <p:nvPr/>
        </p:nvSpPr>
        <p:spPr>
          <a:xfrm>
            <a:off x="1097280" y="4855464"/>
            <a:ext cx="10058400" cy="457200"/>
          </a:xfrm>
          <a:prstGeom prst="rect">
            <a:avLst/>
          </a:prstGeom>
          <a:noFill/>
          <a:ln/>
        </p:spPr>
        <p:txBody>
          <a:bodyPr wrap="square" rtlCol="0" anchor="ctr"/>
          <a:lstStyle/>
          <a:p>
            <a:pPr marL="0" indent="0">
              <a:buNone/>
            </a:pPr>
            <a:r>
              <a:rPr lang="en-US" sz="1450" dirty="0">
                <a:solidFill>
                  <a:srgbClr val="1E293B"/>
                </a:solidFill>
                <a:latin typeface="Calibri" pitchFamily="34" charset="0"/>
                <a:ea typeface="Calibri" pitchFamily="34" charset="-122"/>
                <a:cs typeface="Calibri" pitchFamily="34" charset="-120"/>
              </a:rPr>
              <a:t>✅ Kiến trúc đa tổ chức (multi-tenant) + Hybrid Database + phân quyền 2 lớp</a:t>
            </a:r>
            <a:endParaRPr lang="en-US" sz="1450" dirty="0"/>
          </a:p>
        </p:txBody>
      </p:sp>
      <p:sp>
        <p:nvSpPr>
          <p:cNvPr id="19" name="Text 17"/>
          <p:cNvSpPr/>
          <p:nvPr/>
        </p:nvSpPr>
        <p:spPr>
          <a:xfrm>
            <a:off x="1097280" y="5385816"/>
            <a:ext cx="10058400" cy="457200"/>
          </a:xfrm>
          <a:prstGeom prst="rect">
            <a:avLst/>
          </a:prstGeom>
          <a:noFill/>
          <a:ln/>
        </p:spPr>
        <p:txBody>
          <a:bodyPr wrap="square" rtlCol="0" anchor="ctr"/>
          <a:lstStyle/>
          <a:p>
            <a:pPr marL="0" indent="0">
              <a:buNone/>
            </a:pPr>
            <a:r>
              <a:rPr lang="en-US" sz="1450" dirty="0">
                <a:solidFill>
                  <a:srgbClr val="1E293B"/>
                </a:solidFill>
                <a:latin typeface="Calibri" pitchFamily="34" charset="0"/>
                <a:ea typeface="Calibri" pitchFamily="34" charset="-122"/>
                <a:cs typeface="Calibri" pitchFamily="34" charset="-120"/>
              </a:rPr>
              <a:t>✅ Tích hợp AI chấm điểm ứng viên &amp; trợ lý HR; sẵn sàng kết nối máy chấm công thật</a:t>
            </a:r>
            <a:endParaRPr lang="en-US" sz="1450" dirty="0"/>
          </a:p>
        </p:txBody>
      </p:sp>
      <p:sp>
        <p:nvSpPr>
          <p:cNvPr id="20" name="Shape 18"/>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21"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E3D"/>
        </a:solidFill>
        <a:effectLst/>
      </p:bgPr>
    </p:bg>
    <p:spTree>
      <p:nvGrpSpPr>
        <p:cNvPr id="1" name=""/>
        <p:cNvGrpSpPr/>
        <p:nvPr/>
      </p:nvGrpSpPr>
      <p:grpSpPr>
        <a:xfrm>
          <a:off x="0" y="0"/>
          <a:ext cx="0" cy="0"/>
          <a:chOff x="0" y="0"/>
          <a:chExt cx="0" cy="0"/>
        </a:xfrm>
      </p:grpSpPr>
      <p:sp>
        <p:nvSpPr>
          <p:cNvPr id="2" name="Shape 0"/>
          <p:cNvSpPr/>
          <p:nvPr/>
        </p:nvSpPr>
        <p:spPr>
          <a:xfrm>
            <a:off x="-1371600" y="-1463040"/>
            <a:ext cx="4206240" cy="4206240"/>
          </a:xfrm>
          <a:prstGeom prst="ellipse">
            <a:avLst/>
          </a:prstGeom>
          <a:solidFill>
            <a:srgbClr val="124DA3">
              <a:alpha val="25000"/>
            </a:srgbClr>
          </a:solidFill>
          <a:ln/>
        </p:spPr>
        <p:txBody>
          <a:bodyPr/>
          <a:lstStyle/>
          <a:p>
            <a:endParaRPr lang="en-US"/>
          </a:p>
        </p:txBody>
      </p:sp>
      <p:sp>
        <p:nvSpPr>
          <p:cNvPr id="3" name="Text 1"/>
          <p:cNvSpPr/>
          <p:nvPr/>
        </p:nvSpPr>
        <p:spPr>
          <a:xfrm>
            <a:off x="640080" y="822960"/>
            <a:ext cx="10881360" cy="365760"/>
          </a:xfrm>
          <a:prstGeom prst="rect">
            <a:avLst/>
          </a:prstGeom>
          <a:noFill/>
          <a:ln/>
        </p:spPr>
        <p:txBody>
          <a:bodyPr wrap="square" rtlCol="0" anchor="ctr"/>
          <a:lstStyle/>
          <a:p>
            <a:pPr marL="0" indent="0">
              <a:buNone/>
            </a:pPr>
            <a:r>
              <a:rPr lang="en-US" sz="1300" b="1" kern="0" spc="200" dirty="0">
                <a:solidFill>
                  <a:srgbClr val="F37022"/>
                </a:solidFill>
                <a:latin typeface="Calibri" pitchFamily="34" charset="0"/>
                <a:ea typeface="Calibri" pitchFamily="34" charset="-122"/>
                <a:cs typeface="Calibri" pitchFamily="34" charset="-120"/>
              </a:rPr>
              <a:t>PHẦN DEMO TRỰC TIẾP</a:t>
            </a:r>
            <a:endParaRPr lang="en-US" sz="1300" dirty="0"/>
          </a:p>
        </p:txBody>
      </p:sp>
      <p:sp>
        <p:nvSpPr>
          <p:cNvPr id="4" name="Text 2"/>
          <p:cNvSpPr/>
          <p:nvPr/>
        </p:nvSpPr>
        <p:spPr>
          <a:xfrm>
            <a:off x="640080" y="1188720"/>
            <a:ext cx="1088136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Mời hội đồng xem hệ thống chạy thật</a:t>
            </a:r>
            <a:endParaRPr lang="en-US" sz="3000" dirty="0"/>
          </a:p>
        </p:txBody>
      </p:sp>
      <p:sp>
        <p:nvSpPr>
          <p:cNvPr id="5" name="Shape 3"/>
          <p:cNvSpPr/>
          <p:nvPr/>
        </p:nvSpPr>
        <p:spPr>
          <a:xfrm>
            <a:off x="640080" y="2423160"/>
            <a:ext cx="2011680" cy="1965960"/>
          </a:xfrm>
          <a:prstGeom prst="roundRect">
            <a:avLst>
              <a:gd name="adj" fmla="val 4651"/>
            </a:avLst>
          </a:prstGeom>
          <a:solidFill>
            <a:srgbClr val="16244A"/>
          </a:solidFill>
          <a:ln w="12700">
            <a:solidFill>
              <a:srgbClr val="33456B"/>
            </a:solidFill>
            <a:prstDash val="solid"/>
          </a:ln>
        </p:spPr>
        <p:txBody>
          <a:bodyPr/>
          <a:lstStyle/>
          <a:p>
            <a:endParaRPr lang="en-US"/>
          </a:p>
        </p:txBody>
      </p:sp>
      <p:sp>
        <p:nvSpPr>
          <p:cNvPr id="6" name="Shape 4"/>
          <p:cNvSpPr/>
          <p:nvPr/>
        </p:nvSpPr>
        <p:spPr>
          <a:xfrm>
            <a:off x="1371600" y="2148840"/>
            <a:ext cx="548640" cy="548640"/>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7" name="Text 5"/>
          <p:cNvSpPr/>
          <p:nvPr/>
        </p:nvSpPr>
        <p:spPr>
          <a:xfrm>
            <a:off x="1371600" y="21488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777240" y="2880360"/>
            <a:ext cx="173736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Đăng nhập</a:t>
            </a:r>
            <a:endParaRPr lang="en-US" sz="1500" dirty="0"/>
          </a:p>
        </p:txBody>
      </p:sp>
      <p:sp>
        <p:nvSpPr>
          <p:cNvPr id="9" name="Text 7"/>
          <p:cNvSpPr/>
          <p:nvPr/>
        </p:nvSpPr>
        <p:spPr>
          <a:xfrm>
            <a:off x="822960" y="3429000"/>
            <a:ext cx="1645920" cy="868680"/>
          </a:xfrm>
          <a:prstGeom prst="rect">
            <a:avLst/>
          </a:prstGeom>
          <a:noFill/>
          <a:ln/>
        </p:spPr>
        <p:txBody>
          <a:bodyPr wrap="square" rtlCol="0" anchor="ctr"/>
          <a:lstStyle/>
          <a:p>
            <a:pPr marL="0" indent="0" algn="ctr">
              <a:lnSpc>
                <a:spcPct val="105000"/>
              </a:lnSpc>
              <a:buNone/>
            </a:pPr>
            <a:r>
              <a:rPr lang="en-US" sz="1100" dirty="0">
                <a:solidFill>
                  <a:srgbClr val="9DB6E0"/>
                </a:solidFill>
                <a:latin typeface="Calibri" pitchFamily="34" charset="0"/>
                <a:ea typeface="Calibri" pitchFamily="34" charset="-122"/>
                <a:cs typeface="Calibri" pitchFamily="34" charset="-120"/>
              </a:rPr>
              <a:t>theo vai trò (Admin / Nhân viên) — thấy giao diện khác nhau</a:t>
            </a:r>
            <a:endParaRPr lang="en-US" sz="1100" dirty="0"/>
          </a:p>
        </p:txBody>
      </p:sp>
      <p:sp>
        <p:nvSpPr>
          <p:cNvPr id="10" name="Shape 8"/>
          <p:cNvSpPr/>
          <p:nvPr/>
        </p:nvSpPr>
        <p:spPr>
          <a:xfrm>
            <a:off x="2670048" y="3406140"/>
            <a:ext cx="219456" cy="0"/>
          </a:xfrm>
          <a:prstGeom prst="line">
            <a:avLst/>
          </a:prstGeom>
          <a:noFill/>
          <a:ln w="44450">
            <a:solidFill>
              <a:srgbClr val="4EB748"/>
            </a:solidFill>
            <a:prstDash val="solid"/>
            <a:tailEnd type="triangle"/>
          </a:ln>
        </p:spPr>
        <p:txBody>
          <a:bodyPr/>
          <a:lstStyle/>
          <a:p>
            <a:endParaRPr lang="en-US"/>
          </a:p>
        </p:txBody>
      </p:sp>
      <p:sp>
        <p:nvSpPr>
          <p:cNvPr id="11" name="Shape 9"/>
          <p:cNvSpPr/>
          <p:nvPr/>
        </p:nvSpPr>
        <p:spPr>
          <a:xfrm>
            <a:off x="2907792" y="2423160"/>
            <a:ext cx="2011680" cy="1965960"/>
          </a:xfrm>
          <a:prstGeom prst="roundRect">
            <a:avLst>
              <a:gd name="adj" fmla="val 4651"/>
            </a:avLst>
          </a:prstGeom>
          <a:solidFill>
            <a:srgbClr val="16244A"/>
          </a:solidFill>
          <a:ln w="12700">
            <a:solidFill>
              <a:srgbClr val="33456B"/>
            </a:solidFill>
            <a:prstDash val="solid"/>
          </a:ln>
        </p:spPr>
        <p:txBody>
          <a:bodyPr/>
          <a:lstStyle/>
          <a:p>
            <a:endParaRPr lang="en-US"/>
          </a:p>
        </p:txBody>
      </p:sp>
      <p:sp>
        <p:nvSpPr>
          <p:cNvPr id="12" name="Shape 10"/>
          <p:cNvSpPr/>
          <p:nvPr/>
        </p:nvSpPr>
        <p:spPr>
          <a:xfrm>
            <a:off x="3639312" y="2148840"/>
            <a:ext cx="548640" cy="548640"/>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13" name="Text 11"/>
          <p:cNvSpPr/>
          <p:nvPr/>
        </p:nvSpPr>
        <p:spPr>
          <a:xfrm>
            <a:off x="3639312" y="21488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3044952" y="2880360"/>
            <a:ext cx="173736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Chấm công &amp; xin nghỉ</a:t>
            </a:r>
            <a:endParaRPr lang="en-US" sz="1500" dirty="0"/>
          </a:p>
        </p:txBody>
      </p:sp>
      <p:sp>
        <p:nvSpPr>
          <p:cNvPr id="15" name="Text 13"/>
          <p:cNvSpPr/>
          <p:nvPr/>
        </p:nvSpPr>
        <p:spPr>
          <a:xfrm>
            <a:off x="3090672" y="3429000"/>
            <a:ext cx="1645920" cy="868680"/>
          </a:xfrm>
          <a:prstGeom prst="rect">
            <a:avLst/>
          </a:prstGeom>
          <a:noFill/>
          <a:ln/>
        </p:spPr>
        <p:txBody>
          <a:bodyPr wrap="square" rtlCol="0" anchor="ctr"/>
          <a:lstStyle/>
          <a:p>
            <a:pPr marL="0" indent="0" algn="ctr">
              <a:lnSpc>
                <a:spcPct val="105000"/>
              </a:lnSpc>
              <a:buNone/>
            </a:pPr>
            <a:r>
              <a:rPr lang="en-US" sz="1100" dirty="0">
                <a:solidFill>
                  <a:srgbClr val="9DB6E0"/>
                </a:solidFill>
                <a:latin typeface="Calibri" pitchFamily="34" charset="0"/>
                <a:ea typeface="Calibri" pitchFamily="34" charset="-122"/>
                <a:cs typeface="Calibri" pitchFamily="34" charset="-120"/>
              </a:rPr>
              <a:t>nhân viên tạo đơn ngay trên Cổng nhân viên</a:t>
            </a:r>
            <a:endParaRPr lang="en-US" sz="1100" dirty="0"/>
          </a:p>
        </p:txBody>
      </p:sp>
      <p:sp>
        <p:nvSpPr>
          <p:cNvPr id="16" name="Shape 14"/>
          <p:cNvSpPr/>
          <p:nvPr/>
        </p:nvSpPr>
        <p:spPr>
          <a:xfrm>
            <a:off x="4937760" y="3406140"/>
            <a:ext cx="219456" cy="0"/>
          </a:xfrm>
          <a:prstGeom prst="line">
            <a:avLst/>
          </a:prstGeom>
          <a:noFill/>
          <a:ln w="44450">
            <a:solidFill>
              <a:srgbClr val="4EB748"/>
            </a:solidFill>
            <a:prstDash val="solid"/>
            <a:tailEnd type="triangle"/>
          </a:ln>
        </p:spPr>
        <p:txBody>
          <a:bodyPr/>
          <a:lstStyle/>
          <a:p>
            <a:endParaRPr lang="en-US"/>
          </a:p>
        </p:txBody>
      </p:sp>
      <p:sp>
        <p:nvSpPr>
          <p:cNvPr id="17" name="Shape 15"/>
          <p:cNvSpPr/>
          <p:nvPr/>
        </p:nvSpPr>
        <p:spPr>
          <a:xfrm>
            <a:off x="5175504" y="2423160"/>
            <a:ext cx="2011680" cy="1965960"/>
          </a:xfrm>
          <a:prstGeom prst="roundRect">
            <a:avLst>
              <a:gd name="adj" fmla="val 4651"/>
            </a:avLst>
          </a:prstGeom>
          <a:solidFill>
            <a:srgbClr val="16244A"/>
          </a:solidFill>
          <a:ln w="12700">
            <a:solidFill>
              <a:srgbClr val="33456B"/>
            </a:solidFill>
            <a:prstDash val="solid"/>
          </a:ln>
        </p:spPr>
        <p:txBody>
          <a:bodyPr/>
          <a:lstStyle/>
          <a:p>
            <a:endParaRPr lang="en-US"/>
          </a:p>
        </p:txBody>
      </p:sp>
      <p:sp>
        <p:nvSpPr>
          <p:cNvPr id="18" name="Shape 16"/>
          <p:cNvSpPr/>
          <p:nvPr/>
        </p:nvSpPr>
        <p:spPr>
          <a:xfrm>
            <a:off x="5907024" y="2148840"/>
            <a:ext cx="548640" cy="548640"/>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19" name="Text 17"/>
          <p:cNvSpPr/>
          <p:nvPr/>
        </p:nvSpPr>
        <p:spPr>
          <a:xfrm>
            <a:off x="5907024" y="21488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5312664" y="2880360"/>
            <a:ext cx="173736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Duyệt đơn</a:t>
            </a:r>
            <a:endParaRPr lang="en-US" sz="1500" dirty="0"/>
          </a:p>
        </p:txBody>
      </p:sp>
      <p:sp>
        <p:nvSpPr>
          <p:cNvPr id="21" name="Text 19"/>
          <p:cNvSpPr/>
          <p:nvPr/>
        </p:nvSpPr>
        <p:spPr>
          <a:xfrm>
            <a:off x="5358384" y="3429000"/>
            <a:ext cx="1645920" cy="868680"/>
          </a:xfrm>
          <a:prstGeom prst="rect">
            <a:avLst/>
          </a:prstGeom>
          <a:noFill/>
          <a:ln/>
        </p:spPr>
        <p:txBody>
          <a:bodyPr wrap="square" rtlCol="0" anchor="ctr"/>
          <a:lstStyle/>
          <a:p>
            <a:pPr marL="0" indent="0" algn="ctr">
              <a:lnSpc>
                <a:spcPct val="105000"/>
              </a:lnSpc>
              <a:buNone/>
            </a:pPr>
            <a:r>
              <a:rPr lang="en-US" sz="1100" dirty="0">
                <a:solidFill>
                  <a:srgbClr val="9DB6E0"/>
                </a:solidFill>
                <a:latin typeface="Calibri" pitchFamily="34" charset="0"/>
                <a:ea typeface="Calibri" pitchFamily="34" charset="-122"/>
                <a:cs typeface="Calibri" pitchFamily="34" charset="-120"/>
              </a:rPr>
              <a:t>quản lý duyệt → đơn đổi trạng thái, có timeline</a:t>
            </a:r>
            <a:endParaRPr lang="en-US" sz="1100" dirty="0"/>
          </a:p>
        </p:txBody>
      </p:sp>
      <p:sp>
        <p:nvSpPr>
          <p:cNvPr id="22" name="Shape 20"/>
          <p:cNvSpPr/>
          <p:nvPr/>
        </p:nvSpPr>
        <p:spPr>
          <a:xfrm>
            <a:off x="7205472" y="3406140"/>
            <a:ext cx="219456" cy="0"/>
          </a:xfrm>
          <a:prstGeom prst="line">
            <a:avLst/>
          </a:prstGeom>
          <a:noFill/>
          <a:ln w="44450">
            <a:solidFill>
              <a:srgbClr val="4EB748"/>
            </a:solidFill>
            <a:prstDash val="solid"/>
            <a:tailEnd type="triangle"/>
          </a:ln>
        </p:spPr>
        <p:txBody>
          <a:bodyPr/>
          <a:lstStyle/>
          <a:p>
            <a:endParaRPr lang="en-US"/>
          </a:p>
        </p:txBody>
      </p:sp>
      <p:sp>
        <p:nvSpPr>
          <p:cNvPr id="23" name="Shape 21"/>
          <p:cNvSpPr/>
          <p:nvPr/>
        </p:nvSpPr>
        <p:spPr>
          <a:xfrm>
            <a:off x="7443216" y="2423160"/>
            <a:ext cx="2011680" cy="1965960"/>
          </a:xfrm>
          <a:prstGeom prst="roundRect">
            <a:avLst>
              <a:gd name="adj" fmla="val 4651"/>
            </a:avLst>
          </a:prstGeom>
          <a:solidFill>
            <a:srgbClr val="16244A"/>
          </a:solidFill>
          <a:ln w="12700">
            <a:solidFill>
              <a:srgbClr val="33456B"/>
            </a:solidFill>
            <a:prstDash val="solid"/>
          </a:ln>
        </p:spPr>
        <p:txBody>
          <a:bodyPr/>
          <a:lstStyle/>
          <a:p>
            <a:endParaRPr lang="en-US"/>
          </a:p>
        </p:txBody>
      </p:sp>
      <p:sp>
        <p:nvSpPr>
          <p:cNvPr id="24" name="Shape 22"/>
          <p:cNvSpPr/>
          <p:nvPr/>
        </p:nvSpPr>
        <p:spPr>
          <a:xfrm>
            <a:off x="8174736" y="2148840"/>
            <a:ext cx="548640" cy="548640"/>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25" name="Text 23"/>
          <p:cNvSpPr/>
          <p:nvPr/>
        </p:nvSpPr>
        <p:spPr>
          <a:xfrm>
            <a:off x="8174736" y="21488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p:nvPr/>
        </p:nvSpPr>
        <p:spPr>
          <a:xfrm>
            <a:off x="7580376" y="2880360"/>
            <a:ext cx="173736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Bảng công tháng</a:t>
            </a:r>
            <a:endParaRPr lang="en-US" sz="1500" dirty="0"/>
          </a:p>
        </p:txBody>
      </p:sp>
      <p:sp>
        <p:nvSpPr>
          <p:cNvPr id="27" name="Text 25"/>
          <p:cNvSpPr/>
          <p:nvPr/>
        </p:nvSpPr>
        <p:spPr>
          <a:xfrm>
            <a:off x="7626096" y="3429000"/>
            <a:ext cx="1645920" cy="868680"/>
          </a:xfrm>
          <a:prstGeom prst="rect">
            <a:avLst/>
          </a:prstGeom>
          <a:noFill/>
          <a:ln/>
        </p:spPr>
        <p:txBody>
          <a:bodyPr wrap="square" rtlCol="0" anchor="ctr"/>
          <a:lstStyle/>
          <a:p>
            <a:pPr marL="0" indent="0" algn="ctr">
              <a:lnSpc>
                <a:spcPct val="105000"/>
              </a:lnSpc>
              <a:buNone/>
            </a:pPr>
            <a:r>
              <a:rPr lang="en-US" sz="1100" dirty="0">
                <a:solidFill>
                  <a:srgbClr val="9DB6E0"/>
                </a:solidFill>
                <a:latin typeface="Calibri" pitchFamily="34" charset="0"/>
                <a:ea typeface="Calibri" pitchFamily="34" charset="-122"/>
                <a:cs typeface="Calibri" pitchFamily="34" charset="-120"/>
              </a:rPr>
              <a:t>xem tổng hợp ngày công đã tính tự động</a:t>
            </a:r>
            <a:endParaRPr lang="en-US" sz="1100" dirty="0"/>
          </a:p>
        </p:txBody>
      </p:sp>
      <p:sp>
        <p:nvSpPr>
          <p:cNvPr id="28" name="Shape 26"/>
          <p:cNvSpPr/>
          <p:nvPr/>
        </p:nvSpPr>
        <p:spPr>
          <a:xfrm>
            <a:off x="9473184" y="3406140"/>
            <a:ext cx="219456" cy="0"/>
          </a:xfrm>
          <a:prstGeom prst="line">
            <a:avLst/>
          </a:prstGeom>
          <a:noFill/>
          <a:ln w="44450">
            <a:solidFill>
              <a:srgbClr val="4EB748"/>
            </a:solidFill>
            <a:prstDash val="solid"/>
            <a:tailEnd type="triangle"/>
          </a:ln>
        </p:spPr>
        <p:txBody>
          <a:bodyPr/>
          <a:lstStyle/>
          <a:p>
            <a:endParaRPr lang="en-US"/>
          </a:p>
        </p:txBody>
      </p:sp>
      <p:sp>
        <p:nvSpPr>
          <p:cNvPr id="29" name="Shape 27"/>
          <p:cNvSpPr/>
          <p:nvPr/>
        </p:nvSpPr>
        <p:spPr>
          <a:xfrm>
            <a:off x="9710928" y="2423160"/>
            <a:ext cx="2011680" cy="1965960"/>
          </a:xfrm>
          <a:prstGeom prst="roundRect">
            <a:avLst>
              <a:gd name="adj" fmla="val 4651"/>
            </a:avLst>
          </a:prstGeom>
          <a:solidFill>
            <a:srgbClr val="16244A"/>
          </a:solidFill>
          <a:ln w="12700">
            <a:solidFill>
              <a:srgbClr val="33456B"/>
            </a:solidFill>
            <a:prstDash val="solid"/>
          </a:ln>
        </p:spPr>
        <p:txBody>
          <a:bodyPr/>
          <a:lstStyle/>
          <a:p>
            <a:endParaRPr lang="en-US"/>
          </a:p>
        </p:txBody>
      </p:sp>
      <p:sp>
        <p:nvSpPr>
          <p:cNvPr id="30" name="Shape 28"/>
          <p:cNvSpPr/>
          <p:nvPr/>
        </p:nvSpPr>
        <p:spPr>
          <a:xfrm>
            <a:off x="10442448" y="2148840"/>
            <a:ext cx="548640" cy="548640"/>
          </a:xfrm>
          <a:prstGeom prst="ellipse">
            <a:avLst/>
          </a:prstGeom>
          <a:solidFill>
            <a:srgbClr val="F37022"/>
          </a:solidFill>
          <a:ln/>
          <a:effectLst>
            <a:outerShdw blurRad="114300" dist="38100" dir="5400000" algn="bl" rotWithShape="0">
              <a:srgbClr val="1E293B">
                <a:alpha val="16000"/>
              </a:srgbClr>
            </a:outerShdw>
          </a:effectLst>
        </p:spPr>
        <p:txBody>
          <a:bodyPr/>
          <a:lstStyle/>
          <a:p>
            <a:endParaRPr lang="en-US"/>
          </a:p>
        </p:txBody>
      </p:sp>
      <p:sp>
        <p:nvSpPr>
          <p:cNvPr id="31" name="Text 29"/>
          <p:cNvSpPr/>
          <p:nvPr/>
        </p:nvSpPr>
        <p:spPr>
          <a:xfrm>
            <a:off x="10442448" y="21488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2" name="Text 30"/>
          <p:cNvSpPr/>
          <p:nvPr/>
        </p:nvSpPr>
        <p:spPr>
          <a:xfrm>
            <a:off x="9848088" y="2880360"/>
            <a:ext cx="173736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Tính lương</a:t>
            </a:r>
            <a:endParaRPr lang="en-US" sz="1500" dirty="0"/>
          </a:p>
        </p:txBody>
      </p:sp>
      <p:sp>
        <p:nvSpPr>
          <p:cNvPr id="33" name="Text 31"/>
          <p:cNvSpPr/>
          <p:nvPr/>
        </p:nvSpPr>
        <p:spPr>
          <a:xfrm>
            <a:off x="9893808" y="3429000"/>
            <a:ext cx="1645920" cy="868680"/>
          </a:xfrm>
          <a:prstGeom prst="rect">
            <a:avLst/>
          </a:prstGeom>
          <a:noFill/>
          <a:ln/>
        </p:spPr>
        <p:txBody>
          <a:bodyPr wrap="square" rtlCol="0" anchor="ctr"/>
          <a:lstStyle/>
          <a:p>
            <a:pPr marL="0" indent="0" algn="ctr">
              <a:lnSpc>
                <a:spcPct val="105000"/>
              </a:lnSpc>
              <a:buNone/>
            </a:pPr>
            <a:r>
              <a:rPr lang="en-US" sz="1100" dirty="0">
                <a:solidFill>
                  <a:srgbClr val="9DB6E0"/>
                </a:solidFill>
                <a:latin typeface="Calibri" pitchFamily="34" charset="0"/>
                <a:ea typeface="Calibri" pitchFamily="34" charset="-122"/>
                <a:cs typeface="Calibri" pitchFamily="34" charset="-120"/>
              </a:rPr>
              <a:t>bấm 1 nút → ra bảng lương chi tiết từng người</a:t>
            </a:r>
            <a:endParaRPr lang="en-US" sz="1100" dirty="0"/>
          </a:p>
        </p:txBody>
      </p:sp>
      <p:sp>
        <p:nvSpPr>
          <p:cNvPr id="34" name="Text 32"/>
          <p:cNvSpPr/>
          <p:nvPr/>
        </p:nvSpPr>
        <p:spPr>
          <a:xfrm>
            <a:off x="640080" y="5029200"/>
            <a:ext cx="10881360" cy="457200"/>
          </a:xfrm>
          <a:prstGeom prst="rect">
            <a:avLst/>
          </a:prstGeom>
          <a:noFill/>
          <a:ln/>
        </p:spPr>
        <p:txBody>
          <a:bodyPr wrap="square" rtlCol="0" anchor="ctr"/>
          <a:lstStyle/>
          <a:p>
            <a:pPr marL="0" indent="0" algn="ctr">
              <a:buNone/>
            </a:pPr>
            <a:r>
              <a:rPr lang="en-US" sz="1350" i="1" dirty="0">
                <a:solidFill>
                  <a:srgbClr val="CBD5E1"/>
                </a:solidFill>
                <a:latin typeface="Calibri" pitchFamily="34" charset="0"/>
                <a:ea typeface="Calibri" pitchFamily="34" charset="-122"/>
                <a:cs typeface="Calibri" pitchFamily="34" charset="-120"/>
              </a:rPr>
              <a:t>Hướng phát triển: kết nối máy chấm công phần cứng · app di động · báo cáo nâng cao · mở rộng AI.</a:t>
            </a:r>
            <a:endParaRPr lang="en-US" sz="1350" dirty="0"/>
          </a:p>
        </p:txBody>
      </p:sp>
      <p:sp>
        <p:nvSpPr>
          <p:cNvPr id="35" name="Shape 33"/>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36"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E3D"/>
        </a:solidFill>
        <a:effectLst/>
      </p:bgPr>
    </p:bg>
    <p:spTree>
      <p:nvGrpSpPr>
        <p:cNvPr id="1" name=""/>
        <p:cNvGrpSpPr/>
        <p:nvPr/>
      </p:nvGrpSpPr>
      <p:grpSpPr>
        <a:xfrm>
          <a:off x="0" y="0"/>
          <a:ext cx="0" cy="0"/>
          <a:chOff x="0" y="0"/>
          <a:chExt cx="0" cy="0"/>
        </a:xfrm>
      </p:grpSpPr>
      <p:sp>
        <p:nvSpPr>
          <p:cNvPr id="2" name="Shape 0"/>
          <p:cNvSpPr/>
          <p:nvPr/>
        </p:nvSpPr>
        <p:spPr>
          <a:xfrm>
            <a:off x="9509760" y="3840480"/>
            <a:ext cx="4754880" cy="4754880"/>
          </a:xfrm>
          <a:prstGeom prst="ellipse">
            <a:avLst/>
          </a:prstGeom>
          <a:solidFill>
            <a:srgbClr val="F37022">
              <a:alpha val="20000"/>
            </a:srgbClr>
          </a:solidFill>
          <a:ln/>
        </p:spPr>
        <p:txBody>
          <a:bodyPr/>
          <a:lstStyle/>
          <a:p>
            <a:endParaRPr lang="en-US"/>
          </a:p>
        </p:txBody>
      </p:sp>
      <p:sp>
        <p:nvSpPr>
          <p:cNvPr id="3" name="Shape 1"/>
          <p:cNvSpPr/>
          <p:nvPr/>
        </p:nvSpPr>
        <p:spPr>
          <a:xfrm>
            <a:off x="-1463040" y="-1645920"/>
            <a:ext cx="4023360" cy="4023360"/>
          </a:xfrm>
          <a:prstGeom prst="ellipse">
            <a:avLst/>
          </a:prstGeom>
          <a:solidFill>
            <a:srgbClr val="4EB748">
              <a:alpha val="18000"/>
            </a:srgbClr>
          </a:solidFill>
          <a:ln/>
        </p:spPr>
        <p:txBody>
          <a:bodyPr/>
          <a:lstStyle/>
          <a:p>
            <a:endParaRPr lang="en-US"/>
          </a:p>
        </p:txBody>
      </p:sp>
      <p:sp>
        <p:nvSpPr>
          <p:cNvPr id="4" name="Text 2"/>
          <p:cNvSpPr/>
          <p:nvPr/>
        </p:nvSpPr>
        <p:spPr>
          <a:xfrm>
            <a:off x="0" y="2286000"/>
            <a:ext cx="12191695" cy="82296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CẢM ƠN HỘI ĐỒNG ĐÃ LẮNG NGHE</a:t>
            </a:r>
            <a:endParaRPr lang="en-US" sz="4000" dirty="0"/>
          </a:p>
        </p:txBody>
      </p:sp>
      <p:sp>
        <p:nvSpPr>
          <p:cNvPr id="5" name="Text 3"/>
          <p:cNvSpPr/>
          <p:nvPr/>
        </p:nvSpPr>
        <p:spPr>
          <a:xfrm>
            <a:off x="0" y="3246120"/>
            <a:ext cx="12191695" cy="457200"/>
          </a:xfrm>
          <a:prstGeom prst="rect">
            <a:avLst/>
          </a:prstGeom>
          <a:noFill/>
          <a:ln/>
        </p:spPr>
        <p:txBody>
          <a:bodyPr wrap="square" rtlCol="0" anchor="ctr"/>
          <a:lstStyle/>
          <a:p>
            <a:pPr marL="0" indent="0" algn="ctr">
              <a:buNone/>
            </a:pPr>
            <a:r>
              <a:rPr lang="en-US" sz="1700" dirty="0">
                <a:solidFill>
                  <a:srgbClr val="CBD5E1"/>
                </a:solidFill>
                <a:latin typeface="Calibri" pitchFamily="34" charset="0"/>
                <a:ea typeface="Calibri" pitchFamily="34" charset="-122"/>
                <a:cs typeface="Calibri" pitchFamily="34" charset="-120"/>
              </a:rPr>
              <a:t>Nhóm CODEDENNGU rất mong nhận được góp ý của quý thầy cô</a:t>
            </a:r>
            <a:endParaRPr lang="en-US" sz="1700" dirty="0"/>
          </a:p>
        </p:txBody>
      </p:sp>
      <p:sp>
        <p:nvSpPr>
          <p:cNvPr id="6" name="Text 4"/>
          <p:cNvSpPr/>
          <p:nvPr/>
        </p:nvSpPr>
        <p:spPr>
          <a:xfrm>
            <a:off x="0" y="4114800"/>
            <a:ext cx="12191695" cy="548640"/>
          </a:xfrm>
          <a:prstGeom prst="rect">
            <a:avLst/>
          </a:prstGeom>
          <a:noFill/>
          <a:ln/>
        </p:spPr>
        <p:txBody>
          <a:bodyPr wrap="square" rtlCol="0" anchor="ctr"/>
          <a:lstStyle/>
          <a:p>
            <a:pPr marL="0" indent="0" algn="ctr">
              <a:buNone/>
            </a:pPr>
            <a:r>
              <a:rPr lang="en-US" sz="2600" b="1" dirty="0">
                <a:solidFill>
                  <a:srgbClr val="3B82F6"/>
                </a:solidFill>
                <a:latin typeface="Calibri" pitchFamily="34" charset="0"/>
                <a:ea typeface="Calibri" pitchFamily="34" charset="-122"/>
                <a:cs typeface="Calibri" pitchFamily="34" charset="-120"/>
              </a:rPr>
              <a:t>CODE</a:t>
            </a:r>
            <a:r>
              <a:rPr lang="en-US" sz="2600" b="1" dirty="0">
                <a:solidFill>
                  <a:srgbClr val="F37022"/>
                </a:solidFill>
                <a:latin typeface="Calibri" pitchFamily="34" charset="0"/>
                <a:ea typeface="Calibri" pitchFamily="34" charset="-122"/>
                <a:cs typeface="Calibri" pitchFamily="34" charset="-120"/>
              </a:rPr>
              <a:t>DEN</a:t>
            </a:r>
            <a:r>
              <a:rPr lang="en-US" sz="2600" b="1" dirty="0">
                <a:solidFill>
                  <a:srgbClr val="4EB748"/>
                </a:solidFill>
                <a:latin typeface="Calibri" pitchFamily="34" charset="0"/>
                <a:ea typeface="Calibri" pitchFamily="34" charset="-122"/>
                <a:cs typeface="Calibri" pitchFamily="34" charset="-120"/>
              </a:rPr>
              <a:t>NGU</a:t>
            </a:r>
            <a:endParaRPr lang="en-US" sz="2600" dirty="0"/>
          </a:p>
        </p:txBody>
      </p:sp>
      <p:sp>
        <p:nvSpPr>
          <p:cNvPr id="7" name="Text 5"/>
          <p:cNvSpPr/>
          <p:nvPr/>
        </p:nvSpPr>
        <p:spPr>
          <a:xfrm>
            <a:off x="0" y="4937760"/>
            <a:ext cx="12191695" cy="548640"/>
          </a:xfrm>
          <a:prstGeom prst="rect">
            <a:avLst/>
          </a:prstGeom>
          <a:noFill/>
          <a:ln/>
        </p:spPr>
        <p:txBody>
          <a:bodyPr wrap="square" rtlCol="0" anchor="ctr"/>
          <a:lstStyle/>
          <a:p>
            <a:pPr marL="0" indent="0" algn="ctr">
              <a:buNone/>
            </a:pPr>
            <a:r>
              <a:rPr lang="en-US" sz="2200" b="1" kern="0" spc="600" dirty="0">
                <a:solidFill>
                  <a:srgbClr val="9DB6E0"/>
                </a:solidFill>
                <a:latin typeface="Calibri" pitchFamily="34" charset="0"/>
                <a:ea typeface="Calibri" pitchFamily="34" charset="-122"/>
                <a:cs typeface="Calibri" pitchFamily="34" charset="-120"/>
              </a:rPr>
              <a:t>Q &amp; A</a:t>
            </a:r>
            <a:endParaRPr lang="en-US" sz="2200" dirty="0"/>
          </a:p>
        </p:txBody>
      </p:sp>
      <p:sp>
        <p:nvSpPr>
          <p:cNvPr id="8" name="Shape 6"/>
          <p:cNvSpPr/>
          <p:nvPr/>
        </p:nvSpPr>
        <p:spPr>
          <a:xfrm>
            <a:off x="10298887" y="173736"/>
            <a:ext cx="1591056" cy="630489"/>
          </a:xfrm>
          <a:prstGeom prst="roundRect">
            <a:avLst>
              <a:gd name="adj" fmla="val 8702"/>
            </a:avLst>
          </a:prstGeom>
          <a:solidFill>
            <a:srgbClr val="FFFFFF"/>
          </a:solidFill>
          <a:ln/>
          <a:effectLst>
            <a:outerShdw blurRad="114300" dist="38100" dir="5400000" algn="bl" rotWithShape="0">
              <a:srgbClr val="1E293B">
                <a:alpha val="16000"/>
              </a:srgbClr>
            </a:outerShdw>
          </a:effectLst>
        </p:spPr>
        <p:txBody>
          <a:bodyPr/>
          <a:lstStyle/>
          <a:p>
            <a:endParaRPr lang="en-US"/>
          </a:p>
        </p:txBody>
      </p:sp>
      <p:pic>
        <p:nvPicPr>
          <p:cNvPr id="9" name="Image 0" descr="C:\Users\Lenovo\AppData\Local\Temp\claude\D--HRM-System-2\f8adac5c-8006-4968-aeee-8833cbaaf8db\scratchpad\fpt_logo.png"/>
          <p:cNvPicPr>
            <a:picLocks noChangeAspect="1"/>
          </p:cNvPicPr>
          <p:nvPr/>
        </p:nvPicPr>
        <p:blipFill>
          <a:blip r:embed="rId3"/>
          <a:stretch>
            <a:fillRect/>
          </a:stretch>
        </p:blipFill>
        <p:spPr>
          <a:xfrm>
            <a:off x="10408615" y="256032"/>
            <a:ext cx="1371600" cy="46589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2136</Words>
  <Application>Microsoft Office PowerPoint</Application>
  <PresentationFormat>Widescreen</PresentationFormat>
  <Paragraphs>354</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HRM - CODEDENNGU</dc:title>
  <dc:subject>PptxGenJS Presentation</dc:subject>
  <dc:creator>CODEDENNGU</dc:creator>
  <cp:lastModifiedBy>Truman Nguyen</cp:lastModifiedBy>
  <cp:revision>3</cp:revision>
  <dcterms:created xsi:type="dcterms:W3CDTF">2026-07-01T16:28:45Z</dcterms:created>
  <dcterms:modified xsi:type="dcterms:W3CDTF">2026-07-02T02:19:02Z</dcterms:modified>
</cp:coreProperties>
</file>